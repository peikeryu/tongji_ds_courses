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58" r:id="rId5"/>
    <p:sldId id="259" r:id="rId6"/>
    <p:sldId id="264" r:id="rId8"/>
    <p:sldId id="265" r:id="rId9"/>
    <p:sldId id="266" r:id="rId10"/>
    <p:sldId id="289" r:id="rId11"/>
    <p:sldId id="268" r:id="rId12"/>
    <p:sldId id="288" r:id="rId13"/>
    <p:sldId id="275" r:id="rId14"/>
    <p:sldId id="290" r:id="rId15"/>
    <p:sldId id="291" r:id="rId16"/>
    <p:sldId id="295" r:id="rId17"/>
    <p:sldId id="292" r:id="rId18"/>
    <p:sldId id="293" r:id="rId19"/>
    <p:sldId id="277"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[Talk Track | 50s]
- 这一页是 ID3 的重点：先报关键数字，然后解释为什么训练 100% 不一定好。
- 讲“交叉验证波动小”，说明实现稳定；再说“可以剪枝/换集成模型”体现你会拓展。
[Sources]
- 决策树 ID3 实验报告：准确率输出与 5 折交叉验证曲线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[Talk Track | 45s]
- 先讲“我实现了哪些关键模块”：K-Means++、n_init、收敛。
- 再讲“为什么要预处理”：欧氏距离对尺度/异常值敏感。
- 最后铺垫：下一页用两张轮廓系数图展示优化前后差异。
[Sources]
- 聚类及可视化实验报告：实验内容、数据集与预处理描述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[Talk Track | 55s]
- 这页是 K-Means 的“亮点页”：用同一种指标（轮廓系数）展示优化前后差异。
- 重点讲两句：为什么肘部法不明显（数据连续分布），所以你用轮廓系数做主参考。
- 再讲优化：RobustScaler 抗异常值；PCA 降维减少噪声，使轮廓系数从 ~0.26 提升到 ~0.48。
[Sources]
- 聚类及可视化实验报告：轮廓系数曲线（基础与优化后）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[Talk Track | 45s]
- 左图用 10 秒说明：PCA 把高维特征压到 2D，能看到两簇大致分开。
- 右边重点讲“可解释性”：用聚类中心画像看两类用户的特征差异，概括为“活跃 vs 保守”。
- 最后一句点题：这是无监督学习常见的落地方式（分群 + 画像）。
[Sources]
- 聚类及可视化实验报告：PCA 2D 聚类图与聚类中心画像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[Talk Track | 25s]
- 最后一页别讲太多：三句话总结 + 邀请提问。
- 如果老师追问，就从蓝框里的三个常见问题展开。
[Sources]
- 四份实验报告的综合结论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7.png"/><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4.xml"/><Relationship Id="rId14" Type="http://schemas.openxmlformats.org/officeDocument/2006/relationships/slideLayout" Target="../slideLayouts/slideLayout2.xml"/><Relationship Id="rId13" Type="http://schemas.openxmlformats.org/officeDocument/2006/relationships/image" Target="../media/image10.png"/><Relationship Id="rId12" Type="http://schemas.openxmlformats.org/officeDocument/2006/relationships/image" Target="../media/image9.png"/><Relationship Id="rId11" Type="http://schemas.openxmlformats.org/officeDocument/2006/relationships/image" Target="../media/image3.png"/><Relationship Id="rId10" Type="http://schemas.openxmlformats.org/officeDocument/2006/relationships/tags" Target="../tags/tag8.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1600000">
            <a:off x="10110" y="4221087"/>
            <a:ext cx="12181889" cy="2636907"/>
            <a:chOff x="0" y="0"/>
            <a:chExt cx="12181889" cy="2636907"/>
          </a:xfrm>
        </p:grpSpPr>
        <p:pic>
          <p:nvPicPr>
            <p:cNvPr id="3" name="picture 2"/>
            <p:cNvPicPr>
              <a:picLocks noChangeAspect="1"/>
            </p:cNvPicPr>
            <p:nvPr/>
          </p:nvPicPr>
          <p:blipFill>
            <a:blip r:embed="rId1"/>
            <a:stretch>
              <a:fillRect/>
            </a:stretch>
          </p:blipFill>
          <p:spPr>
            <a:xfrm rot="21600000">
              <a:off x="0" y="0"/>
              <a:ext cx="12181889" cy="2636907"/>
            </a:xfrm>
            <a:prstGeom prst="rect">
              <a:avLst/>
            </a:prstGeom>
          </p:spPr>
        </p:pic>
        <p:sp>
          <p:nvSpPr>
            <p:cNvPr id="4" name="textbox 4"/>
            <p:cNvSpPr/>
            <p:nvPr/>
          </p:nvSpPr>
          <p:spPr>
            <a:xfrm>
              <a:off x="-12700" y="-12700"/>
              <a:ext cx="12207875" cy="2662554"/>
            </a:xfrm>
            <a:prstGeom prst="rect">
              <a:avLst/>
            </a:prstGeom>
            <a:noFill/>
            <a:ln w="0" cap="flat">
              <a:noFill/>
              <a:prstDash val="solid"/>
              <a:miter lim="0"/>
            </a:ln>
          </p:spPr>
          <p:txBody>
            <a:bodyPr vert="horz" wrap="square" lIns="0" tIns="0" rIns="0" bIns="0"/>
            <a:lstStyle/>
            <a:p>
              <a:pPr algn="l" rtl="0" eaLnBrk="0">
                <a:lnSpc>
                  <a:spcPct val="179000"/>
                </a:lnSpc>
              </a:pPr>
              <a:endParaRPr sz="1000" dirty="0">
                <a:latin typeface="Arial" panose="020B0604020202020204"/>
                <a:ea typeface="Arial" panose="020B0604020202020204"/>
                <a:cs typeface="Arial" panose="020B0604020202020204"/>
              </a:endParaRPr>
            </a:p>
            <a:p>
              <a:pPr marL="8690610" algn="l" rtl="0" eaLnBrk="0">
                <a:lnSpc>
                  <a:spcPts val="2655"/>
                </a:lnSpc>
              </a:pPr>
              <a:r>
                <a:rPr lang="zh-CN" sz="2000" b="1" kern="0" spc="-20" dirty="0">
                  <a:solidFill>
                    <a:srgbClr val="000000">
                      <a:alpha val="100000"/>
                    </a:srgbClr>
                  </a:solidFill>
                  <a:latin typeface="华文中宋" panose="02010600040101010101" charset="-122"/>
                  <a:ea typeface="华文中宋" panose="02010600040101010101" charset="-122"/>
                  <a:cs typeface="华文中宋" panose="02010600040101010101" charset="-122"/>
                </a:rPr>
                <a:t>于沛可</a:t>
              </a:r>
              <a:r>
                <a:rPr sz="2000" b="1" kern="0" spc="-20" dirty="0">
                  <a:solidFill>
                    <a:srgbClr val="000000">
                      <a:alpha val="100000"/>
                    </a:srgbClr>
                  </a:solidFill>
                  <a:latin typeface="华文中宋" panose="02010600040101010101" charset="-122"/>
                  <a:ea typeface="华文中宋" panose="02010600040101010101" charset="-122"/>
                  <a:cs typeface="华文中宋" panose="02010600040101010101" charset="-122"/>
                </a:rPr>
                <a:t> 2</a:t>
              </a:r>
              <a:r>
                <a:rPr lang="en-US" sz="2000" b="1" kern="0" spc="-20" dirty="0">
                  <a:solidFill>
                    <a:srgbClr val="000000">
                      <a:alpha val="100000"/>
                    </a:srgbClr>
                  </a:solidFill>
                  <a:latin typeface="华文中宋" panose="02010600040101010101" charset="-122"/>
                  <a:ea typeface="华文中宋" panose="02010600040101010101" charset="-122"/>
                  <a:cs typeface="华文中宋" panose="02010600040101010101" charset="-122"/>
                </a:rPr>
                <a:t>451951</a:t>
              </a:r>
              <a:endParaRPr sz="2000" b="1" dirty="0">
                <a:latin typeface="华文中宋" panose="02010600040101010101" charset="-122"/>
                <a:ea typeface="华文中宋" panose="02010600040101010101" charset="-122"/>
                <a:cs typeface="华文中宋" panose="02010600040101010101" charset="-122"/>
              </a:endParaRPr>
            </a:p>
            <a:p>
              <a:pPr marL="8389620" algn="l" rtl="0" eaLnBrk="0">
                <a:lnSpc>
                  <a:spcPct val="80000"/>
                </a:lnSpc>
                <a:spcBef>
                  <a:spcPts val="1410"/>
                </a:spcBef>
              </a:pPr>
              <a:r>
                <a:rPr sz="2000" b="1" kern="0" spc="-20" dirty="0">
                  <a:solidFill>
                    <a:srgbClr val="000000">
                      <a:alpha val="100000"/>
                    </a:srgbClr>
                  </a:solidFill>
                  <a:latin typeface="华文中宋" panose="02010600040101010101" charset="-122"/>
                  <a:ea typeface="华文中宋" panose="02010600040101010101" charset="-122"/>
                  <a:cs typeface="华文中宋" panose="02010600040101010101" charset="-122"/>
                </a:rPr>
                <a:t>数据科学与大数据技术</a:t>
              </a:r>
              <a:endParaRPr sz="2000" dirty="0">
                <a:latin typeface="华文中宋" panose="02010600040101010101" charset="-122"/>
                <a:ea typeface="华文中宋" panose="02010600040101010101" charset="-122"/>
                <a:cs typeface="华文中宋" panose="02010600040101010101" charset="-122"/>
              </a:endParaRPr>
            </a:p>
            <a:p>
              <a:pPr algn="l" rtl="0" eaLnBrk="0">
                <a:lnSpc>
                  <a:spcPct val="101000"/>
                </a:lnSpc>
              </a:pPr>
              <a:endParaRPr sz="1000" dirty="0">
                <a:latin typeface="Arial" panose="020B0604020202020204"/>
                <a:ea typeface="Arial" panose="020B0604020202020204"/>
                <a:cs typeface="Arial" panose="020B0604020202020204"/>
              </a:endParaRPr>
            </a:p>
            <a:p>
              <a:pPr marL="9032875" algn="l" rtl="0" eaLnBrk="0">
                <a:lnSpc>
                  <a:spcPts val="2655"/>
                </a:lnSpc>
                <a:spcBef>
                  <a:spcPts val="0"/>
                </a:spcBef>
              </a:pPr>
              <a:r>
                <a:rPr sz="2000" b="1" kern="0" spc="-30" dirty="0">
                  <a:solidFill>
                    <a:srgbClr val="000000">
                      <a:alpha val="100000"/>
                    </a:srgbClr>
                  </a:solidFill>
                  <a:latin typeface="华文中宋" panose="02010600040101010101" charset="-122"/>
                  <a:ea typeface="华文中宋" panose="02010600040101010101" charset="-122"/>
                  <a:cs typeface="华文中宋" panose="02010600040101010101" charset="-122"/>
                </a:rPr>
                <a:t>202</a:t>
              </a:r>
              <a:r>
                <a:rPr lang="en-US" sz="2000" b="1" kern="0" spc="-30" dirty="0">
                  <a:solidFill>
                    <a:srgbClr val="000000">
                      <a:alpha val="100000"/>
                    </a:srgbClr>
                  </a:solidFill>
                  <a:latin typeface="华文中宋" panose="02010600040101010101" charset="-122"/>
                  <a:ea typeface="华文中宋" panose="02010600040101010101" charset="-122"/>
                  <a:cs typeface="华文中宋" panose="02010600040101010101" charset="-122"/>
                </a:rPr>
                <a:t>5</a:t>
              </a:r>
              <a:r>
                <a:rPr sz="2000" b="1" kern="0" spc="-30" dirty="0">
                  <a:solidFill>
                    <a:srgbClr val="000000">
                      <a:alpha val="100000"/>
                    </a:srgbClr>
                  </a:solidFill>
                  <a:latin typeface="华文中宋" panose="02010600040101010101" charset="-122"/>
                  <a:ea typeface="华文中宋" panose="02010600040101010101" charset="-122"/>
                  <a:cs typeface="华文中宋" panose="02010600040101010101" charset="-122"/>
                </a:rPr>
                <a:t>.12.</a:t>
              </a:r>
              <a:r>
                <a:rPr lang="en-US" sz="2000" b="1" kern="0" spc="-30" dirty="0">
                  <a:solidFill>
                    <a:srgbClr val="000000">
                      <a:alpha val="100000"/>
                    </a:srgbClr>
                  </a:solidFill>
                  <a:latin typeface="华文中宋" panose="02010600040101010101" charset="-122"/>
                  <a:ea typeface="华文中宋" panose="02010600040101010101" charset="-122"/>
                  <a:cs typeface="华文中宋" panose="02010600040101010101" charset="-122"/>
                </a:rPr>
                <a:t>29</a:t>
              </a:r>
              <a:endParaRPr lang="en-US" sz="2000" b="1" kern="0" spc="-30" dirty="0">
                <a:solidFill>
                  <a:srgbClr val="000000">
                    <a:alpha val="100000"/>
                  </a:srgbClr>
                </a:solidFill>
                <a:latin typeface="华文中宋" panose="02010600040101010101" charset="-122"/>
                <a:ea typeface="华文中宋" panose="02010600040101010101" charset="-122"/>
                <a:cs typeface="华文中宋" panose="02010600040101010101" charset="-122"/>
              </a:endParaRPr>
            </a:p>
          </p:txBody>
        </p:sp>
      </p:grpSp>
      <p:sp>
        <p:nvSpPr>
          <p:cNvPr id="6" name="textbox 6"/>
          <p:cNvSpPr/>
          <p:nvPr/>
        </p:nvSpPr>
        <p:spPr>
          <a:xfrm>
            <a:off x="0" y="1766963"/>
            <a:ext cx="12192000" cy="2319020"/>
          </a:xfrm>
          <a:prstGeom prst="rect">
            <a:avLst/>
          </a:prstGeom>
          <a:solidFill>
            <a:srgbClr val="DAE3F3">
              <a:alpha val="72156"/>
            </a:srgbClr>
          </a:solidFill>
          <a:ln w="0" cap="flat">
            <a:noFill/>
            <a:prstDash val="solid"/>
            <a:miter lim="0"/>
          </a:ln>
        </p:spPr>
        <p:txBody>
          <a:bodyPr vert="horz" wrap="square" lIns="0" tIns="0" rIns="0" bIns="0"/>
          <a:lstStyle/>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0000"/>
              </a:lnSpc>
            </a:pPr>
            <a:endPar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endParaRPr>
          </a:p>
          <a:p>
            <a:pPr algn="l" rtl="0" eaLnBrk="0">
              <a:lnSpc>
                <a:spcPct val="10000"/>
              </a:lnSpc>
            </a:pPr>
            <a:endPar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endParaRPr>
          </a:p>
          <a:p>
            <a:pPr algn="l" rtl="0" eaLnBrk="0">
              <a:lnSpc>
                <a:spcPct val="10000"/>
              </a:lnSpc>
            </a:pPr>
            <a:endPar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endParaRPr>
          </a:p>
          <a:p>
            <a:pPr algn="l" rtl="0" eaLnBrk="0">
              <a:lnSpc>
                <a:spcPct val="10000"/>
              </a:lnSpc>
            </a:pPr>
            <a:endPar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endParaRPr>
          </a:p>
          <a:p>
            <a:pPr algn="l" rtl="0" eaLnBrk="0">
              <a:lnSpc>
                <a:spcPct val="10000"/>
              </a:lnSpc>
            </a:pPr>
            <a:endPar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endParaRPr>
          </a:p>
          <a:p>
            <a:pPr algn="l" rtl="0" eaLnBrk="0">
              <a:lnSpc>
                <a:spcPct val="10000"/>
              </a:lnSpc>
            </a:pPr>
            <a:endPar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endParaRPr>
          </a:p>
          <a:p>
            <a:pPr algn="l" rtl="0" eaLnBrk="0">
              <a:lnSpc>
                <a:spcPct val="10000"/>
              </a:lnSpc>
            </a:pPr>
            <a:endPar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endParaRPr>
          </a:p>
          <a:p>
            <a:pPr algn="l" rtl="0" eaLnBrk="0">
              <a:lnSpc>
                <a:spcPct val="10000"/>
              </a:lnSpc>
            </a:pPr>
            <a:r>
              <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rPr>
              <a:t> </a:t>
            </a:r>
            <a:r>
              <a:rPr lang="en-US" altLang="zh-CN"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rPr>
              <a:t>     </a:t>
            </a:r>
            <a:r>
              <a:rPr lang="zh-CN" altLang="en-US"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rPr>
              <a:t>大数据导论课程期末项目</a:t>
            </a:r>
            <a:r>
              <a:rPr sz="6000" b="1" kern="0" spc="-60" dirty="0">
                <a:solidFill>
                  <a:srgbClr val="222F66">
                    <a:alpha val="100000"/>
                  </a:srgbClr>
                </a:solidFill>
                <a:latin typeface="华文中宋" panose="02010600040101010101" charset="-122"/>
                <a:ea typeface="华文中宋" panose="02010600040101010101" charset="-122"/>
                <a:cs typeface="华文中宋" panose="02010600040101010101" charset="-122"/>
              </a:rPr>
              <a:t>汇报</a:t>
            </a:r>
            <a:endParaRPr sz="6000" dirty="0">
              <a:latin typeface="华文中宋" panose="02010600040101010101" charset="-122"/>
              <a:ea typeface="华文中宋" panose="02010600040101010101" charset="-122"/>
              <a:cs typeface="华文中宋" panose="02010600040101010101" charset="-122"/>
            </a:endParaRPr>
          </a:p>
          <a:p>
            <a:pPr algn="l" rtl="0" eaLnBrk="0">
              <a:lnSpc>
                <a:spcPct val="111000"/>
              </a:lnSpc>
            </a:pPr>
            <a:endParaRPr sz="500" dirty="0">
              <a:latin typeface="Arial" panose="020B0604020202020204"/>
              <a:ea typeface="Arial" panose="020B0604020202020204"/>
              <a:cs typeface="Arial" panose="020B0604020202020204"/>
            </a:endParaRPr>
          </a:p>
          <a:p>
            <a:pPr marL="3998595" algn="l" rtl="0" eaLnBrk="0">
              <a:lnSpc>
                <a:spcPct val="81000"/>
              </a:lnSpc>
              <a:spcBef>
                <a:spcPts val="5"/>
              </a:spcBef>
            </a:pPr>
            <a:endParaRPr lang="zh-CN" altLang="en-US" sz="2000" b="1" kern="0" spc="-20" dirty="0">
              <a:solidFill>
                <a:srgbClr val="222F66">
                  <a:alpha val="100000"/>
                </a:srgbClr>
              </a:solidFill>
              <a:latin typeface="华文中宋" panose="02010600040101010101" charset="-122"/>
              <a:ea typeface="华文中宋" panose="02010600040101010101" charset="-122"/>
              <a:cs typeface="华文中宋" panose="02010600040101010101" charset="-122"/>
            </a:endParaRPr>
          </a:p>
        </p:txBody>
      </p:sp>
      <p:pic>
        <p:nvPicPr>
          <p:cNvPr id="8" name="picture 8"/>
          <p:cNvPicPr>
            <a:picLocks noChangeAspect="1"/>
          </p:cNvPicPr>
          <p:nvPr/>
        </p:nvPicPr>
        <p:blipFill>
          <a:blip r:embed="rId2"/>
          <a:stretch>
            <a:fillRect/>
          </a:stretch>
        </p:blipFill>
        <p:spPr>
          <a:xfrm rot="21600000">
            <a:off x="147281" y="6657"/>
            <a:ext cx="1864396" cy="17602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0"/>
          <p:cNvSpPr/>
          <p:nvPr/>
        </p:nvSpPr>
        <p:spPr>
          <a:xfrm>
            <a:off x="941275" y="275983"/>
            <a:ext cx="10547350" cy="635000"/>
          </a:xfrm>
          <a:prstGeom prst="rect">
            <a:avLst/>
          </a:prstGeom>
          <a:noFill/>
          <a:ln w="0" cap="flat">
            <a:noFill/>
            <a:prstDash val="solid"/>
            <a:miter lim="0"/>
          </a:ln>
        </p:spPr>
        <p:txBody>
          <a:bodyPr vert="horz" wrap="square" lIns="0" tIns="0" rIns="0" bIns="0"/>
          <a:lstStyle/>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2700" algn="l" rtl="0" eaLnBrk="0">
              <a:lnSpc>
                <a:spcPct val="79000"/>
              </a:lnSpc>
            </a:pPr>
            <a:r>
              <a:rPr sz="3100" b="1" kern="0" spc="-250" dirty="0">
                <a:solidFill>
                  <a:srgbClr val="000000">
                    <a:alpha val="100000"/>
                  </a:srgbClr>
                </a:solidFill>
                <a:latin typeface="华文中宋" panose="02010600040101010101" charset="-122"/>
                <a:ea typeface="华文中宋" panose="02010600040101010101" charset="-122"/>
                <a:cs typeface="华文中宋" panose="02010600040101010101" charset="-122"/>
              </a:rPr>
              <a:t>目录</a:t>
            </a:r>
            <a:r>
              <a:rPr sz="31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                                                           </a:t>
            </a:r>
            <a:endParaRPr sz="3100" dirty="0">
              <a:latin typeface="华文中宋" panose="02010600040101010101" charset="-122"/>
              <a:ea typeface="华文中宋" panose="02010600040101010101" charset="-122"/>
              <a:cs typeface="华文中宋" panose="02010600040101010101" charset="-122"/>
            </a:endParaRPr>
          </a:p>
        </p:txBody>
      </p:sp>
      <p:pic>
        <p:nvPicPr>
          <p:cNvPr id="12" name="picture 12"/>
          <p:cNvPicPr>
            <a:picLocks noChangeAspect="1"/>
          </p:cNvPicPr>
          <p:nvPr/>
        </p:nvPicPr>
        <p:blipFill>
          <a:blip r:embed="rId1"/>
          <a:stretch>
            <a:fillRect/>
          </a:stretch>
        </p:blipFill>
        <p:spPr>
          <a:xfrm rot="21600000">
            <a:off x="8955179" y="288683"/>
            <a:ext cx="2514595" cy="609600"/>
          </a:xfrm>
          <a:prstGeom prst="rect">
            <a:avLst/>
          </a:prstGeom>
        </p:spPr>
      </p:pic>
      <p:graphicFrame>
        <p:nvGraphicFramePr>
          <p:cNvPr id="14" name="table 14"/>
          <p:cNvGraphicFramePr>
            <a:graphicFrameLocks noGrp="1"/>
          </p:cNvGraphicFramePr>
          <p:nvPr/>
        </p:nvGraphicFramePr>
        <p:xfrm>
          <a:off x="2172411" y="5312193"/>
          <a:ext cx="8445500" cy="622935"/>
        </p:xfrm>
        <a:graphic>
          <a:graphicData uri="http://schemas.openxmlformats.org/drawingml/2006/table">
            <a:tbl>
              <a:tblPr>
                <a:solidFill>
                  <a:srgbClr val="D0CECE"/>
                </a:solidFill>
              </a:tblPr>
              <a:tblGrid>
                <a:gridCol w="8445500"/>
              </a:tblGrid>
              <a:tr h="610235">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marL="1388745" algn="l" rtl="0" eaLnBrk="0">
                        <a:lnSpc>
                          <a:spcPct val="83000"/>
                        </a:lnSpc>
                        <a:spcBef>
                          <a:spcPts val="5"/>
                        </a:spcBef>
                      </a:pPr>
                      <a:r>
                        <a:rPr lang="en-US"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rPr>
                        <a:t>4.</a:t>
                      </a:r>
                      <a:r>
                        <a:rPr lang="zh-CN" altLang="en-US"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rPr>
                        <a:t>作业四：</a:t>
                      </a:r>
                      <a:r>
                        <a:rPr lang="en-US" altLang="zh-CN"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rPr>
                        <a:t>K-Means </a:t>
                      </a:r>
                      <a:r>
                        <a:rPr lang="zh-CN" altLang="en-US"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rPr>
                        <a:t>聚类算法</a:t>
                      </a:r>
                      <a:endParaRPr lang="zh-CN" altLang="en-US"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D0CECE"/>
                    </a:solidFill>
                  </a:tcPr>
                </a:tc>
              </a:tr>
            </a:tbl>
          </a:graphicData>
        </a:graphic>
      </p:graphicFrame>
      <p:graphicFrame>
        <p:nvGraphicFramePr>
          <p:cNvPr id="16" name="table 16"/>
          <p:cNvGraphicFramePr>
            <a:graphicFrameLocks noGrp="1"/>
          </p:cNvGraphicFramePr>
          <p:nvPr/>
        </p:nvGraphicFramePr>
        <p:xfrm>
          <a:off x="2172411" y="2206155"/>
          <a:ext cx="8445500" cy="622934"/>
        </p:xfrm>
        <a:graphic>
          <a:graphicData uri="http://schemas.openxmlformats.org/drawingml/2006/table">
            <a:tbl>
              <a:tblPr>
                <a:solidFill>
                  <a:srgbClr val="D0CECE"/>
                </a:solidFill>
              </a:tblPr>
              <a:tblGrid>
                <a:gridCol w="8445500"/>
              </a:tblGrid>
              <a:tr h="610234">
                <a:tc>
                  <a:txBody>
                    <a:bodyPr/>
                    <a:lstStyle/>
                    <a:p>
                      <a:pPr algn="l" rtl="0" eaLnBrk="0">
                        <a:lnSpc>
                          <a:spcPct val="130000"/>
                        </a:lnSpc>
                      </a:pPr>
                      <a:endParaRPr sz="1000" dirty="0">
                        <a:latin typeface="Arial" panose="020B0604020202020204"/>
                        <a:ea typeface="Arial" panose="020B0604020202020204"/>
                        <a:cs typeface="Arial" panose="020B0604020202020204"/>
                      </a:endParaRPr>
                    </a:p>
                    <a:p>
                      <a:pPr marL="1417955" algn="l" rtl="0" eaLnBrk="0">
                        <a:lnSpc>
                          <a:spcPct val="83000"/>
                        </a:lnSpc>
                        <a:spcBef>
                          <a:spcPts val="5"/>
                        </a:spcBef>
                      </a:pPr>
                      <a:r>
                        <a:rPr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rPr>
                        <a:t>1.</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rPr>
                        <a:t>作业一：</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rPr>
                        <a:t>MySQL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rPr>
                        <a:t>安装与基本</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rPr>
                        <a:t> 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rPr>
                        <a:t>操作</a:t>
                      </a:r>
                      <a:endPar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D0CECE"/>
                    </a:solidFill>
                  </a:tcPr>
                </a:tc>
              </a:tr>
            </a:tbl>
          </a:graphicData>
        </a:graphic>
      </p:graphicFrame>
      <p:graphicFrame>
        <p:nvGraphicFramePr>
          <p:cNvPr id="18" name="table 18"/>
          <p:cNvGraphicFramePr>
            <a:graphicFrameLocks noGrp="1"/>
          </p:cNvGraphicFramePr>
          <p:nvPr/>
        </p:nvGraphicFramePr>
        <p:xfrm>
          <a:off x="2172411" y="3246463"/>
          <a:ext cx="8445500" cy="622935"/>
        </p:xfrm>
        <a:graphic>
          <a:graphicData uri="http://schemas.openxmlformats.org/drawingml/2006/table">
            <a:tbl>
              <a:tblPr>
                <a:solidFill>
                  <a:srgbClr val="D0CECE"/>
                </a:solidFill>
              </a:tblPr>
              <a:tblGrid>
                <a:gridCol w="8445500"/>
              </a:tblGrid>
              <a:tr h="610235">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76045" algn="l" rtl="0" eaLnBrk="0">
                        <a:lnSpc>
                          <a:spcPts val="3705"/>
                        </a:lnSpc>
                        <a:spcBef>
                          <a:spcPts val="0"/>
                        </a:spcBef>
                      </a:pPr>
                      <a:r>
                        <a:rPr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rPr>
                        <a:t>2.</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rPr>
                        <a:t>作业二：</a:t>
                      </a:r>
                      <a:r>
                        <a:rPr lang="en-US" altLang="zh-CN"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rPr>
                        <a:t>MongoDB </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rPr>
                        <a:t>安装与操作</a:t>
                      </a:r>
                      <a:endPar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D0CECE"/>
                    </a:solidFill>
                  </a:tcPr>
                </a:tc>
              </a:tr>
            </a:tbl>
          </a:graphicData>
        </a:graphic>
      </p:graphicFrame>
      <p:graphicFrame>
        <p:nvGraphicFramePr>
          <p:cNvPr id="20" name="table 20"/>
          <p:cNvGraphicFramePr>
            <a:graphicFrameLocks noGrp="1"/>
          </p:cNvGraphicFramePr>
          <p:nvPr/>
        </p:nvGraphicFramePr>
        <p:xfrm>
          <a:off x="2172411" y="4254728"/>
          <a:ext cx="8445500" cy="622935"/>
        </p:xfrm>
        <a:graphic>
          <a:graphicData uri="http://schemas.openxmlformats.org/drawingml/2006/table">
            <a:tbl>
              <a:tblPr>
                <a:solidFill>
                  <a:srgbClr val="D0CECE"/>
                </a:solidFill>
              </a:tblPr>
              <a:tblGrid>
                <a:gridCol w="8445500"/>
              </a:tblGrid>
              <a:tr h="610235">
                <a:tc>
                  <a:txBody>
                    <a:bodyPr/>
                    <a:lstStyle/>
                    <a:p>
                      <a:pPr algn="l" rtl="0" eaLnBrk="0">
                        <a:lnSpc>
                          <a:spcPct val="112000"/>
                        </a:lnSpc>
                      </a:pPr>
                      <a:endParaRPr sz="700" dirty="0">
                        <a:latin typeface="Arial" panose="020B0604020202020204"/>
                        <a:ea typeface="Arial" panose="020B0604020202020204"/>
                        <a:cs typeface="Arial" panose="020B0604020202020204"/>
                      </a:endParaRPr>
                    </a:p>
                    <a:p>
                      <a:pPr marL="1379855" algn="l" rtl="0" eaLnBrk="0">
                        <a:lnSpc>
                          <a:spcPts val="3705"/>
                        </a:lnSpc>
                        <a:spcBef>
                          <a:spcPts val="5"/>
                        </a:spcBef>
                      </a:pPr>
                      <a:r>
                        <a:rPr lang="en-US" sz="2700" b="1" dirty="0">
                          <a:latin typeface="华文中宋" panose="02010600040101010101" charset="-122"/>
                          <a:ea typeface="华文中宋" panose="02010600040101010101" charset="-122"/>
                          <a:cs typeface="华文中宋" panose="02010600040101010101" charset="-122"/>
                        </a:rPr>
                        <a:t>3.</a:t>
                      </a:r>
                      <a:r>
                        <a:rPr lang="zh-CN" altLang="en-US" sz="2700" b="1" dirty="0">
                          <a:latin typeface="华文中宋" panose="02010600040101010101" charset="-122"/>
                          <a:ea typeface="华文中宋" panose="02010600040101010101" charset="-122"/>
                          <a:cs typeface="华文中宋" panose="02010600040101010101" charset="-122"/>
                        </a:rPr>
                        <a:t>作业三：决策树</a:t>
                      </a:r>
                      <a:r>
                        <a:rPr lang="en-US" altLang="zh-CN" sz="2700" b="1" dirty="0">
                          <a:latin typeface="华文中宋" panose="02010600040101010101" charset="-122"/>
                          <a:ea typeface="华文中宋" panose="02010600040101010101" charset="-122"/>
                          <a:cs typeface="华文中宋" panose="02010600040101010101" charset="-122"/>
                        </a:rPr>
                        <a:t> ID3 </a:t>
                      </a:r>
                      <a:r>
                        <a:rPr lang="zh-CN" altLang="en-US" sz="2700" b="1" dirty="0">
                          <a:latin typeface="华文中宋" panose="02010600040101010101" charset="-122"/>
                          <a:ea typeface="华文中宋" panose="02010600040101010101" charset="-122"/>
                          <a:cs typeface="华文中宋" panose="02010600040101010101" charset="-122"/>
                        </a:rPr>
                        <a:t>算法</a:t>
                      </a:r>
                      <a:endParaRPr lang="zh-CN" altLang="en-US" sz="2700" b="1"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D0CECE"/>
                    </a:solidFill>
                  </a:tcPr>
                </a:tc>
              </a:tr>
            </a:tbl>
          </a:graphicData>
        </a:graphic>
      </p:graphicFrame>
      <p:sp>
        <p:nvSpPr>
          <p:cNvPr id="22" name="path 22"/>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24" name="textbox 24"/>
          <p:cNvSpPr/>
          <p:nvPr/>
        </p:nvSpPr>
        <p:spPr>
          <a:xfrm>
            <a:off x="11426418" y="6477152"/>
            <a:ext cx="97789" cy="209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50"/>
              </a:lnSpc>
            </a:pPr>
            <a:r>
              <a:rPr sz="1200" kern="0" spc="-20" dirty="0">
                <a:solidFill>
                  <a:srgbClr val="898989">
                    <a:alpha val="100000"/>
                  </a:srgbClr>
                </a:solidFill>
                <a:latin typeface="等线" panose="02010600030101010101" charset="-122"/>
                <a:ea typeface="等线" panose="02010600030101010101" charset="-122"/>
                <a:cs typeface="等线" panose="02010600030101010101" charset="-122"/>
              </a:rPr>
              <a:t>2</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6"/>
          <p:cNvSpPr/>
          <p:nvPr/>
        </p:nvSpPr>
        <p:spPr>
          <a:xfrm>
            <a:off x="941275" y="275983"/>
            <a:ext cx="10547350" cy="635000"/>
          </a:xfrm>
          <a:prstGeom prst="rect">
            <a:avLst/>
          </a:prstGeom>
          <a:noFill/>
          <a:ln w="0" cap="flat">
            <a:noFill/>
            <a:prstDash val="solid"/>
            <a:miter lim="0"/>
          </a:ln>
        </p:spPr>
        <p:txBody>
          <a:bodyPr vert="horz" wrap="square" lIns="0" tIns="0" rIns="0" bIns="0"/>
          <a:lstStyle/>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2700" algn="l" rtl="0" eaLnBrk="0">
              <a:lnSpc>
                <a:spcPct val="79000"/>
              </a:lnSpc>
            </a:pPr>
            <a:r>
              <a:rPr sz="3100" b="1" kern="0" spc="-250" dirty="0">
                <a:solidFill>
                  <a:srgbClr val="000000">
                    <a:alpha val="100000"/>
                  </a:srgbClr>
                </a:solidFill>
                <a:latin typeface="华文中宋" panose="02010600040101010101" charset="-122"/>
                <a:ea typeface="华文中宋" panose="02010600040101010101" charset="-122"/>
                <a:cs typeface="华文中宋" panose="02010600040101010101" charset="-122"/>
              </a:rPr>
              <a:t>目录</a:t>
            </a:r>
            <a:r>
              <a:rPr sz="31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                                                           </a:t>
            </a:r>
            <a:endParaRPr sz="3100" dirty="0">
              <a:latin typeface="华文中宋" panose="02010600040101010101" charset="-122"/>
              <a:ea typeface="华文中宋" panose="02010600040101010101" charset="-122"/>
              <a:cs typeface="华文中宋" panose="02010600040101010101" charset="-122"/>
            </a:endParaRPr>
          </a:p>
        </p:txBody>
      </p:sp>
      <p:pic>
        <p:nvPicPr>
          <p:cNvPr id="28" name="picture 28"/>
          <p:cNvPicPr>
            <a:picLocks noChangeAspect="1"/>
          </p:cNvPicPr>
          <p:nvPr/>
        </p:nvPicPr>
        <p:blipFill>
          <a:blip r:embed="rId1"/>
          <a:stretch>
            <a:fillRect/>
          </a:stretch>
        </p:blipFill>
        <p:spPr>
          <a:xfrm rot="21600000">
            <a:off x="8955179" y="288683"/>
            <a:ext cx="2514595" cy="609600"/>
          </a:xfrm>
          <a:prstGeom prst="rect">
            <a:avLst/>
          </a:prstGeom>
        </p:spPr>
      </p:pic>
      <p:graphicFrame>
        <p:nvGraphicFramePr>
          <p:cNvPr id="30" name="table 30"/>
          <p:cNvGraphicFramePr>
            <a:graphicFrameLocks noGrp="1"/>
          </p:cNvGraphicFramePr>
          <p:nvPr/>
        </p:nvGraphicFramePr>
        <p:xfrm>
          <a:off x="2172411" y="5312193"/>
          <a:ext cx="8445500" cy="622935"/>
        </p:xfrm>
        <a:graphic>
          <a:graphicData uri="http://schemas.openxmlformats.org/drawingml/2006/table">
            <a:tbl>
              <a:tblPr>
                <a:solidFill>
                  <a:srgbClr val="E7E6E6"/>
                </a:solidFill>
              </a:tblPr>
              <a:tblGrid>
                <a:gridCol w="8445500"/>
              </a:tblGrid>
              <a:tr h="610235">
                <a:tc>
                  <a:txBody>
                    <a:bodyPr/>
                    <a:lstStyle/>
                    <a:p>
                      <a:pPr algn="l" rtl="0" eaLnBrk="0">
                        <a:lnSpc>
                          <a:spcPct val="108000"/>
                        </a:lnSpc>
                      </a:pPr>
                      <a:endParaRPr sz="600" dirty="0">
                        <a:latin typeface="Arial" panose="020B0604020202020204"/>
                        <a:ea typeface="Arial" panose="020B0604020202020204"/>
                        <a:cs typeface="Arial" panose="020B0604020202020204"/>
                      </a:endParaRPr>
                    </a:p>
                    <a:p>
                      <a:pPr marL="1279525" algn="l" rtl="0" eaLnBrk="0">
                        <a:lnSpc>
                          <a:spcPct val="83000"/>
                        </a:lnSpc>
                        <a:spcBef>
                          <a:spcPts val="0"/>
                        </a:spcBef>
                      </a:pPr>
                      <a:r>
                        <a:rPr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rPr>
                        <a:t>4.</a:t>
                      </a:r>
                      <a:r>
                        <a:rPr lang="zh-CN"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rPr>
                        <a:t>作业四：</a:t>
                      </a:r>
                      <a:r>
                        <a:rPr lang="en-US" altLang="zh-CN"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K-Means </a:t>
                      </a:r>
                      <a:r>
                        <a:rPr lang="zh-CN" altLang="en-US"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聚类算法</a:t>
                      </a:r>
                      <a:endParaRPr lang="zh-CN"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graphicFrame>
        <p:nvGraphicFramePr>
          <p:cNvPr id="32" name="table 32"/>
          <p:cNvGraphicFramePr>
            <a:graphicFrameLocks noGrp="1"/>
          </p:cNvGraphicFramePr>
          <p:nvPr/>
        </p:nvGraphicFramePr>
        <p:xfrm>
          <a:off x="2172335" y="1611630"/>
          <a:ext cx="8445500" cy="896620"/>
        </p:xfrm>
        <a:graphic>
          <a:graphicData uri="http://schemas.openxmlformats.org/drawingml/2006/table">
            <a:tbl>
              <a:tblPr>
                <a:solidFill>
                  <a:srgbClr val="D0CECE"/>
                </a:solidFill>
              </a:tblPr>
              <a:tblGrid>
                <a:gridCol w="8445500"/>
              </a:tblGrid>
              <a:tr h="896620">
                <a:tc>
                  <a:txBody>
                    <a:bodyPr/>
                    <a:lstStyle/>
                    <a:p>
                      <a:pPr algn="l" rtl="0" eaLnBrk="0">
                        <a:lnSpc>
                          <a:spcPct val="141000"/>
                        </a:lnSpc>
                      </a:pPr>
                      <a:endParaRPr sz="1000" dirty="0">
                        <a:latin typeface="Arial" panose="020B0604020202020204"/>
                        <a:ea typeface="Arial" panose="020B0604020202020204"/>
                        <a:cs typeface="Arial" panose="020B0604020202020204"/>
                      </a:endParaRPr>
                    </a:p>
                    <a:p>
                      <a:pPr marL="1308735" algn="l" rtl="0" eaLnBrk="0">
                        <a:lnSpc>
                          <a:spcPct val="83000"/>
                        </a:lnSpc>
                        <a:spcBef>
                          <a:spcPts val="0"/>
                        </a:spcBef>
                      </a:pPr>
                      <a:r>
                        <a:rPr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1.</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作业一：</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MySQL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安装与基本</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 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操作</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D0CECE"/>
                    </a:solidFill>
                  </a:tcPr>
                </a:tc>
              </a:tr>
            </a:tbl>
          </a:graphicData>
        </a:graphic>
      </p:graphicFrame>
      <p:graphicFrame>
        <p:nvGraphicFramePr>
          <p:cNvPr id="34" name="table 34"/>
          <p:cNvGraphicFramePr>
            <a:graphicFrameLocks noGrp="1"/>
          </p:cNvGraphicFramePr>
          <p:nvPr/>
        </p:nvGraphicFramePr>
        <p:xfrm>
          <a:off x="2172411" y="3205479"/>
          <a:ext cx="8445500" cy="622935"/>
        </p:xfrm>
        <a:graphic>
          <a:graphicData uri="http://schemas.openxmlformats.org/drawingml/2006/table">
            <a:tbl>
              <a:tblPr>
                <a:solidFill>
                  <a:srgbClr val="E7E6E6"/>
                </a:solidFill>
              </a:tblPr>
              <a:tblGrid>
                <a:gridCol w="8445500"/>
              </a:tblGrid>
              <a:tr h="610235">
                <a:tc>
                  <a:txBody>
                    <a:bodyPr/>
                    <a:lstStyle/>
                    <a:p>
                      <a:pPr algn="l" rtl="0" eaLnBrk="0">
                        <a:lnSpc>
                          <a:spcPct val="103000"/>
                        </a:lnSpc>
                      </a:pPr>
                      <a:endParaRPr sz="500" dirty="0">
                        <a:latin typeface="Arial" panose="020B0604020202020204"/>
                        <a:ea typeface="Arial" panose="020B0604020202020204"/>
                        <a:cs typeface="Arial" panose="020B0604020202020204"/>
                      </a:endParaRPr>
                    </a:p>
                    <a:p>
                      <a:pPr marL="1266825" algn="l" rtl="0" eaLnBrk="0">
                        <a:lnSpc>
                          <a:spcPts val="3705"/>
                        </a:lnSpc>
                        <a:spcBef>
                          <a:spcPts val="5"/>
                        </a:spcBef>
                      </a:pPr>
                      <a:r>
                        <a:rPr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2.</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作业二：</a:t>
                      </a:r>
                      <a:r>
                        <a:rPr lang="en-US" altLang="zh-CN"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MongoDB </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安装与操作</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graphicFrame>
        <p:nvGraphicFramePr>
          <p:cNvPr id="36" name="table 36"/>
          <p:cNvGraphicFramePr>
            <a:graphicFrameLocks noGrp="1"/>
          </p:cNvGraphicFramePr>
          <p:nvPr/>
        </p:nvGraphicFramePr>
        <p:xfrm>
          <a:off x="2172411" y="4254728"/>
          <a:ext cx="8445500" cy="622935"/>
        </p:xfrm>
        <a:graphic>
          <a:graphicData uri="http://schemas.openxmlformats.org/drawingml/2006/table">
            <a:tbl>
              <a:tblPr>
                <a:solidFill>
                  <a:srgbClr val="E7E6E6"/>
                </a:solidFill>
              </a:tblPr>
              <a:tblGrid>
                <a:gridCol w="8445500"/>
              </a:tblGrid>
              <a:tr h="610235">
                <a:tc>
                  <a:txBody>
                    <a:bodyPr/>
                    <a:lstStyle/>
                    <a:p>
                      <a:pPr algn="l" rtl="0" eaLnBrk="0">
                        <a:lnSpc>
                          <a:spcPct val="118000"/>
                        </a:lnSpc>
                      </a:pPr>
                      <a:endParaRPr sz="300" dirty="0">
                        <a:latin typeface="Arial" panose="020B0604020202020204"/>
                        <a:ea typeface="Arial" panose="020B0604020202020204"/>
                        <a:cs typeface="Arial" panose="020B0604020202020204"/>
                      </a:endParaRPr>
                    </a:p>
                    <a:p>
                      <a:pPr marL="1270635" algn="l" rtl="0" eaLnBrk="0">
                        <a:lnSpc>
                          <a:spcPts val="3705"/>
                        </a:lnSpc>
                        <a:spcBef>
                          <a:spcPts val="0"/>
                        </a:spcBef>
                      </a:pPr>
                      <a:r>
                        <a:rPr lang="en-US" sz="2700" b="1" dirty="0">
                          <a:latin typeface="华文中宋" panose="02010600040101010101" charset="-122"/>
                          <a:ea typeface="华文中宋" panose="02010600040101010101" charset="-122"/>
                          <a:cs typeface="华文中宋" panose="02010600040101010101" charset="-122"/>
                        </a:rPr>
                        <a:t>3.</a:t>
                      </a:r>
                      <a:r>
                        <a:rPr lang="zh-CN" altLang="en-US" sz="2700" b="1" dirty="0">
                          <a:latin typeface="华文中宋" panose="02010600040101010101" charset="-122"/>
                          <a:ea typeface="华文中宋" panose="02010600040101010101" charset="-122"/>
                          <a:cs typeface="华文中宋" panose="02010600040101010101" charset="-122"/>
                          <a:sym typeface="+mn-ea"/>
                        </a:rPr>
                        <a:t>作业三：决策树</a:t>
                      </a:r>
                      <a:r>
                        <a:rPr lang="en-US" altLang="zh-CN" sz="2700" b="1" dirty="0">
                          <a:latin typeface="华文中宋" panose="02010600040101010101" charset="-122"/>
                          <a:ea typeface="华文中宋" panose="02010600040101010101" charset="-122"/>
                          <a:cs typeface="华文中宋" panose="02010600040101010101" charset="-122"/>
                          <a:sym typeface="+mn-ea"/>
                        </a:rPr>
                        <a:t> ID3 </a:t>
                      </a:r>
                      <a:r>
                        <a:rPr lang="zh-CN" altLang="en-US" sz="2700" b="1" dirty="0">
                          <a:latin typeface="华文中宋" panose="02010600040101010101" charset="-122"/>
                          <a:ea typeface="华文中宋" panose="02010600040101010101" charset="-122"/>
                          <a:cs typeface="华文中宋" panose="02010600040101010101" charset="-122"/>
                          <a:sym typeface="+mn-ea"/>
                        </a:rPr>
                        <a:t>算法</a:t>
                      </a:r>
                      <a:endParaRPr lang="zh-CN" altLang="en-US" sz="2700" b="1"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sp>
        <p:nvSpPr>
          <p:cNvPr id="38" name="textbox 38"/>
          <p:cNvSpPr/>
          <p:nvPr/>
        </p:nvSpPr>
        <p:spPr>
          <a:xfrm>
            <a:off x="3679714" y="2399182"/>
            <a:ext cx="6260465" cy="759459"/>
          </a:xfrm>
          <a:prstGeom prst="rect">
            <a:avLst/>
          </a:prstGeom>
          <a:noFill/>
          <a:ln w="0" cap="flat">
            <a:noFill/>
            <a:prstDash val="solid"/>
            <a:miter lim="0"/>
          </a:ln>
        </p:spPr>
        <p:txBody>
          <a:bodyPr vert="horz" wrap="square" lIns="0" tIns="0" rIns="0" bIns="0"/>
          <a:lstStyle/>
          <a:p>
            <a:pPr algn="l" rtl="0" eaLnBrk="0">
              <a:lnSpc>
                <a:spcPct val="83000"/>
              </a:lnSpc>
            </a:pPr>
            <a:endParaRPr sz="2000" dirty="0">
              <a:latin typeface="华文中宋" panose="02010600040101010101" charset="-122"/>
              <a:ea typeface="华文中宋" panose="02010600040101010101" charset="-122"/>
              <a:cs typeface="华文中宋" panose="02010600040101010101" charset="-122"/>
            </a:endParaRPr>
          </a:p>
        </p:txBody>
      </p:sp>
      <p:sp>
        <p:nvSpPr>
          <p:cNvPr id="40" name="path 40"/>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42" name="textbox 42"/>
          <p:cNvSpPr/>
          <p:nvPr/>
        </p:nvSpPr>
        <p:spPr>
          <a:xfrm>
            <a:off x="11424590" y="6477152"/>
            <a:ext cx="99694" cy="209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50"/>
              </a:lnSpc>
            </a:pPr>
            <a:r>
              <a:rPr sz="1200" kern="0" spc="-20" dirty="0">
                <a:solidFill>
                  <a:srgbClr val="898989">
                    <a:alpha val="100000"/>
                  </a:srgbClr>
                </a:solidFill>
                <a:latin typeface="等线" panose="02010600030101010101" charset="-122"/>
                <a:ea typeface="等线" panose="02010600030101010101" charset="-122"/>
                <a:cs typeface="等线" panose="02010600030101010101" charset="-122"/>
              </a:rPr>
              <a:t>3</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4"/>
          <p:cNvSpPr/>
          <p:nvPr/>
        </p:nvSpPr>
        <p:spPr>
          <a:xfrm>
            <a:off x="768985" y="1456690"/>
            <a:ext cx="10829290" cy="4953635"/>
          </a:xfrm>
          <a:prstGeom prst="rect">
            <a:avLst/>
          </a:prstGeom>
          <a:noFill/>
          <a:ln w="0" cap="flat">
            <a:noFill/>
            <a:prstDash val="solid"/>
            <a:miter lim="0"/>
          </a:ln>
        </p:spPr>
        <p:txBody>
          <a:bodyPr vert="horz" wrap="square" lIns="0" tIns="0" rIns="0" bIns="0"/>
          <a:lstStyle/>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完成 MySQL 安装与环境变量配置</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命令行验证 mysql -uroot -p</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两种方式操作数据库</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CLI：show/use/show tables</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GUI：DBeaver 连接与浏览表结构</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执行基本 SQL</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建表/插入/删除/更新/查询</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where / order by / limit 等</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总结反思</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DBeaver 隐藏系统库避免误操作</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配置 PATH 的意义</a:t>
            </a:r>
            <a:endParaRPr lang="en-US" sz="2000" dirty="0">
              <a:latin typeface="华文中宋" panose="02010600040101010101" charset="-122"/>
              <a:ea typeface="华文中宋" panose="02010600040101010101" charset="-122"/>
              <a:cs typeface="华文中宋" panose="02010600040101010101" charset="-122"/>
            </a:endParaRPr>
          </a:p>
          <a:p>
            <a:pPr algn="l" rtl="0" eaLnBrk="0" fontAlgn="auto">
              <a:lnSpc>
                <a:spcPct val="150000"/>
              </a:lnSpc>
            </a:pPr>
            <a:endParaRPr lang="en-US" altLang="zh-CN" sz="2000" baseline="30000" dirty="0">
              <a:latin typeface="华文中宋" panose="02010600040101010101" charset="-122"/>
              <a:ea typeface="华文中宋" panose="02010600040101010101" charset="-122"/>
              <a:cs typeface="华文中宋" panose="02010600040101010101" charset="-122"/>
            </a:endParaRPr>
          </a:p>
        </p:txBody>
      </p:sp>
      <p:sp>
        <p:nvSpPr>
          <p:cNvPr id="48" name="textbox 48"/>
          <p:cNvSpPr/>
          <p:nvPr/>
        </p:nvSpPr>
        <p:spPr>
          <a:xfrm>
            <a:off x="923778" y="275983"/>
            <a:ext cx="10565130" cy="640715"/>
          </a:xfrm>
          <a:prstGeom prst="rect">
            <a:avLst/>
          </a:prstGeom>
          <a:noFill/>
          <a:ln w="0" cap="flat">
            <a:noFill/>
            <a:prstDash val="solid"/>
            <a:miter lim="0"/>
          </a:ln>
        </p:spPr>
        <p:txBody>
          <a:bodyPr vert="horz" wrap="square" lIns="0" tIns="0" rIns="0" bIns="0"/>
          <a:lstStyle/>
          <a:p>
            <a:pPr algn="l" rtl="0" eaLnBrk="0">
              <a:lnSpc>
                <a:spcPct val="132000"/>
              </a:lnSpc>
            </a:pPr>
            <a:endParaRPr sz="10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0" algn="l" rtl="0" eaLnBrk="0">
              <a:lnSpc>
                <a:spcPct val="82000"/>
              </a:lnSpc>
            </a:pPr>
            <a:r>
              <a:rPr lang="zh-CN" altLang="en-US" sz="32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作业一：</a:t>
            </a:r>
            <a:r>
              <a:rPr lang="en-US" altLang="zh-CN" sz="32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MySQL </a:t>
            </a:r>
            <a:r>
              <a:rPr lang="zh-CN" altLang="en-US" sz="32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安装与基本</a:t>
            </a:r>
            <a:r>
              <a:rPr lang="en-US" altLang="zh-CN" sz="32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 SQL </a:t>
            </a:r>
            <a:r>
              <a:rPr lang="zh-CN" altLang="en-US" sz="32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操作</a:t>
            </a:r>
            <a:r>
              <a:rPr sz="32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                                  </a:t>
            </a:r>
            <a:r>
              <a:rPr sz="3200" kern="0" spc="-10" dirty="0">
                <a:solidFill>
                  <a:srgbClr val="000000">
                    <a:alpha val="100000"/>
                  </a:srgbClr>
                </a:solidFill>
                <a:latin typeface="华文中宋" panose="02010600040101010101" charset="-122"/>
                <a:ea typeface="华文中宋" panose="02010600040101010101" charset="-122"/>
                <a:cs typeface="华文中宋" panose="02010600040101010101" charset="-122"/>
              </a:rPr>
              <a:t> </a:t>
            </a:r>
            <a:endParaRPr sz="3200" dirty="0">
              <a:latin typeface="华文中宋" panose="02010600040101010101" charset="-122"/>
              <a:ea typeface="华文中宋" panose="02010600040101010101" charset="-122"/>
              <a:cs typeface="华文中宋" panose="02010600040101010101" charset="-122"/>
            </a:endParaRPr>
          </a:p>
        </p:txBody>
      </p:sp>
      <p:pic>
        <p:nvPicPr>
          <p:cNvPr id="50" name="picture 50"/>
          <p:cNvPicPr>
            <a:picLocks noChangeAspect="1"/>
          </p:cNvPicPr>
          <p:nvPr/>
        </p:nvPicPr>
        <p:blipFill>
          <a:blip r:embed="rId1"/>
          <a:stretch>
            <a:fillRect/>
          </a:stretch>
        </p:blipFill>
        <p:spPr>
          <a:xfrm rot="21600000">
            <a:off x="8940471" y="288683"/>
            <a:ext cx="2514595" cy="609600"/>
          </a:xfrm>
          <a:prstGeom prst="rect">
            <a:avLst/>
          </a:prstGeom>
        </p:spPr>
      </p:pic>
      <p:sp>
        <p:nvSpPr>
          <p:cNvPr id="52" name="path 52"/>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54" name="textbox 54"/>
          <p:cNvSpPr/>
          <p:nvPr/>
        </p:nvSpPr>
        <p:spPr>
          <a:xfrm>
            <a:off x="11421541" y="6477152"/>
            <a:ext cx="102870" cy="209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50"/>
              </a:lnSpc>
            </a:pPr>
            <a:r>
              <a:rPr sz="1200" kern="0" spc="-20" dirty="0">
                <a:solidFill>
                  <a:srgbClr val="898989">
                    <a:alpha val="100000"/>
                  </a:srgbClr>
                </a:solidFill>
                <a:latin typeface="等线" panose="02010600030101010101" charset="-122"/>
                <a:ea typeface="等线" panose="02010600030101010101" charset="-122"/>
                <a:cs typeface="等线" panose="02010600030101010101" charset="-122"/>
              </a:rPr>
              <a:t>4</a:t>
            </a:r>
            <a:endParaRPr sz="1200" dirty="0">
              <a:latin typeface="等线" panose="02010600030101010101" charset="-122"/>
              <a:ea typeface="等线" panose="02010600030101010101" charset="-122"/>
              <a:cs typeface="等线" panose="02010600030101010101" charset="-122"/>
            </a:endParaRPr>
          </a:p>
        </p:txBody>
      </p:sp>
      <p:pic>
        <p:nvPicPr>
          <p:cNvPr id="12" name="Image 0" descr="/mnt/data/slide_assets/mysql_crop.png"/>
          <p:cNvPicPr>
            <a:picLocks noChangeAspect="1"/>
          </p:cNvPicPr>
          <p:nvPr/>
        </p:nvPicPr>
        <p:blipFill>
          <a:blip r:embed="rId2"/>
          <a:stretch>
            <a:fillRect/>
          </a:stretch>
        </p:blipFill>
        <p:spPr>
          <a:xfrm>
            <a:off x="5946775" y="1456690"/>
            <a:ext cx="5577840" cy="4480560"/>
          </a:xfrm>
          <a:prstGeom prst="rect">
            <a:avLst/>
          </a:prstGeom>
        </p:spPr>
      </p:pic>
      <p:sp>
        <p:nvSpPr>
          <p:cNvPr id="2" name="文本框 1"/>
          <p:cNvSpPr txBox="1"/>
          <p:nvPr/>
        </p:nvSpPr>
        <p:spPr>
          <a:xfrm>
            <a:off x="7250430" y="6183630"/>
            <a:ext cx="4004945" cy="368300"/>
          </a:xfrm>
          <a:prstGeom prst="rect">
            <a:avLst/>
          </a:prstGeom>
          <a:noFill/>
        </p:spPr>
        <p:txBody>
          <a:bodyPr wrap="square" rtlCol="0">
            <a:spAutoFit/>
          </a:bodyPr>
          <a:p>
            <a:r>
              <a:rPr lang="en-US" b="1" dirty="0">
                <a:solidFill>
                  <a:srgbClr val="0B2D4A"/>
                </a:solidFill>
                <a:latin typeface="仿宋" panose="02010609060101010101" charset="-122"/>
                <a:ea typeface="仿宋" panose="02010609060101010101" charset="-122"/>
                <a:cs typeface="仿宋" panose="02010609060101010101" charset="-122"/>
                <a:sym typeface="+mn-ea"/>
              </a:rPr>
              <a:t>         DBeaver + SQL 操作</a:t>
            </a:r>
            <a:endParaRPr lang="zh-CN" altLang="en-US">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extbox 112"/>
          <p:cNvSpPr/>
          <p:nvPr/>
        </p:nvSpPr>
        <p:spPr>
          <a:xfrm>
            <a:off x="941275" y="275983"/>
            <a:ext cx="10547350" cy="635000"/>
          </a:xfrm>
          <a:prstGeom prst="rect">
            <a:avLst/>
          </a:prstGeom>
          <a:noFill/>
          <a:ln w="0" cap="flat">
            <a:noFill/>
            <a:prstDash val="solid"/>
            <a:miter lim="0"/>
          </a:ln>
        </p:spPr>
        <p:txBody>
          <a:bodyPr vert="horz" wrap="square" lIns="0" tIns="0" rIns="0" bIns="0"/>
          <a:lstStyle/>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2700" algn="l" rtl="0" eaLnBrk="0">
              <a:lnSpc>
                <a:spcPct val="79000"/>
              </a:lnSpc>
            </a:pPr>
            <a:r>
              <a:rPr sz="3100" b="1" kern="0" spc="-250" dirty="0">
                <a:solidFill>
                  <a:srgbClr val="000000">
                    <a:alpha val="100000"/>
                  </a:srgbClr>
                </a:solidFill>
                <a:latin typeface="华文中宋" panose="02010600040101010101" charset="-122"/>
                <a:ea typeface="华文中宋" panose="02010600040101010101" charset="-122"/>
                <a:cs typeface="华文中宋" panose="02010600040101010101" charset="-122"/>
              </a:rPr>
              <a:t>目录</a:t>
            </a:r>
            <a:r>
              <a:rPr sz="31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                                                           </a:t>
            </a:r>
            <a:endParaRPr sz="3100" dirty="0">
              <a:latin typeface="华文中宋" panose="02010600040101010101" charset="-122"/>
              <a:ea typeface="华文中宋" panose="02010600040101010101" charset="-122"/>
              <a:cs typeface="华文中宋" panose="02010600040101010101" charset="-122"/>
            </a:endParaRPr>
          </a:p>
        </p:txBody>
      </p:sp>
      <p:pic>
        <p:nvPicPr>
          <p:cNvPr id="114" name="picture 114"/>
          <p:cNvPicPr>
            <a:picLocks noChangeAspect="1"/>
          </p:cNvPicPr>
          <p:nvPr/>
        </p:nvPicPr>
        <p:blipFill>
          <a:blip r:embed="rId1"/>
          <a:stretch>
            <a:fillRect/>
          </a:stretch>
        </p:blipFill>
        <p:spPr>
          <a:xfrm rot="21600000">
            <a:off x="8955179" y="288683"/>
            <a:ext cx="2514595" cy="609600"/>
          </a:xfrm>
          <a:prstGeom prst="rect">
            <a:avLst/>
          </a:prstGeom>
        </p:spPr>
      </p:pic>
      <p:graphicFrame>
        <p:nvGraphicFramePr>
          <p:cNvPr id="116" name="table 116"/>
          <p:cNvGraphicFramePr>
            <a:graphicFrameLocks noGrp="1"/>
          </p:cNvGraphicFramePr>
          <p:nvPr/>
        </p:nvGraphicFramePr>
        <p:xfrm>
          <a:off x="2172411" y="5312193"/>
          <a:ext cx="8445500" cy="622935"/>
        </p:xfrm>
        <a:graphic>
          <a:graphicData uri="http://schemas.openxmlformats.org/drawingml/2006/table">
            <a:tbl>
              <a:tblPr>
                <a:solidFill>
                  <a:srgbClr val="E7E6E6"/>
                </a:solidFill>
              </a:tblPr>
              <a:tblGrid>
                <a:gridCol w="8445500"/>
              </a:tblGrid>
              <a:tr h="610235">
                <a:tc>
                  <a:txBody>
                    <a:bodyPr/>
                    <a:lstStyle/>
                    <a:p>
                      <a:pPr algn="l" rtl="0" eaLnBrk="0">
                        <a:lnSpc>
                          <a:spcPct val="108000"/>
                        </a:lnSpc>
                      </a:pPr>
                      <a:endParaRPr sz="600" dirty="0">
                        <a:latin typeface="Arial" panose="020B0604020202020204"/>
                        <a:ea typeface="Arial" panose="020B0604020202020204"/>
                        <a:cs typeface="Arial" panose="020B0604020202020204"/>
                      </a:endParaRPr>
                    </a:p>
                    <a:p>
                      <a:pPr marL="1279525" algn="l" rtl="0" eaLnBrk="0">
                        <a:lnSpc>
                          <a:spcPct val="83000"/>
                        </a:lnSpc>
                        <a:spcBef>
                          <a:spcPts val="0"/>
                        </a:spcBef>
                      </a:pPr>
                      <a:r>
                        <a:rPr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4.</a:t>
                      </a:r>
                      <a:r>
                        <a:rPr lang="zh-CN"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作业四：</a:t>
                      </a:r>
                      <a:r>
                        <a:rPr lang="en-US" altLang="zh-CN"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K-Means </a:t>
                      </a:r>
                      <a:r>
                        <a:rPr lang="zh-CN" altLang="en-US"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聚类算法</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graphicFrame>
        <p:nvGraphicFramePr>
          <p:cNvPr id="118" name="table 118"/>
          <p:cNvGraphicFramePr>
            <a:graphicFrameLocks noGrp="1"/>
          </p:cNvGraphicFramePr>
          <p:nvPr/>
        </p:nvGraphicFramePr>
        <p:xfrm>
          <a:off x="2172411" y="1611617"/>
          <a:ext cx="8445500" cy="622934"/>
        </p:xfrm>
        <a:graphic>
          <a:graphicData uri="http://schemas.openxmlformats.org/drawingml/2006/table">
            <a:tbl>
              <a:tblPr>
                <a:solidFill>
                  <a:srgbClr val="E7E6E6"/>
                </a:solidFill>
              </a:tblPr>
              <a:tblGrid>
                <a:gridCol w="8445500"/>
              </a:tblGrid>
              <a:tr h="610234">
                <a:tc>
                  <a:txBody>
                    <a:bodyPr/>
                    <a:lstStyle/>
                    <a:p>
                      <a:pPr algn="l" rtl="0" eaLnBrk="0">
                        <a:lnSpc>
                          <a:spcPct val="141000"/>
                        </a:lnSpc>
                      </a:pPr>
                      <a:endParaRPr sz="1000" dirty="0">
                        <a:latin typeface="Arial" panose="020B0604020202020204"/>
                        <a:ea typeface="Arial" panose="020B0604020202020204"/>
                        <a:cs typeface="Arial" panose="020B0604020202020204"/>
                      </a:endParaRPr>
                    </a:p>
                    <a:p>
                      <a:pPr marL="1308735" algn="l" rtl="0" eaLnBrk="0">
                        <a:lnSpc>
                          <a:spcPct val="83000"/>
                        </a:lnSpc>
                        <a:spcBef>
                          <a:spcPts val="0"/>
                        </a:spcBef>
                      </a:pPr>
                      <a:r>
                        <a:rPr lang="en-US" sz="2700" b="1" dirty="0">
                          <a:latin typeface="华文中宋" panose="02010600040101010101" charset="-122"/>
                          <a:ea typeface="华文中宋" panose="02010600040101010101" charset="-122"/>
                          <a:cs typeface="华文中宋" panose="02010600040101010101" charset="-122"/>
                        </a:rPr>
                        <a:t>1.</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作业一：</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MySQL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安装与基本</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 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操作</a:t>
                      </a:r>
                      <a:endParaRPr lang="zh-CN" altLang="en-US" sz="2700" b="1"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graphicFrame>
        <p:nvGraphicFramePr>
          <p:cNvPr id="120" name="table 120"/>
          <p:cNvGraphicFramePr>
            <a:graphicFrameLocks noGrp="1"/>
          </p:cNvGraphicFramePr>
          <p:nvPr/>
        </p:nvGraphicFramePr>
        <p:xfrm>
          <a:off x="2172411" y="2669070"/>
          <a:ext cx="8445500" cy="622934"/>
        </p:xfrm>
        <a:graphic>
          <a:graphicData uri="http://schemas.openxmlformats.org/drawingml/2006/table">
            <a:tbl>
              <a:tblPr>
                <a:solidFill>
                  <a:srgbClr val="D0CECE"/>
                </a:solidFill>
              </a:tblPr>
              <a:tblGrid>
                <a:gridCol w="8445500"/>
              </a:tblGrid>
              <a:tr h="610234">
                <a:tc>
                  <a:txBody>
                    <a:bodyPr/>
                    <a:lstStyle/>
                    <a:p>
                      <a:pPr algn="l" rtl="0" eaLnBrk="0">
                        <a:lnSpc>
                          <a:spcPct val="113000"/>
                        </a:lnSpc>
                      </a:pPr>
                      <a:endParaRPr sz="600" dirty="0">
                        <a:latin typeface="Arial" panose="020B0604020202020204"/>
                        <a:ea typeface="Arial" panose="020B0604020202020204"/>
                        <a:cs typeface="Arial" panose="020B0604020202020204"/>
                      </a:endParaRPr>
                    </a:p>
                    <a:p>
                      <a:pPr marL="1266825" algn="l" rtl="0" eaLnBrk="0">
                        <a:lnSpc>
                          <a:spcPts val="3705"/>
                        </a:lnSpc>
                        <a:spcBef>
                          <a:spcPts val="0"/>
                        </a:spcBef>
                      </a:pPr>
                      <a:r>
                        <a:rPr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2.</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作业二：</a:t>
                      </a:r>
                      <a:r>
                        <a:rPr lang="en-US" altLang="zh-CN"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MongoDB </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安装与操作</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D0CECE"/>
                    </a:solidFill>
                  </a:tcPr>
                </a:tc>
              </a:tr>
            </a:tbl>
          </a:graphicData>
        </a:graphic>
      </p:graphicFrame>
      <p:graphicFrame>
        <p:nvGraphicFramePr>
          <p:cNvPr id="122" name="table 122"/>
          <p:cNvGraphicFramePr>
            <a:graphicFrameLocks noGrp="1"/>
          </p:cNvGraphicFramePr>
          <p:nvPr/>
        </p:nvGraphicFramePr>
        <p:xfrm>
          <a:off x="2172411" y="4254728"/>
          <a:ext cx="8445500" cy="622935"/>
        </p:xfrm>
        <a:graphic>
          <a:graphicData uri="http://schemas.openxmlformats.org/drawingml/2006/table">
            <a:tbl>
              <a:tblPr>
                <a:solidFill>
                  <a:srgbClr val="E7E6E6"/>
                </a:solidFill>
              </a:tblPr>
              <a:tblGrid>
                <a:gridCol w="8445500"/>
              </a:tblGrid>
              <a:tr h="610235">
                <a:tc>
                  <a:txBody>
                    <a:bodyPr/>
                    <a:lstStyle/>
                    <a:p>
                      <a:pPr algn="l" rtl="0" eaLnBrk="0">
                        <a:lnSpc>
                          <a:spcPct val="118000"/>
                        </a:lnSpc>
                      </a:pPr>
                      <a:endParaRPr sz="300" dirty="0">
                        <a:latin typeface="Arial" panose="020B0604020202020204"/>
                        <a:ea typeface="Arial" panose="020B0604020202020204"/>
                        <a:cs typeface="Arial" panose="020B0604020202020204"/>
                      </a:endParaRPr>
                    </a:p>
                    <a:p>
                      <a:pPr marL="1270635" algn="l" rtl="0" eaLnBrk="0">
                        <a:lnSpc>
                          <a:spcPts val="3705"/>
                        </a:lnSpc>
                        <a:spcBef>
                          <a:spcPts val="0"/>
                        </a:spcBef>
                      </a:pPr>
                      <a:r>
                        <a:rPr lang="en-US" sz="2700" b="1" dirty="0">
                          <a:latin typeface="华文中宋" panose="02010600040101010101" charset="-122"/>
                          <a:ea typeface="华文中宋" panose="02010600040101010101" charset="-122"/>
                          <a:cs typeface="华文中宋" panose="02010600040101010101" charset="-122"/>
                          <a:sym typeface="+mn-ea"/>
                        </a:rPr>
                        <a:t>3.</a:t>
                      </a:r>
                      <a:r>
                        <a:rPr lang="zh-CN" altLang="en-US" sz="2700" b="1" dirty="0">
                          <a:latin typeface="华文中宋" panose="02010600040101010101" charset="-122"/>
                          <a:ea typeface="华文中宋" panose="02010600040101010101" charset="-122"/>
                          <a:cs typeface="华文中宋" panose="02010600040101010101" charset="-122"/>
                          <a:sym typeface="+mn-ea"/>
                        </a:rPr>
                        <a:t>作业三：决策树</a:t>
                      </a:r>
                      <a:r>
                        <a:rPr lang="en-US" altLang="zh-CN" sz="2700" b="1" dirty="0">
                          <a:latin typeface="华文中宋" panose="02010600040101010101" charset="-122"/>
                          <a:ea typeface="华文中宋" panose="02010600040101010101" charset="-122"/>
                          <a:cs typeface="华文中宋" panose="02010600040101010101" charset="-122"/>
                          <a:sym typeface="+mn-ea"/>
                        </a:rPr>
                        <a:t> ID3 </a:t>
                      </a:r>
                      <a:r>
                        <a:rPr lang="zh-CN" altLang="en-US" sz="2700" b="1" dirty="0">
                          <a:latin typeface="华文中宋" panose="02010600040101010101" charset="-122"/>
                          <a:ea typeface="华文中宋" panose="02010600040101010101" charset="-122"/>
                          <a:cs typeface="华文中宋" panose="02010600040101010101" charset="-122"/>
                          <a:sym typeface="+mn-ea"/>
                        </a:rPr>
                        <a:t>算法</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sp>
        <p:nvSpPr>
          <p:cNvPr id="126" name="path 126"/>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128" name="textbox 128"/>
          <p:cNvSpPr/>
          <p:nvPr/>
        </p:nvSpPr>
        <p:spPr>
          <a:xfrm>
            <a:off x="11425961" y="6477152"/>
            <a:ext cx="98425" cy="209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50"/>
              </a:lnSpc>
            </a:pPr>
            <a:r>
              <a:rPr sz="1200" kern="0" spc="-20" dirty="0">
                <a:solidFill>
                  <a:srgbClr val="898989">
                    <a:alpha val="100000"/>
                  </a:srgbClr>
                </a:solidFill>
                <a:latin typeface="等线" panose="02010600030101010101" charset="-122"/>
                <a:ea typeface="等线" panose="02010600030101010101" charset="-122"/>
                <a:cs typeface="等线" panose="02010600030101010101" charset="-122"/>
              </a:rPr>
              <a:t>9</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extbox 130"/>
          <p:cNvSpPr/>
          <p:nvPr/>
        </p:nvSpPr>
        <p:spPr>
          <a:xfrm>
            <a:off x="687070" y="1508760"/>
            <a:ext cx="8357870" cy="4935855"/>
          </a:xfrm>
          <a:prstGeom prst="rect">
            <a:avLst/>
          </a:prstGeom>
          <a:noFill/>
          <a:ln w="0" cap="flat">
            <a:noFill/>
            <a:prstDash val="solid"/>
            <a:miter lim="0"/>
          </a:ln>
        </p:spPr>
        <p:txBody>
          <a:bodyPr vert="horz" wrap="square" lIns="0" tIns="0" rIns="0" bIns="0"/>
          <a:lstStyle/>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完成 MongoDB 安装与服务启动</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配置 data/logs 目录</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使用 net start mongodb 启动</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选择 mongosh 进行操作</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切换数据库 use</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集合/文档操作</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完成 CRUD + 排序</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insertOne/insertMany</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find 条件查询</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updateOne + $set</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deleteOne</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sort</a:t>
            </a:r>
            <a:endParaRPr lang="en-US" sz="2000" dirty="0">
              <a:latin typeface="华文中宋" panose="02010600040101010101" charset="-122"/>
              <a:ea typeface="华文中宋" panose="02010600040101010101" charset="-122"/>
              <a:cs typeface="华文中宋" panose="02010600040101010101" charset="-122"/>
            </a:endParaRPr>
          </a:p>
          <a:p>
            <a:pPr indent="0" algn="l" rtl="0" eaLnBrk="0" fontAlgn="auto">
              <a:lnSpc>
                <a:spcPct val="150000"/>
              </a:lnSpc>
            </a:pPr>
            <a:endParaRPr lang="zh-CN" altLang="en-US" sz="2000" dirty="0">
              <a:latin typeface="华文中宋" panose="02010600040101010101" charset="-122"/>
              <a:ea typeface="华文中宋" panose="02010600040101010101" charset="-122"/>
              <a:cs typeface="华文中宋" panose="02010600040101010101" charset="-122"/>
            </a:endParaRPr>
          </a:p>
        </p:txBody>
      </p:sp>
      <p:sp>
        <p:nvSpPr>
          <p:cNvPr id="134" name="textbox 134"/>
          <p:cNvSpPr/>
          <p:nvPr/>
        </p:nvSpPr>
        <p:spPr>
          <a:xfrm>
            <a:off x="876170" y="275983"/>
            <a:ext cx="10612755" cy="668019"/>
          </a:xfrm>
          <a:prstGeom prst="rect">
            <a:avLst/>
          </a:prstGeom>
          <a:noFill/>
          <a:ln w="0" cap="flat">
            <a:noFill/>
            <a:prstDash val="solid"/>
            <a:miter lim="0"/>
          </a:ln>
        </p:spPr>
        <p:txBody>
          <a:bodyPr vert="horz" wrap="square" lIns="0" tIns="0" rIns="0" bIns="0"/>
          <a:lstStyle/>
          <a:p>
            <a:pPr algn="l" rtl="0" eaLnBrk="0">
              <a:lnSpc>
                <a:spcPct val="108000"/>
              </a:lnSpc>
            </a:pPr>
            <a:endParaRPr sz="700" dirty="0">
              <a:latin typeface="Arial" panose="020B0604020202020204"/>
              <a:ea typeface="Arial" panose="020B0604020202020204"/>
              <a:cs typeface="Arial" panose="020B0604020202020204"/>
            </a:endParaRPr>
          </a:p>
          <a:p>
            <a:pPr marL="12700" algn="l" rtl="0" eaLnBrk="0">
              <a:lnSpc>
                <a:spcPts val="4245"/>
              </a:lnSpc>
              <a:spcBef>
                <a:spcPts val="5"/>
              </a:spcBef>
            </a:pPr>
            <a:r>
              <a:rPr lang="zh-CN" altLang="en-US" sz="32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作业二：</a:t>
            </a:r>
            <a:r>
              <a:rPr lang="en-US" altLang="zh-CN" sz="32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MongoDB </a:t>
            </a:r>
            <a:r>
              <a:rPr lang="zh-CN" altLang="en-US" sz="32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安装与操作</a:t>
            </a:r>
            <a:r>
              <a:rPr sz="32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                    </a:t>
            </a:r>
            <a:endParaRPr sz="3200" dirty="0">
              <a:latin typeface="华文中宋" panose="02010600040101010101" charset="-122"/>
              <a:ea typeface="华文中宋" panose="02010600040101010101" charset="-122"/>
              <a:cs typeface="华文中宋" panose="02010600040101010101" charset="-122"/>
            </a:endParaRPr>
          </a:p>
        </p:txBody>
      </p:sp>
      <p:pic>
        <p:nvPicPr>
          <p:cNvPr id="136" name="picture 136"/>
          <p:cNvPicPr>
            <a:picLocks noChangeAspect="1"/>
          </p:cNvPicPr>
          <p:nvPr/>
        </p:nvPicPr>
        <p:blipFill>
          <a:blip r:embed="rId1"/>
          <a:stretch>
            <a:fillRect/>
          </a:stretch>
        </p:blipFill>
        <p:spPr>
          <a:xfrm rot="21600000">
            <a:off x="8926563" y="288683"/>
            <a:ext cx="2514595" cy="609600"/>
          </a:xfrm>
          <a:prstGeom prst="rect">
            <a:avLst/>
          </a:prstGeom>
        </p:spPr>
      </p:pic>
      <p:sp>
        <p:nvSpPr>
          <p:cNvPr id="138" name="textbox 138"/>
          <p:cNvSpPr/>
          <p:nvPr/>
        </p:nvSpPr>
        <p:spPr>
          <a:xfrm>
            <a:off x="838056" y="6431007"/>
            <a:ext cx="10686415" cy="274954"/>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82000"/>
              </a:lnSpc>
            </a:pPr>
            <a:endParaRPr sz="1800" baseline="3000" dirty="0">
              <a:latin typeface="等线" panose="02010600030101010101" charset="-122"/>
              <a:ea typeface="等线" panose="02010600030101010101" charset="-122"/>
              <a:cs typeface="等线" panose="02010600030101010101" charset="-122"/>
            </a:endParaRPr>
          </a:p>
        </p:txBody>
      </p:sp>
      <p:sp>
        <p:nvSpPr>
          <p:cNvPr id="142" name="path 142"/>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pic>
        <p:nvPicPr>
          <p:cNvPr id="12" name="Image 0" descr="/mnt/data/slide_assets/mongo_crop.png"/>
          <p:cNvPicPr>
            <a:picLocks noChangeAspect="1"/>
          </p:cNvPicPr>
          <p:nvPr/>
        </p:nvPicPr>
        <p:blipFill>
          <a:blip r:embed="rId2"/>
          <a:stretch>
            <a:fillRect/>
          </a:stretch>
        </p:blipFill>
        <p:spPr>
          <a:xfrm>
            <a:off x="5888355" y="1134745"/>
            <a:ext cx="6136005" cy="55708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textbox 144"/>
          <p:cNvSpPr/>
          <p:nvPr/>
        </p:nvSpPr>
        <p:spPr>
          <a:xfrm>
            <a:off x="832944" y="2186485"/>
            <a:ext cx="5335904" cy="3376929"/>
          </a:xfrm>
          <a:prstGeom prst="rect">
            <a:avLst/>
          </a:prstGeom>
          <a:noFill/>
          <a:ln w="0" cap="flat">
            <a:noFill/>
            <a:prstDash val="solid"/>
            <a:miter lim="0"/>
          </a:ln>
        </p:spPr>
        <p:txBody>
          <a:bodyPr vert="horz" wrap="square" lIns="0" tIns="0" rIns="0" bIns="0"/>
          <a:lstStyle/>
          <a:p>
            <a:pPr algn="l" rtl="0" eaLnBrk="0">
              <a:lnSpc>
                <a:spcPct val="83000"/>
              </a:lnSpc>
            </a:pPr>
            <a:endParaRPr sz="1800" dirty="0">
              <a:latin typeface="华文中宋" panose="02010600040101010101" charset="-122"/>
              <a:ea typeface="华文中宋" panose="02010600040101010101" charset="-122"/>
              <a:cs typeface="华文中宋" panose="02010600040101010101" charset="-122"/>
            </a:endParaRPr>
          </a:p>
        </p:txBody>
      </p:sp>
      <p:sp>
        <p:nvSpPr>
          <p:cNvPr id="146" name="textbox 146"/>
          <p:cNvSpPr/>
          <p:nvPr/>
        </p:nvSpPr>
        <p:spPr>
          <a:xfrm>
            <a:off x="6985212" y="2921180"/>
            <a:ext cx="5048250" cy="3376929"/>
          </a:xfrm>
          <a:prstGeom prst="rect">
            <a:avLst/>
          </a:prstGeom>
          <a:noFill/>
          <a:ln w="0" cap="flat">
            <a:noFill/>
            <a:prstDash val="solid"/>
            <a:miter lim="0"/>
          </a:ln>
        </p:spPr>
        <p:txBody>
          <a:bodyPr vert="horz" wrap="square" lIns="0" tIns="0" rIns="0" bIns="0"/>
          <a:lstStyle/>
          <a:p>
            <a:pPr algn="l" rtl="0" eaLnBrk="0">
              <a:lnSpc>
                <a:spcPct val="83000"/>
              </a:lnSpc>
            </a:pPr>
            <a:endParaRPr sz="1800" dirty="0">
              <a:latin typeface="华文中宋" panose="02010600040101010101" charset="-122"/>
              <a:ea typeface="华文中宋" panose="02010600040101010101" charset="-122"/>
              <a:cs typeface="华文中宋" panose="02010600040101010101" charset="-122"/>
            </a:endParaRPr>
          </a:p>
        </p:txBody>
      </p:sp>
      <p:sp>
        <p:nvSpPr>
          <p:cNvPr id="148" name="textbox 148"/>
          <p:cNvSpPr/>
          <p:nvPr/>
        </p:nvSpPr>
        <p:spPr>
          <a:xfrm>
            <a:off x="876170" y="275983"/>
            <a:ext cx="10612755" cy="668019"/>
          </a:xfrm>
          <a:prstGeom prst="rect">
            <a:avLst/>
          </a:prstGeom>
          <a:noFill/>
          <a:ln w="0" cap="flat">
            <a:noFill/>
            <a:prstDash val="solid"/>
            <a:miter lim="0"/>
          </a:ln>
        </p:spPr>
        <p:txBody>
          <a:bodyPr vert="horz" wrap="square" lIns="0" tIns="0" rIns="0" bIns="0"/>
          <a:lstStyle/>
          <a:p>
            <a:pPr algn="l" rtl="0" eaLnBrk="0">
              <a:lnSpc>
                <a:spcPct val="108000"/>
              </a:lnSpc>
            </a:pPr>
            <a:r>
              <a:rPr lang="en-US" sz="2800" b="1" dirty="0">
                <a:solidFill>
                  <a:schemeClr val="tx1"/>
                </a:solidFill>
                <a:latin typeface="华文中宋" panose="02010600040101010101" charset="-122"/>
                <a:ea typeface="华文中宋" panose="02010600040101010101" charset="-122"/>
                <a:cs typeface="华文中宋" panose="02010600040101010101" charset="-122"/>
                <a:sym typeface="+mn-ea"/>
              </a:rPr>
              <a:t>MySQL vs MongoDB：什么时候用哪一个？</a:t>
            </a:r>
            <a:endParaRPr lang="en-US" sz="2800" b="1" dirty="0">
              <a:solidFill>
                <a:schemeClr val="tx1"/>
              </a:solidFill>
              <a:latin typeface="华文中宋" panose="02010600040101010101" charset="-122"/>
              <a:ea typeface="华文中宋" panose="02010600040101010101" charset="-122"/>
              <a:cs typeface="华文中宋" panose="02010600040101010101" charset="-122"/>
              <a:sym typeface="+mn-ea"/>
            </a:endParaRPr>
          </a:p>
        </p:txBody>
      </p:sp>
      <p:pic>
        <p:nvPicPr>
          <p:cNvPr id="150" name="picture 150"/>
          <p:cNvPicPr>
            <a:picLocks noChangeAspect="1"/>
          </p:cNvPicPr>
          <p:nvPr/>
        </p:nvPicPr>
        <p:blipFill>
          <a:blip r:embed="rId1"/>
          <a:stretch>
            <a:fillRect/>
          </a:stretch>
        </p:blipFill>
        <p:spPr>
          <a:xfrm rot="21600000">
            <a:off x="8926563" y="288683"/>
            <a:ext cx="2514595" cy="609600"/>
          </a:xfrm>
          <a:prstGeom prst="rect">
            <a:avLst/>
          </a:prstGeom>
        </p:spPr>
      </p:pic>
      <p:sp>
        <p:nvSpPr>
          <p:cNvPr id="154" name="path 154"/>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156" name="textbox 156"/>
          <p:cNvSpPr/>
          <p:nvPr/>
        </p:nvSpPr>
        <p:spPr>
          <a:xfrm>
            <a:off x="11348999" y="6477152"/>
            <a:ext cx="175260" cy="209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50"/>
              </a:lnSpc>
            </a:pPr>
            <a:r>
              <a:rPr sz="1200" kern="0" spc="-40" dirty="0">
                <a:solidFill>
                  <a:srgbClr val="898989">
                    <a:alpha val="100000"/>
                  </a:srgbClr>
                </a:solidFill>
                <a:latin typeface="等线" panose="02010600030101010101" charset="-122"/>
                <a:ea typeface="等线" panose="02010600030101010101" charset="-122"/>
                <a:cs typeface="等线" panose="02010600030101010101" charset="-122"/>
              </a:rPr>
              <a:t>11</a:t>
            </a:r>
            <a:endParaRPr sz="1200" dirty="0">
              <a:latin typeface="等线" panose="02010600030101010101" charset="-122"/>
              <a:ea typeface="等线" panose="02010600030101010101" charset="-122"/>
              <a:cs typeface="等线" panose="02010600030101010101" charset="-122"/>
            </a:endParaRPr>
          </a:p>
        </p:txBody>
      </p:sp>
      <p:sp>
        <p:nvSpPr>
          <p:cNvPr id="3" name="文本框 2"/>
          <p:cNvSpPr txBox="1"/>
          <p:nvPr/>
        </p:nvSpPr>
        <p:spPr>
          <a:xfrm>
            <a:off x="923925" y="1943100"/>
            <a:ext cx="4905375" cy="2694305"/>
          </a:xfrm>
          <a:prstGeom prst="rect">
            <a:avLst/>
          </a:prstGeom>
          <a:noFill/>
        </p:spPr>
        <p:txBody>
          <a:bodyPr wrap="square" rtlCol="0">
            <a:spAutoFit/>
          </a:bodyPr>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数据：表结构固定（schema）</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字段类型/约束明确，适合强一致性业务</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查询：SQL 强，支持复杂 join/聚合</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事务与约束更完整</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典型：订单/财务/业务核心库</a:t>
            </a:r>
            <a:endParaRPr lang="en-US" sz="2000" dirty="0">
              <a:latin typeface="华文中宋" panose="02010600040101010101" charset="-122"/>
              <a:ea typeface="华文中宋" panose="02010600040101010101" charset="-122"/>
              <a:cs typeface="华文中宋" panose="02010600040101010101" charset="-122"/>
            </a:endParaRPr>
          </a:p>
          <a:p>
            <a:endParaRPr lang="zh-CN" altLang="en-US" sz="2000">
              <a:latin typeface="华文中宋" panose="02010600040101010101" charset="-122"/>
              <a:ea typeface="华文中宋" panose="02010600040101010101" charset="-122"/>
              <a:cs typeface="华文中宋" panose="02010600040101010101" charset="-122"/>
            </a:endParaRPr>
          </a:p>
        </p:txBody>
      </p:sp>
      <p:sp>
        <p:nvSpPr>
          <p:cNvPr id="4" name="文本框 3"/>
          <p:cNvSpPr txBox="1"/>
          <p:nvPr/>
        </p:nvSpPr>
        <p:spPr>
          <a:xfrm>
            <a:off x="1005205" y="1392555"/>
            <a:ext cx="3843655" cy="706755"/>
          </a:xfrm>
          <a:prstGeom prst="rect">
            <a:avLst/>
          </a:prstGeom>
          <a:noFill/>
        </p:spPr>
        <p:txBody>
          <a:bodyPr wrap="square" rtlCol="0">
            <a:spAutoFit/>
          </a:bodyPr>
          <a:p>
            <a:r>
              <a:rPr lang="en-US" sz="2000" b="1" dirty="0">
                <a:solidFill>
                  <a:srgbClr val="0B2D4A"/>
                </a:solidFill>
                <a:latin typeface="微软雅黑" panose="020B0503020204020204" charset="-122"/>
                <a:ea typeface="微软雅黑" panose="020B0503020204020204" charset="-122"/>
                <a:cs typeface="微软雅黑" panose="020B0503020204020204" pitchFamily="34" charset="-120"/>
                <a:sym typeface="+mn-ea"/>
              </a:rPr>
              <a:t>MySQL（关系型）</a:t>
            </a:r>
            <a:endParaRPr lang="en-US" sz="2000" dirty="0"/>
          </a:p>
          <a:p>
            <a:endParaRPr lang="zh-CN" altLang="en-US" sz="2000"/>
          </a:p>
        </p:txBody>
      </p:sp>
      <p:sp>
        <p:nvSpPr>
          <p:cNvPr id="5" name="文本框 4"/>
          <p:cNvSpPr txBox="1"/>
          <p:nvPr/>
        </p:nvSpPr>
        <p:spPr>
          <a:xfrm>
            <a:off x="6911340" y="1392555"/>
            <a:ext cx="3460115" cy="706755"/>
          </a:xfrm>
          <a:prstGeom prst="rect">
            <a:avLst/>
          </a:prstGeom>
          <a:noFill/>
        </p:spPr>
        <p:txBody>
          <a:bodyPr wrap="square" rtlCol="0">
            <a:spAutoFit/>
          </a:bodyPr>
          <a:p>
            <a:r>
              <a:rPr lang="en-US" sz="2000" b="1" dirty="0">
                <a:solidFill>
                  <a:srgbClr val="0B2D4A"/>
                </a:solidFill>
                <a:latin typeface="微软雅黑" panose="020B0503020204020204" charset="-122"/>
                <a:ea typeface="微软雅黑" panose="020B0503020204020204" charset="-122"/>
                <a:cs typeface="微软雅黑" panose="020B0503020204020204" pitchFamily="34" charset="-120"/>
                <a:sym typeface="+mn-ea"/>
              </a:rPr>
              <a:t>MongoDB（文档型）</a:t>
            </a:r>
            <a:endParaRPr lang="en-US" sz="2000" dirty="0"/>
          </a:p>
          <a:p>
            <a:endParaRPr lang="zh-CN" altLang="en-US" sz="2000"/>
          </a:p>
        </p:txBody>
      </p:sp>
      <p:sp>
        <p:nvSpPr>
          <p:cNvPr id="6" name="文本框 5"/>
          <p:cNvSpPr txBox="1"/>
          <p:nvPr/>
        </p:nvSpPr>
        <p:spPr>
          <a:xfrm>
            <a:off x="6447790" y="1970405"/>
            <a:ext cx="4589780" cy="3002280"/>
          </a:xfrm>
          <a:prstGeom prst="rect">
            <a:avLst/>
          </a:prstGeom>
          <a:noFill/>
        </p:spPr>
        <p:txBody>
          <a:bodyPr wrap="square" rtlCol="0">
            <a:spAutoFit/>
          </a:bodyPr>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数据：JSON 类文档，字段灵活</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同集合文档字段可不同，适合半结构化</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操作：CRUD 直观，扩展方便</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自动创建库/集合，上手快</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典型：日志/用户画像/配置/内容型数据</a:t>
            </a:r>
            <a:endParaRPr lang="en-US" sz="2000" dirty="0">
              <a:latin typeface="华文中宋" panose="02010600040101010101" charset="-122"/>
              <a:ea typeface="华文中宋" panose="02010600040101010101" charset="-122"/>
              <a:cs typeface="华文中宋" panose="02010600040101010101" charset="-122"/>
            </a:endParaRPr>
          </a:p>
          <a:p>
            <a:endParaRPr lang="zh-CN" altLang="en-US" sz="2000">
              <a:latin typeface="华文中宋" panose="02010600040101010101" charset="-122"/>
              <a:ea typeface="华文中宋" panose="02010600040101010101" charset="-122"/>
              <a:cs typeface="华文中宋" panose="02010600040101010101" charset="-122"/>
            </a:endParaRPr>
          </a:p>
        </p:txBody>
      </p:sp>
      <p:sp>
        <p:nvSpPr>
          <p:cNvPr id="8" name="文本框 7"/>
          <p:cNvSpPr txBox="1"/>
          <p:nvPr/>
        </p:nvSpPr>
        <p:spPr>
          <a:xfrm>
            <a:off x="876300" y="5217160"/>
            <a:ext cx="11013440" cy="1014730"/>
          </a:xfrm>
          <a:prstGeom prst="rect">
            <a:avLst/>
          </a:prstGeom>
          <a:noFill/>
        </p:spPr>
        <p:txBody>
          <a:bodyPr wrap="square" rtlCol="0">
            <a:spAutoFit/>
          </a:bodyPr>
          <a:p>
            <a:r>
              <a:rPr lang="en-US" sz="2000" dirty="0">
                <a:solidFill>
                  <a:srgbClr val="111827"/>
                </a:solidFill>
                <a:latin typeface="华文中宋" panose="02010600040101010101" charset="-122"/>
                <a:ea typeface="华文中宋" panose="02010600040101010101" charset="-122"/>
                <a:cs typeface="华文中宋" panose="02010600040101010101" charset="-122"/>
                <a:sym typeface="+mn-ea"/>
              </a:rPr>
              <a:t>MySQL 适合“结构化 + 强一致性 + 复杂查询”；MongoDB 适合“半结构化 + 灵活扩展 + 快速迭代”</a:t>
            </a:r>
            <a:endParaRPr lang="en-US" sz="2000" dirty="0">
              <a:latin typeface="华文中宋" panose="02010600040101010101" charset="-122"/>
              <a:ea typeface="华文中宋" panose="02010600040101010101" charset="-122"/>
              <a:cs typeface="华文中宋" panose="02010600040101010101" charset="-122"/>
            </a:endParaRPr>
          </a:p>
          <a:p>
            <a:endParaRPr lang="zh-CN" altLang="en-US" sz="2000">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textbox 186"/>
          <p:cNvSpPr/>
          <p:nvPr/>
        </p:nvSpPr>
        <p:spPr>
          <a:xfrm>
            <a:off x="941275" y="275983"/>
            <a:ext cx="10547350" cy="635000"/>
          </a:xfrm>
          <a:prstGeom prst="rect">
            <a:avLst/>
          </a:prstGeom>
          <a:noFill/>
          <a:ln w="0" cap="flat">
            <a:noFill/>
            <a:prstDash val="solid"/>
            <a:miter lim="0"/>
          </a:ln>
        </p:spPr>
        <p:txBody>
          <a:bodyPr vert="horz" wrap="square" lIns="0" tIns="0" rIns="0" bIns="0"/>
          <a:lstStyle/>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2700" algn="l" rtl="0" eaLnBrk="0">
              <a:lnSpc>
                <a:spcPct val="79000"/>
              </a:lnSpc>
            </a:pPr>
            <a:r>
              <a:rPr sz="3100" b="1" kern="0" spc="-250" dirty="0">
                <a:solidFill>
                  <a:srgbClr val="000000">
                    <a:alpha val="100000"/>
                  </a:srgbClr>
                </a:solidFill>
                <a:latin typeface="华文中宋" panose="02010600040101010101" charset="-122"/>
                <a:ea typeface="华文中宋" panose="02010600040101010101" charset="-122"/>
                <a:cs typeface="华文中宋" panose="02010600040101010101" charset="-122"/>
              </a:rPr>
              <a:t>目录</a:t>
            </a:r>
            <a:r>
              <a:rPr sz="31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                                                           </a:t>
            </a:r>
            <a:endParaRPr sz="3100" dirty="0">
              <a:latin typeface="华文中宋" panose="02010600040101010101" charset="-122"/>
              <a:ea typeface="华文中宋" panose="02010600040101010101" charset="-122"/>
              <a:cs typeface="华文中宋" panose="02010600040101010101" charset="-122"/>
            </a:endParaRPr>
          </a:p>
        </p:txBody>
      </p:sp>
      <p:pic>
        <p:nvPicPr>
          <p:cNvPr id="188" name="picture 188"/>
          <p:cNvPicPr>
            <a:picLocks noChangeAspect="1"/>
          </p:cNvPicPr>
          <p:nvPr/>
        </p:nvPicPr>
        <p:blipFill>
          <a:blip r:embed="rId1"/>
          <a:stretch>
            <a:fillRect/>
          </a:stretch>
        </p:blipFill>
        <p:spPr>
          <a:xfrm rot="21600000">
            <a:off x="8955179" y="288683"/>
            <a:ext cx="2514595" cy="609600"/>
          </a:xfrm>
          <a:prstGeom prst="rect">
            <a:avLst/>
          </a:prstGeom>
        </p:spPr>
      </p:pic>
      <p:graphicFrame>
        <p:nvGraphicFramePr>
          <p:cNvPr id="190" name="table 190"/>
          <p:cNvGraphicFramePr>
            <a:graphicFrameLocks noGrp="1"/>
          </p:cNvGraphicFramePr>
          <p:nvPr/>
        </p:nvGraphicFramePr>
        <p:xfrm>
          <a:off x="2172411" y="3685819"/>
          <a:ext cx="8445500" cy="622935"/>
        </p:xfrm>
        <a:graphic>
          <a:graphicData uri="http://schemas.openxmlformats.org/drawingml/2006/table">
            <a:tbl>
              <a:tblPr>
                <a:solidFill>
                  <a:srgbClr val="D0CECE"/>
                </a:solidFill>
              </a:tblPr>
              <a:tblGrid>
                <a:gridCol w="8445500"/>
              </a:tblGrid>
              <a:tr h="610235">
                <a:tc>
                  <a:txBody>
                    <a:bodyPr/>
                    <a:lstStyle/>
                    <a:p>
                      <a:pPr algn="l" rtl="0" eaLnBrk="0">
                        <a:lnSpc>
                          <a:spcPct val="103000"/>
                        </a:lnSpc>
                      </a:pPr>
                      <a:endParaRPr sz="700" dirty="0">
                        <a:latin typeface="Arial" panose="020B0604020202020204"/>
                        <a:ea typeface="Arial" panose="020B0604020202020204"/>
                        <a:cs typeface="Arial" panose="020B0604020202020204"/>
                      </a:endParaRPr>
                    </a:p>
                    <a:p>
                      <a:pPr algn="l" rtl="0" eaLnBrk="0">
                        <a:lnSpc>
                          <a:spcPct val="7000"/>
                        </a:lnSpc>
                      </a:pPr>
                      <a:endParaRPr sz="100" dirty="0">
                        <a:latin typeface="Arial" panose="020B0604020202020204"/>
                        <a:ea typeface="Arial" panose="020B0604020202020204"/>
                        <a:cs typeface="Arial" panose="020B0604020202020204"/>
                      </a:endParaRPr>
                    </a:p>
                    <a:p>
                      <a:pPr marL="1270635" algn="l" rtl="0" eaLnBrk="0">
                        <a:lnSpc>
                          <a:spcPts val="3705"/>
                        </a:lnSpc>
                      </a:pPr>
                      <a:r>
                        <a:rPr lang="en-US" sz="2700" b="1" dirty="0">
                          <a:latin typeface="华文中宋" panose="02010600040101010101" charset="-122"/>
                          <a:ea typeface="华文中宋" panose="02010600040101010101" charset="-122"/>
                          <a:cs typeface="华文中宋" panose="02010600040101010101" charset="-122"/>
                          <a:sym typeface="+mn-ea"/>
                        </a:rPr>
                        <a:t>3.</a:t>
                      </a:r>
                      <a:r>
                        <a:rPr lang="zh-CN" altLang="en-US" sz="2700" b="1" dirty="0">
                          <a:latin typeface="华文中宋" panose="02010600040101010101" charset="-122"/>
                          <a:ea typeface="华文中宋" panose="02010600040101010101" charset="-122"/>
                          <a:cs typeface="华文中宋" panose="02010600040101010101" charset="-122"/>
                          <a:sym typeface="+mn-ea"/>
                        </a:rPr>
                        <a:t>作业三：决策树</a:t>
                      </a:r>
                      <a:r>
                        <a:rPr lang="en-US" altLang="zh-CN" sz="2700" b="1" dirty="0">
                          <a:latin typeface="华文中宋" panose="02010600040101010101" charset="-122"/>
                          <a:ea typeface="华文中宋" panose="02010600040101010101" charset="-122"/>
                          <a:cs typeface="华文中宋" panose="02010600040101010101" charset="-122"/>
                          <a:sym typeface="+mn-ea"/>
                        </a:rPr>
                        <a:t> ID3 </a:t>
                      </a:r>
                      <a:r>
                        <a:rPr lang="zh-CN" altLang="en-US" sz="2700" b="1" dirty="0">
                          <a:latin typeface="华文中宋" panose="02010600040101010101" charset="-122"/>
                          <a:ea typeface="华文中宋" panose="02010600040101010101" charset="-122"/>
                          <a:cs typeface="华文中宋" panose="02010600040101010101" charset="-122"/>
                          <a:sym typeface="+mn-ea"/>
                        </a:rPr>
                        <a:t>算法</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D0CECE"/>
                    </a:solidFill>
                  </a:tcPr>
                </a:tc>
              </a:tr>
            </a:tbl>
          </a:graphicData>
        </a:graphic>
      </p:graphicFrame>
      <p:graphicFrame>
        <p:nvGraphicFramePr>
          <p:cNvPr id="192" name="table 192"/>
          <p:cNvGraphicFramePr>
            <a:graphicFrameLocks noGrp="1"/>
          </p:cNvGraphicFramePr>
          <p:nvPr/>
        </p:nvGraphicFramePr>
        <p:xfrm>
          <a:off x="2172411" y="5254002"/>
          <a:ext cx="8445500" cy="622935"/>
        </p:xfrm>
        <a:graphic>
          <a:graphicData uri="http://schemas.openxmlformats.org/drawingml/2006/table">
            <a:tbl>
              <a:tblPr>
                <a:solidFill>
                  <a:srgbClr val="E7E6E6"/>
                </a:solidFill>
              </a:tblPr>
              <a:tblGrid>
                <a:gridCol w="8445500"/>
              </a:tblGrid>
              <a:tr h="610235">
                <a:tc>
                  <a:txBody>
                    <a:bodyPr/>
                    <a:lstStyle/>
                    <a:p>
                      <a:pPr algn="l" rtl="0" eaLnBrk="0">
                        <a:lnSpc>
                          <a:spcPct val="103000"/>
                        </a:lnSpc>
                      </a:pPr>
                      <a:endParaRPr sz="1000" dirty="0">
                        <a:latin typeface="Arial" panose="020B0604020202020204"/>
                        <a:ea typeface="Arial" panose="020B0604020202020204"/>
                        <a:cs typeface="Arial" panose="020B0604020202020204"/>
                      </a:endParaRPr>
                    </a:p>
                    <a:p>
                      <a:pPr marL="1279525" algn="l" rtl="0" eaLnBrk="0">
                        <a:lnSpc>
                          <a:spcPct val="83000"/>
                        </a:lnSpc>
                        <a:spcBef>
                          <a:spcPts val="0"/>
                        </a:spcBef>
                      </a:pPr>
                      <a:r>
                        <a:rPr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4.</a:t>
                      </a:r>
                      <a:r>
                        <a:rPr lang="zh-CN"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作业四：</a:t>
                      </a:r>
                      <a:r>
                        <a:rPr lang="en-US" altLang="zh-CN"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K-Means </a:t>
                      </a:r>
                      <a:r>
                        <a:rPr lang="zh-CN" altLang="en-US"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聚类算法</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graphicFrame>
        <p:nvGraphicFramePr>
          <p:cNvPr id="194" name="table 194"/>
          <p:cNvGraphicFramePr>
            <a:graphicFrameLocks noGrp="1"/>
          </p:cNvGraphicFramePr>
          <p:nvPr/>
        </p:nvGraphicFramePr>
        <p:xfrm>
          <a:off x="2172411" y="1611617"/>
          <a:ext cx="8445500" cy="622934"/>
        </p:xfrm>
        <a:graphic>
          <a:graphicData uri="http://schemas.openxmlformats.org/drawingml/2006/table">
            <a:tbl>
              <a:tblPr>
                <a:solidFill>
                  <a:srgbClr val="E7E6E6"/>
                </a:solidFill>
              </a:tblPr>
              <a:tblGrid>
                <a:gridCol w="8445500"/>
              </a:tblGrid>
              <a:tr h="610234">
                <a:tc>
                  <a:txBody>
                    <a:bodyPr/>
                    <a:lstStyle/>
                    <a:p>
                      <a:pPr algn="l" rtl="0" eaLnBrk="0">
                        <a:lnSpc>
                          <a:spcPct val="141000"/>
                        </a:lnSpc>
                      </a:pPr>
                      <a:endParaRPr sz="1000" dirty="0">
                        <a:latin typeface="Arial" panose="020B0604020202020204"/>
                        <a:ea typeface="Arial" panose="020B0604020202020204"/>
                        <a:cs typeface="Arial" panose="020B0604020202020204"/>
                      </a:endParaRPr>
                    </a:p>
                    <a:p>
                      <a:pPr marL="1308735" algn="l" rtl="0" eaLnBrk="0">
                        <a:lnSpc>
                          <a:spcPct val="83000"/>
                        </a:lnSpc>
                        <a:spcBef>
                          <a:spcPts val="0"/>
                        </a:spcBef>
                      </a:pPr>
                      <a:r>
                        <a:rPr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1.</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作业一：</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MySQL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安装与基本</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 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操作</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graphicFrame>
        <p:nvGraphicFramePr>
          <p:cNvPr id="196" name="table 196"/>
          <p:cNvGraphicFramePr>
            <a:graphicFrameLocks noGrp="1"/>
          </p:cNvGraphicFramePr>
          <p:nvPr/>
        </p:nvGraphicFramePr>
        <p:xfrm>
          <a:off x="2172411" y="2669070"/>
          <a:ext cx="8445500" cy="622934"/>
        </p:xfrm>
        <a:graphic>
          <a:graphicData uri="http://schemas.openxmlformats.org/drawingml/2006/table">
            <a:tbl>
              <a:tblPr>
                <a:solidFill>
                  <a:srgbClr val="E7E6E6"/>
                </a:solidFill>
              </a:tblPr>
              <a:tblGrid>
                <a:gridCol w="8445500"/>
              </a:tblGrid>
              <a:tr h="610234">
                <a:tc>
                  <a:txBody>
                    <a:bodyPr/>
                    <a:lstStyle/>
                    <a:p>
                      <a:pPr algn="l" rtl="0" eaLnBrk="0">
                        <a:lnSpc>
                          <a:spcPct val="113000"/>
                        </a:lnSpc>
                      </a:pPr>
                      <a:endParaRPr sz="600" dirty="0">
                        <a:latin typeface="Arial" panose="020B0604020202020204"/>
                        <a:ea typeface="Arial" panose="020B0604020202020204"/>
                        <a:cs typeface="Arial" panose="020B0604020202020204"/>
                      </a:endParaRPr>
                    </a:p>
                    <a:p>
                      <a:pPr marL="1266825" algn="l" rtl="0" eaLnBrk="0">
                        <a:lnSpc>
                          <a:spcPts val="3705"/>
                        </a:lnSpc>
                        <a:spcBef>
                          <a:spcPts val="0"/>
                        </a:spcBef>
                      </a:pPr>
                      <a:r>
                        <a:rPr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2.</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作业二：</a:t>
                      </a:r>
                      <a:r>
                        <a:rPr lang="en-US" altLang="zh-CN"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MongoDB </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安装与操作</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sp>
        <p:nvSpPr>
          <p:cNvPr id="200" name="path 200"/>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202" name="textbox 202"/>
          <p:cNvSpPr/>
          <p:nvPr/>
        </p:nvSpPr>
        <p:spPr>
          <a:xfrm>
            <a:off x="11348999" y="6477152"/>
            <a:ext cx="175260" cy="209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50"/>
              </a:lnSpc>
            </a:pPr>
            <a:r>
              <a:rPr sz="1200" kern="0" spc="-40" dirty="0">
                <a:solidFill>
                  <a:srgbClr val="898989">
                    <a:alpha val="100000"/>
                  </a:srgbClr>
                </a:solidFill>
                <a:latin typeface="等线" panose="02010600030101010101" charset="-122"/>
                <a:ea typeface="等线" panose="02010600030101010101" charset="-122"/>
                <a:cs typeface="等线" panose="02010600030101010101" charset="-122"/>
              </a:rPr>
              <a:t>14</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extbox 176"/>
          <p:cNvSpPr/>
          <p:nvPr/>
        </p:nvSpPr>
        <p:spPr>
          <a:xfrm>
            <a:off x="876170" y="275983"/>
            <a:ext cx="10612755" cy="668019"/>
          </a:xfrm>
          <a:prstGeom prst="rect">
            <a:avLst/>
          </a:prstGeom>
          <a:noFill/>
          <a:ln w="0" cap="flat">
            <a:noFill/>
            <a:prstDash val="solid"/>
            <a:miter lim="0"/>
          </a:ln>
        </p:spPr>
        <p:txBody>
          <a:bodyPr vert="horz" wrap="square" lIns="0" tIns="0" rIns="0" bIns="0"/>
          <a:lstStyle/>
          <a:p>
            <a:pPr algn="l" rtl="0" eaLnBrk="0">
              <a:lnSpc>
                <a:spcPct val="108000"/>
              </a:lnSpc>
              <a:buClrTx/>
              <a:buSzTx/>
              <a:buFontTx/>
            </a:pPr>
            <a:r>
              <a:rPr lang="zh-CN" altLang="en-US" sz="3200" b="1" dirty="0">
                <a:latin typeface="华文中宋" panose="02010600040101010101" charset="-122"/>
                <a:ea typeface="华文中宋" panose="02010600040101010101" charset="-122"/>
                <a:cs typeface="华文中宋" panose="02010600040101010101" charset="-122"/>
                <a:sym typeface="+mn-ea"/>
              </a:rPr>
              <a:t>作业三：决策树 ID3 算法</a:t>
            </a:r>
            <a:endParaRPr lang="zh-CN" altLang="en-US" sz="3200" b="1" dirty="0">
              <a:latin typeface="华文中宋" panose="02010600040101010101" charset="-122"/>
              <a:ea typeface="华文中宋" panose="02010600040101010101" charset="-122"/>
              <a:cs typeface="华文中宋" panose="02010600040101010101" charset="-122"/>
            </a:endParaRPr>
          </a:p>
        </p:txBody>
      </p:sp>
      <p:pic>
        <p:nvPicPr>
          <p:cNvPr id="178" name="picture 178"/>
          <p:cNvPicPr>
            <a:picLocks noChangeAspect="1"/>
          </p:cNvPicPr>
          <p:nvPr/>
        </p:nvPicPr>
        <p:blipFill>
          <a:blip r:embed="rId1"/>
          <a:stretch>
            <a:fillRect/>
          </a:stretch>
        </p:blipFill>
        <p:spPr>
          <a:xfrm rot="21600000">
            <a:off x="8926563" y="288683"/>
            <a:ext cx="2514595" cy="609600"/>
          </a:xfrm>
          <a:prstGeom prst="rect">
            <a:avLst/>
          </a:prstGeom>
        </p:spPr>
      </p:pic>
      <p:sp>
        <p:nvSpPr>
          <p:cNvPr id="182" name="path 182"/>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184" name="textbox 184"/>
          <p:cNvSpPr/>
          <p:nvPr/>
        </p:nvSpPr>
        <p:spPr>
          <a:xfrm>
            <a:off x="11348999" y="6477152"/>
            <a:ext cx="175260" cy="209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50"/>
              </a:lnSpc>
            </a:pPr>
            <a:r>
              <a:rPr sz="1200" kern="0" spc="-40" dirty="0">
                <a:solidFill>
                  <a:srgbClr val="898989">
                    <a:alpha val="100000"/>
                  </a:srgbClr>
                </a:solidFill>
                <a:latin typeface="等线" panose="02010600030101010101" charset="-122"/>
                <a:ea typeface="等线" panose="02010600030101010101" charset="-122"/>
                <a:cs typeface="等线" panose="02010600030101010101" charset="-122"/>
              </a:rPr>
              <a:t>13</a:t>
            </a:r>
            <a:endParaRPr sz="1200" dirty="0">
              <a:latin typeface="等线" panose="02010600030101010101" charset="-122"/>
              <a:ea typeface="等线" panose="02010600030101010101" charset="-122"/>
              <a:cs typeface="等线" panose="02010600030101010101" charset="-122"/>
            </a:endParaRPr>
          </a:p>
        </p:txBody>
      </p:sp>
      <p:sp>
        <p:nvSpPr>
          <p:cNvPr id="2" name="文本框 1"/>
          <p:cNvSpPr txBox="1"/>
          <p:nvPr/>
        </p:nvSpPr>
        <p:spPr>
          <a:xfrm>
            <a:off x="597535" y="1257935"/>
            <a:ext cx="6370955" cy="6008370"/>
          </a:xfrm>
          <a:prstGeom prst="rect">
            <a:avLst/>
          </a:prstGeom>
          <a:noFill/>
        </p:spPr>
        <p:txBody>
          <a:bodyPr wrap="square" rtlCol="0">
            <a:spAutoFit/>
          </a:bodyPr>
          <a:p>
            <a:pPr indent="0">
              <a:spcAft>
                <a:spcPts val="700"/>
              </a:spcAft>
              <a:buSzPct val="100000"/>
              <a:buNone/>
            </a:pPr>
            <a:r>
              <a:rPr lang="en-US" b="1" dirty="0">
                <a:solidFill>
                  <a:srgbClr val="0B2D4A"/>
                </a:solidFill>
                <a:latin typeface="华文中宋" panose="02010600040101010101" charset="-122"/>
                <a:ea typeface="华文中宋" panose="02010600040101010101" charset="-122"/>
                <a:cs typeface="华文中宋" panose="02010600040101010101" charset="-122"/>
                <a:sym typeface="+mn-ea"/>
              </a:rPr>
              <a:t>实现要点</a:t>
            </a:r>
            <a:endParaRPr lang="en-US" dirty="0">
              <a:latin typeface="华文中宋" panose="02010600040101010101" charset="-122"/>
              <a:ea typeface="华文中宋" panose="02010600040101010101" charset="-122"/>
              <a:cs typeface="华文中宋" panose="02010600040101010101" charset="-122"/>
            </a:endParaRPr>
          </a:p>
          <a:p>
            <a:pPr indent="0">
              <a:spcAft>
                <a:spcPts val="700"/>
              </a:spcAft>
              <a:buSzPct val="100000"/>
              <a:buNone/>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核心思想：每次选择信息增益最大的特征分裂（贪心）</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计算熵 H(S)</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计算信息增益 Gain(S, A)</a:t>
            </a:r>
            <a:endParaRPr lang="en-US"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关键函数</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calc_entropy</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calc_info_gain</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choose_best_feature</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create_tree(递归建树)</a:t>
            </a:r>
            <a:endParaRPr lang="en-US"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终止条件</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节点纯净 → 叶子</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特征用尽 → 多数类</a:t>
            </a:r>
            <a:endParaRPr lang="en-US"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评估方式</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训练/测试划分</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5 折交叉验证观察稳定性</a:t>
            </a:r>
            <a:endParaRPr lang="en-US" dirty="0">
              <a:latin typeface="华文中宋" panose="02010600040101010101" charset="-122"/>
              <a:ea typeface="华文中宋" panose="02010600040101010101" charset="-122"/>
              <a:cs typeface="华文中宋" panose="02010600040101010101" charset="-122"/>
            </a:endParaRPr>
          </a:p>
          <a:p>
            <a:pPr indent="0" fontAlgn="auto">
              <a:lnSpc>
                <a:spcPct val="150000"/>
              </a:lnSpc>
            </a:pPr>
            <a:endParaRPr lang="zh-CN" altLang="en-US">
              <a:latin typeface="华文中宋" panose="02010600040101010101" charset="-122"/>
              <a:ea typeface="华文中宋" panose="02010600040101010101" charset="-122"/>
              <a:cs typeface="华文中宋" panose="02010600040101010101" charset="-122"/>
            </a:endParaRPr>
          </a:p>
        </p:txBody>
      </p:sp>
      <p:sp>
        <p:nvSpPr>
          <p:cNvPr id="7" name="文本框 6"/>
          <p:cNvSpPr txBox="1"/>
          <p:nvPr/>
        </p:nvSpPr>
        <p:spPr>
          <a:xfrm>
            <a:off x="6687185" y="1152842"/>
            <a:ext cx="5080000" cy="5290185"/>
          </a:xfrm>
          <a:prstGeom prst="rect">
            <a:avLst/>
          </a:prstGeom>
        </p:spPr>
        <p:txBody>
          <a:bodyPr>
            <a:spAutoFit/>
          </a:bodyPr>
          <a:p>
            <a:pPr fontAlgn="auto">
              <a:lnSpc>
                <a:spcPct val="150000"/>
              </a:lnSpc>
            </a:pPr>
            <a:r>
              <a:rPr lang="en-US" b="1" dirty="0">
                <a:solidFill>
                  <a:srgbClr val="0B2D4A"/>
                </a:solidFill>
                <a:latin typeface="华文中宋" panose="02010600040101010101" charset="-122"/>
                <a:ea typeface="华文中宋" panose="02010600040101010101" charset="-122"/>
                <a:cs typeface="华文中宋" panose="02010600040101010101" charset="-122"/>
                <a:sym typeface="+mn-ea"/>
              </a:rPr>
              <a:t>数据集与任务</a:t>
            </a:r>
            <a:endParaRPr lang="en-US" dirty="0">
              <a:latin typeface="华文中宋" panose="02010600040101010101" charset="-122"/>
              <a:ea typeface="华文中宋" panose="02010600040101010101" charset="-122"/>
              <a:cs typeface="华文中宋" panose="02010600040101010101" charset="-122"/>
            </a:endParaRPr>
          </a:p>
          <a:p>
            <a:pPr marL="228600" indent="-228600" fontAlgn="auto">
              <a:lnSpc>
                <a:spcPct val="150000"/>
              </a:lnSpc>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Car Evaluation（离散特征）</a:t>
            </a:r>
            <a:endParaRPr lang="en-US" dirty="0">
              <a:latin typeface="华文中宋" panose="02010600040101010101" charset="-122"/>
              <a:ea typeface="华文中宋" panose="02010600040101010101" charset="-122"/>
              <a:cs typeface="华文中宋" panose="02010600040101010101" charset="-122"/>
            </a:endParaRPr>
          </a:p>
          <a:p>
            <a:pPr marL="457200" lvl="1" indent="-228600" fontAlgn="auto">
              <a:lnSpc>
                <a:spcPct val="150000"/>
              </a:lnSpc>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样本：1728</a:t>
            </a:r>
            <a:endParaRPr lang="en-US" dirty="0">
              <a:latin typeface="华文中宋" panose="02010600040101010101" charset="-122"/>
              <a:ea typeface="华文中宋" panose="02010600040101010101" charset="-122"/>
              <a:cs typeface="华文中宋" panose="02010600040101010101" charset="-122"/>
            </a:endParaRPr>
          </a:p>
          <a:p>
            <a:pPr marL="457200" lvl="1" indent="-228600" fontAlgn="auto">
              <a:lnSpc>
                <a:spcPct val="150000"/>
              </a:lnSpc>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特征：6</a:t>
            </a:r>
            <a:r>
              <a:rPr lang="zh-CN" altLang="en-US" dirty="0">
                <a:solidFill>
                  <a:srgbClr val="111827"/>
                </a:solidFill>
                <a:latin typeface="华文中宋" panose="02010600040101010101" charset="-122"/>
                <a:ea typeface="华文中宋" panose="02010600040101010101" charset="-122"/>
                <a:cs typeface="华文中宋" panose="02010600040101010101" charset="-122"/>
                <a:sym typeface="+mn-ea"/>
              </a:rPr>
              <a:t>维</a:t>
            </a: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buying/maint/doors/persons/lug_boot/safety</a:t>
            </a:r>
            <a:endParaRPr lang="en-US" dirty="0">
              <a:latin typeface="华文中宋" panose="02010600040101010101" charset="-122"/>
              <a:ea typeface="华文中宋" panose="02010600040101010101" charset="-122"/>
              <a:cs typeface="华文中宋" panose="02010600040101010101" charset="-122"/>
            </a:endParaRPr>
          </a:p>
          <a:p>
            <a:pPr marL="457200" lvl="1" indent="-228600" fontAlgn="auto">
              <a:lnSpc>
                <a:spcPct val="150000"/>
              </a:lnSpc>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标签：4 类（unacc/acc/good/v-good）</a:t>
            </a:r>
            <a:endParaRPr lang="en-US" dirty="0">
              <a:latin typeface="华文中宋" panose="02010600040101010101" charset="-122"/>
              <a:ea typeface="华文中宋" panose="02010600040101010101" charset="-122"/>
              <a:cs typeface="华文中宋" panose="02010600040101010101" charset="-122"/>
            </a:endParaRPr>
          </a:p>
          <a:p>
            <a:pPr marL="228600" indent="-228600" fontAlgn="auto">
              <a:lnSpc>
                <a:spcPct val="150000"/>
              </a:lnSpc>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数据划分</a:t>
            </a:r>
            <a:endParaRPr lang="en-US" dirty="0">
              <a:latin typeface="华文中宋" panose="02010600040101010101" charset="-122"/>
              <a:ea typeface="华文中宋" panose="02010600040101010101" charset="-122"/>
              <a:cs typeface="华文中宋" panose="02010600040101010101" charset="-122"/>
            </a:endParaRPr>
          </a:p>
          <a:p>
            <a:pPr marL="457200" lvl="1" indent="-228600" fontAlgn="auto">
              <a:lnSpc>
                <a:spcPct val="150000"/>
              </a:lnSpc>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80% 训练（1382） / 20% 测试（346）</a:t>
            </a:r>
            <a:endParaRPr lang="en-US" dirty="0">
              <a:latin typeface="华文中宋" panose="02010600040101010101" charset="-122"/>
              <a:ea typeface="华文中宋" panose="02010600040101010101" charset="-122"/>
              <a:cs typeface="华文中宋" panose="02010600040101010101" charset="-122"/>
            </a:endParaRPr>
          </a:p>
          <a:p>
            <a:pPr marL="228600" indent="-228600" fontAlgn="auto">
              <a:lnSpc>
                <a:spcPct val="150000"/>
              </a:lnSpc>
              <a:spcAft>
                <a:spcPts val="7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sym typeface="+mn-ea"/>
              </a:rPr>
              <a:t>输出：决策规则（树结构）</a:t>
            </a:r>
            <a:endParaRPr lang="en-US" dirty="0">
              <a:latin typeface="华文中宋" panose="02010600040101010101" charset="-122"/>
              <a:ea typeface="华文中宋" panose="02010600040101010101" charset="-122"/>
              <a:cs typeface="华文中宋" panose="02010600040101010101" charset="-122"/>
            </a:endParaRPr>
          </a:p>
          <a:p>
            <a:pPr fontAlgn="auto">
              <a:lnSpc>
                <a:spcPct val="150000"/>
              </a:lnSpc>
            </a:pPr>
            <a:endParaRPr lang="zh-CN" altLang="en-US">
              <a:solidFill>
                <a:schemeClr val="tx1"/>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30225" y="475869"/>
            <a:ext cx="11155680" cy="329184"/>
          </a:xfrm>
          <a:prstGeom prst="rect">
            <a:avLst/>
          </a:prstGeom>
          <a:noFill/>
        </p:spPr>
        <p:txBody>
          <a:bodyPr wrap="square" rtlCol="0" anchor="ctr"/>
          <a:lstStyle/>
          <a:p>
            <a:pPr marL="0" indent="0">
              <a:buNone/>
            </a:pPr>
            <a:r>
              <a:rPr lang="en-US" sz="3200" b="1" dirty="0">
                <a:solidFill>
                  <a:srgbClr val="FFFFFF"/>
                </a:solidFill>
                <a:latin typeface="微软雅黑" panose="020B0503020204020204" charset="-122"/>
                <a:ea typeface="微软雅黑" panose="020B0503020204020204" charset="-122"/>
                <a:cs typeface="微软雅黑" panose="020B0503020204020204" pitchFamily="34" charset="-120"/>
              </a:rPr>
              <a:t>I</a:t>
            </a:r>
            <a:r>
              <a:rPr lang="zh-CN" altLang="en-US" sz="3200" b="1" dirty="0">
                <a:latin typeface="华文中宋" panose="02010600040101010101" charset="-122"/>
                <a:ea typeface="华文中宋" panose="02010600040101010101" charset="-122"/>
                <a:cs typeface="华文中宋" panose="02010600040101010101" charset="-122"/>
                <a:sym typeface="+mn-ea"/>
              </a:rPr>
              <a:t>作业三：决策树</a:t>
            </a:r>
            <a:r>
              <a:rPr lang="en-US" altLang="zh-CN" sz="3200" b="1" dirty="0">
                <a:latin typeface="华文中宋" panose="02010600040101010101" charset="-122"/>
                <a:ea typeface="华文中宋" panose="02010600040101010101" charset="-122"/>
                <a:cs typeface="华文中宋" panose="02010600040101010101" charset="-122"/>
                <a:sym typeface="+mn-ea"/>
              </a:rPr>
              <a:t> ID3 </a:t>
            </a:r>
            <a:r>
              <a:rPr lang="zh-CN" altLang="en-US" sz="3200" b="1" dirty="0">
                <a:latin typeface="华文中宋" panose="02010600040101010101" charset="-122"/>
                <a:ea typeface="华文中宋" panose="02010600040101010101" charset="-122"/>
                <a:cs typeface="华文中宋" panose="02010600040101010101" charset="-122"/>
                <a:sym typeface="+mn-ea"/>
              </a:rPr>
              <a:t>算法</a:t>
            </a:r>
            <a:endParaRPr sz="3200" b="1" dirty="0">
              <a:latin typeface="华文中宋" panose="02010600040101010101" charset="-122"/>
              <a:ea typeface="华文中宋" panose="02010600040101010101" charset="-122"/>
              <a:cs typeface="华文中宋" panose="02010600040101010101" charset="-122"/>
            </a:endParaRPr>
          </a:p>
          <a:p>
            <a:pPr marL="0" indent="0">
              <a:buNone/>
            </a:pPr>
            <a:r>
              <a:rPr lang="en-US" sz="3200" b="1" dirty="0">
                <a:solidFill>
                  <a:srgbClr val="FFFFFF"/>
                </a:solidFill>
                <a:latin typeface="微软雅黑" panose="020B0503020204020204" charset="-122"/>
                <a:ea typeface="微软雅黑" panose="020B0503020204020204" charset="-122"/>
                <a:cs typeface="微软雅黑" panose="020B0503020204020204" pitchFamily="34" charset="-120"/>
              </a:rPr>
              <a:t>D3 结果准确率 + 交叉验证 + 反思</a:t>
            </a:r>
            <a:endParaRPr lang="en-US" sz="3200" dirty="0"/>
          </a:p>
        </p:txBody>
      </p:sp>
      <p:sp>
        <p:nvSpPr>
          <p:cNvPr id="7" name="Shape 5"/>
          <p:cNvSpPr/>
          <p:nvPr/>
        </p:nvSpPr>
        <p:spPr>
          <a:xfrm>
            <a:off x="502920" y="960120"/>
            <a:ext cx="5394960" cy="5349240"/>
          </a:xfrm>
          <a:prstGeom prst="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8" name="Text 6"/>
          <p:cNvSpPr/>
          <p:nvPr/>
        </p:nvSpPr>
        <p:spPr>
          <a:xfrm>
            <a:off x="822960" y="1143000"/>
            <a:ext cx="4754880" cy="274320"/>
          </a:xfrm>
          <a:prstGeom prst="rect">
            <a:avLst/>
          </a:prstGeom>
          <a:noFill/>
        </p:spPr>
        <p:txBody>
          <a:bodyPr wrap="square" rtlCol="0" anchor="ctr"/>
          <a:lstStyle/>
          <a:p>
            <a:pPr marL="0" indent="0">
              <a:buNone/>
            </a:pPr>
            <a:r>
              <a:rPr lang="en-US" sz="1800" b="1" dirty="0">
                <a:solidFill>
                  <a:srgbClr val="0B2D4A"/>
                </a:solidFill>
                <a:latin typeface="华文中宋" panose="02010600040101010101" charset="-122"/>
                <a:ea typeface="华文中宋" panose="02010600040101010101" charset="-122"/>
                <a:cs typeface="微软雅黑" panose="020B0503020204020204" pitchFamily="34" charset="-120"/>
              </a:rPr>
              <a:t>核心结果</a:t>
            </a:r>
            <a:endParaRPr lang="en-US" sz="1800" dirty="0">
              <a:latin typeface="华文中宋" panose="02010600040101010101" charset="-122"/>
              <a:ea typeface="华文中宋" panose="02010600040101010101" charset="-122"/>
            </a:endParaRPr>
          </a:p>
        </p:txBody>
      </p:sp>
      <p:sp>
        <p:nvSpPr>
          <p:cNvPr id="9" name="Shape 7"/>
          <p:cNvSpPr/>
          <p:nvPr/>
        </p:nvSpPr>
        <p:spPr>
          <a:xfrm>
            <a:off x="822960" y="1600200"/>
            <a:ext cx="4709160" cy="1051560"/>
          </a:xfrm>
          <a:prstGeom prst="roundRect">
            <a:avLst/>
          </a:prstGeom>
          <a:solidFill>
            <a:srgbClr val="EEF6FF"/>
          </a:solidFill>
          <a:ln w="12700">
            <a:solidFill>
              <a:srgbClr val="BBD9FF"/>
            </a:solidFill>
            <a:prstDash val="solid"/>
          </a:ln>
        </p:spPr>
      </p:sp>
      <p:sp>
        <p:nvSpPr>
          <p:cNvPr id="10" name="Text 8"/>
          <p:cNvSpPr/>
          <p:nvPr/>
        </p:nvSpPr>
        <p:spPr>
          <a:xfrm>
            <a:off x="1005840" y="1755648"/>
            <a:ext cx="4297680" cy="777240"/>
          </a:xfrm>
          <a:prstGeom prst="rect">
            <a:avLst/>
          </a:prstGeom>
          <a:noFill/>
        </p:spPr>
        <p:txBody>
          <a:bodyPr wrap="square" rtlCol="0" anchor="ctr"/>
          <a:lstStyle/>
          <a:p>
            <a:pPr marL="0" indent="0">
              <a:buNone/>
            </a:pPr>
            <a:r>
              <a:rPr lang="en-US" sz="2000" b="1" dirty="0">
                <a:solidFill>
                  <a:srgbClr val="0B2D4A"/>
                </a:solidFill>
                <a:latin typeface="华文中宋" panose="02010600040101010101" charset="-122"/>
                <a:ea typeface="华文中宋" panose="02010600040101010101" charset="-122"/>
                <a:cs typeface="华文中宋" panose="02010600040101010101" charset="-122"/>
              </a:rPr>
              <a:t>训练准确率：100%</a:t>
            </a:r>
            <a:endParaRPr lang="en-US" sz="2000" dirty="0">
              <a:latin typeface="华文中宋" panose="02010600040101010101" charset="-122"/>
              <a:ea typeface="华文中宋" panose="02010600040101010101" charset="-122"/>
              <a:cs typeface="华文中宋" panose="02010600040101010101" charset="-122"/>
            </a:endParaRPr>
          </a:p>
          <a:p>
            <a:pPr marL="0" indent="0">
              <a:buNone/>
            </a:pPr>
            <a:r>
              <a:rPr lang="en-US" sz="2000" b="1" dirty="0">
                <a:solidFill>
                  <a:srgbClr val="0B2D4A"/>
                </a:solidFill>
                <a:latin typeface="华文中宋" panose="02010600040101010101" charset="-122"/>
                <a:ea typeface="华文中宋" panose="02010600040101010101" charset="-122"/>
                <a:cs typeface="华文中宋" panose="02010600040101010101" charset="-122"/>
              </a:rPr>
              <a:t>测试准确率：≈ 93.35%</a:t>
            </a:r>
            <a:endParaRPr lang="en-US" sz="2000" dirty="0">
              <a:latin typeface="华文中宋" panose="02010600040101010101" charset="-122"/>
              <a:ea typeface="华文中宋" panose="02010600040101010101" charset="-122"/>
              <a:cs typeface="华文中宋" panose="02010600040101010101" charset="-122"/>
            </a:endParaRPr>
          </a:p>
        </p:txBody>
      </p:sp>
      <p:sp>
        <p:nvSpPr>
          <p:cNvPr id="11" name="Shape 9"/>
          <p:cNvSpPr/>
          <p:nvPr/>
        </p:nvSpPr>
        <p:spPr>
          <a:xfrm>
            <a:off x="822960" y="2834640"/>
            <a:ext cx="4709160" cy="1005840"/>
          </a:xfrm>
          <a:prstGeom prst="roundRect">
            <a:avLst/>
          </a:prstGeom>
          <a:solidFill>
            <a:srgbClr val="FFF7ED"/>
          </a:solidFill>
          <a:ln w="12700">
            <a:solidFill>
              <a:srgbClr val="FED7AA"/>
            </a:solidFill>
            <a:prstDash val="solid"/>
          </a:ln>
        </p:spPr>
      </p:sp>
      <p:sp>
        <p:nvSpPr>
          <p:cNvPr id="12" name="Text 10"/>
          <p:cNvSpPr/>
          <p:nvPr/>
        </p:nvSpPr>
        <p:spPr>
          <a:xfrm>
            <a:off x="1005840" y="2944368"/>
            <a:ext cx="4297680" cy="777240"/>
          </a:xfrm>
          <a:prstGeom prst="rect">
            <a:avLst/>
          </a:prstGeom>
          <a:noFill/>
        </p:spPr>
        <p:txBody>
          <a:bodyPr wrap="square" rtlCol="0" anchor="ctr"/>
          <a:lstStyle/>
          <a:p>
            <a:pPr marL="0" indent="0">
              <a:buNone/>
            </a:pPr>
            <a:r>
              <a:rPr lang="en-US" sz="2000" b="1" dirty="0">
                <a:solidFill>
                  <a:srgbClr val="7C2D12"/>
                </a:solidFill>
                <a:latin typeface="华文中宋" panose="02010600040101010101" charset="-122"/>
                <a:ea typeface="华文中宋" panose="02010600040101010101" charset="-122"/>
                <a:cs typeface="华文中宋" panose="02010600040101010101" charset="-122"/>
              </a:rPr>
              <a:t>5 折交叉验证：</a:t>
            </a:r>
            <a:endParaRPr lang="en-US" sz="2000" dirty="0">
              <a:latin typeface="华文中宋" panose="02010600040101010101" charset="-122"/>
              <a:ea typeface="华文中宋" panose="02010600040101010101" charset="-122"/>
              <a:cs typeface="华文中宋" panose="02010600040101010101" charset="-122"/>
            </a:endParaRPr>
          </a:p>
          <a:p>
            <a:pPr marL="0" indent="0">
              <a:buNone/>
            </a:pPr>
            <a:r>
              <a:rPr lang="en-US" sz="2000" b="1" dirty="0">
                <a:solidFill>
                  <a:srgbClr val="7C2D12"/>
                </a:solidFill>
                <a:latin typeface="华文中宋" panose="02010600040101010101" charset="-122"/>
                <a:ea typeface="华文中宋" panose="02010600040101010101" charset="-122"/>
                <a:cs typeface="华文中宋" panose="02010600040101010101" charset="-122"/>
              </a:rPr>
              <a:t>平均准确率 ≈ 93.6%</a:t>
            </a:r>
            <a:endParaRPr lang="en-US" sz="2000" dirty="0">
              <a:latin typeface="华文中宋" panose="02010600040101010101" charset="-122"/>
              <a:ea typeface="华文中宋" panose="02010600040101010101" charset="-122"/>
              <a:cs typeface="华文中宋" panose="02010600040101010101" charset="-122"/>
            </a:endParaRPr>
          </a:p>
        </p:txBody>
      </p:sp>
      <p:sp>
        <p:nvSpPr>
          <p:cNvPr id="13" name="Text 11"/>
          <p:cNvSpPr/>
          <p:nvPr/>
        </p:nvSpPr>
        <p:spPr>
          <a:xfrm>
            <a:off x="868680" y="3977640"/>
            <a:ext cx="4754880" cy="2194560"/>
          </a:xfrm>
          <a:prstGeom prst="rect">
            <a:avLst/>
          </a:prstGeom>
          <a:noFill/>
        </p:spPr>
        <p:txBody>
          <a:bodyPr wrap="square" rtlCol="0" anchor="t"/>
          <a:lstStyle/>
          <a:p>
            <a:pPr marL="228600" indent="-228600">
              <a:spcAft>
                <a:spcPts val="600"/>
              </a:spcAft>
              <a:buSzPct val="100000"/>
              <a:buChar char="•"/>
            </a:pPr>
            <a:r>
              <a:rPr lang="en-US" sz="1600" dirty="0">
                <a:solidFill>
                  <a:srgbClr val="111827"/>
                </a:solidFill>
                <a:latin typeface="华文中宋" panose="02010600040101010101" charset="-122"/>
                <a:ea typeface="华文中宋" panose="02010600040101010101" charset="-122"/>
                <a:cs typeface="华文中宋" panose="02010600040101010101" charset="-122"/>
              </a:rPr>
              <a:t>解读</a:t>
            </a:r>
            <a:endParaRPr lang="en-US" sz="1600"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sz="1600" dirty="0">
                <a:solidFill>
                  <a:srgbClr val="111827"/>
                </a:solidFill>
                <a:latin typeface="华文中宋" panose="02010600040101010101" charset="-122"/>
                <a:ea typeface="华文中宋" panose="02010600040101010101" charset="-122"/>
                <a:cs typeface="华文中宋" panose="02010600040101010101" charset="-122"/>
              </a:rPr>
              <a:t>训练集满分说明树能拟合训练数据</a:t>
            </a:r>
            <a:endParaRPr lang="en-US" sz="1600"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sz="1600" dirty="0">
                <a:solidFill>
                  <a:srgbClr val="111827"/>
                </a:solidFill>
                <a:latin typeface="华文中宋" panose="02010600040101010101" charset="-122"/>
                <a:ea typeface="华文中宋" panose="02010600040101010101" charset="-122"/>
                <a:cs typeface="华文中宋" panose="02010600040101010101" charset="-122"/>
              </a:rPr>
              <a:t>交叉验证波动小 → 泛化较稳定</a:t>
            </a:r>
            <a:endParaRPr lang="en-US" sz="1600" dirty="0">
              <a:latin typeface="华文中宋" panose="02010600040101010101" charset="-122"/>
              <a:ea typeface="华文中宋" panose="02010600040101010101" charset="-122"/>
              <a:cs typeface="华文中宋" panose="02010600040101010101" charset="-122"/>
            </a:endParaRPr>
          </a:p>
          <a:p>
            <a:pPr marL="228600" indent="-228600">
              <a:spcAft>
                <a:spcPts val="600"/>
              </a:spcAft>
              <a:buSzPct val="100000"/>
              <a:buChar char="•"/>
            </a:pPr>
            <a:r>
              <a:rPr lang="en-US" sz="1600" dirty="0">
                <a:solidFill>
                  <a:srgbClr val="111827"/>
                </a:solidFill>
                <a:latin typeface="华文中宋" panose="02010600040101010101" charset="-122"/>
                <a:ea typeface="华文中宋" panose="02010600040101010101" charset="-122"/>
                <a:cs typeface="华文中宋" panose="02010600040101010101" charset="-122"/>
              </a:rPr>
              <a:t>风险与改进方向</a:t>
            </a:r>
            <a:endParaRPr lang="en-US" sz="1600"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sz="1600" dirty="0">
                <a:solidFill>
                  <a:srgbClr val="111827"/>
                </a:solidFill>
                <a:latin typeface="华文中宋" panose="02010600040101010101" charset="-122"/>
                <a:ea typeface="华文中宋" panose="02010600040101010101" charset="-122"/>
                <a:cs typeface="华文中宋" panose="02010600040101010101" charset="-122"/>
              </a:rPr>
              <a:t>可能过拟合 → 可引入剪枝（MaxDepth/MinGain/MinSamplesSplit）</a:t>
            </a:r>
            <a:endParaRPr lang="en-US" sz="1600"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sz="1600" dirty="0">
                <a:solidFill>
                  <a:srgbClr val="111827"/>
                </a:solidFill>
                <a:latin typeface="华文中宋" panose="02010600040101010101" charset="-122"/>
                <a:ea typeface="华文中宋" panose="02010600040101010101" charset="-122"/>
                <a:cs typeface="华文中宋" panose="02010600040101010101" charset="-122"/>
              </a:rPr>
              <a:t>进一步：随机森林/GBDT</a:t>
            </a:r>
            <a:endParaRPr lang="en-US" sz="1600" dirty="0">
              <a:latin typeface="华文中宋" panose="02010600040101010101" charset="-122"/>
              <a:ea typeface="华文中宋" panose="02010600040101010101" charset="-122"/>
              <a:cs typeface="华文中宋" panose="02010600040101010101" charset="-122"/>
            </a:endParaRPr>
          </a:p>
        </p:txBody>
      </p:sp>
      <p:sp>
        <p:nvSpPr>
          <p:cNvPr id="14" name="Shape 12"/>
          <p:cNvSpPr/>
          <p:nvPr/>
        </p:nvSpPr>
        <p:spPr>
          <a:xfrm>
            <a:off x="6172200" y="960120"/>
            <a:ext cx="6016752" cy="5349240"/>
          </a:xfrm>
          <a:prstGeom prst="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15" name="Text 13"/>
          <p:cNvSpPr/>
          <p:nvPr/>
        </p:nvSpPr>
        <p:spPr>
          <a:xfrm>
            <a:off x="6446520" y="1143000"/>
            <a:ext cx="5486400" cy="274320"/>
          </a:xfrm>
          <a:prstGeom prst="rect">
            <a:avLst/>
          </a:prstGeom>
          <a:noFill/>
        </p:spPr>
        <p:txBody>
          <a:bodyPr wrap="square" rtlCol="0" anchor="ctr"/>
          <a:lstStyle/>
          <a:p>
            <a:pPr marL="0" indent="0">
              <a:buNone/>
            </a:pPr>
            <a:r>
              <a:rPr lang="en-US" sz="1600" b="1" dirty="0">
                <a:solidFill>
                  <a:srgbClr val="0B2D4A"/>
                </a:solidFill>
                <a:latin typeface="华文中宋" panose="02010600040101010101" charset="-122"/>
                <a:ea typeface="华文中宋" panose="02010600040101010101" charset="-122"/>
                <a:cs typeface="微软雅黑" panose="020B0503020204020204" pitchFamily="34" charset="-120"/>
              </a:rPr>
              <a:t>交叉验证准确率曲线</a:t>
            </a:r>
            <a:endParaRPr lang="en-US" sz="1600" dirty="0">
              <a:latin typeface="华文中宋" panose="02010600040101010101" charset="-122"/>
              <a:ea typeface="华文中宋" panose="02010600040101010101" charset="-122"/>
            </a:endParaRPr>
          </a:p>
        </p:txBody>
      </p:sp>
      <p:pic>
        <p:nvPicPr>
          <p:cNvPr id="16" name="Image 0" descr="/mnt/data/slide_assets/id3_plot.png"/>
          <p:cNvPicPr>
            <a:picLocks noChangeAspect="1"/>
          </p:cNvPicPr>
          <p:nvPr/>
        </p:nvPicPr>
        <p:blipFill>
          <a:blip r:embed="rId1"/>
          <a:stretch>
            <a:fillRect/>
          </a:stretch>
        </p:blipFill>
        <p:spPr>
          <a:xfrm>
            <a:off x="6446520" y="1508760"/>
            <a:ext cx="5623560" cy="3291840"/>
          </a:xfrm>
          <a:prstGeom prst="rect">
            <a:avLst/>
          </a:prstGeom>
        </p:spPr>
      </p:pic>
      <p:sp>
        <p:nvSpPr>
          <p:cNvPr id="18" name="Text 15"/>
          <p:cNvSpPr/>
          <p:nvPr/>
        </p:nvSpPr>
        <p:spPr>
          <a:xfrm>
            <a:off x="6675120" y="5074920"/>
            <a:ext cx="5212080" cy="914400"/>
          </a:xfrm>
          <a:prstGeom prst="rect">
            <a:avLst/>
          </a:prstGeom>
          <a:noFill/>
        </p:spPr>
        <p:txBody>
          <a:bodyPr wrap="square" rtlCol="0" anchor="ctr"/>
          <a:lstStyle/>
          <a:p>
            <a:pPr marL="0" indent="0">
              <a:buNone/>
            </a:pPr>
            <a:endParaRPr lang="en-US" sz="1800" dirty="0"/>
          </a:p>
        </p:txBody>
      </p:sp>
      <p:pic>
        <p:nvPicPr>
          <p:cNvPr id="21" name="picture 178"/>
          <p:cNvPicPr>
            <a:picLocks noChangeAspect="1"/>
          </p:cNvPicPr>
          <p:nvPr/>
        </p:nvPicPr>
        <p:blipFill>
          <a:blip r:embed="rId2"/>
          <a:stretch>
            <a:fillRect/>
          </a:stretch>
        </p:blipFill>
        <p:spPr>
          <a:xfrm rot="21600000">
            <a:off x="8926563" y="185813"/>
            <a:ext cx="2514595" cy="609600"/>
          </a:xfrm>
          <a:prstGeom prst="rect">
            <a:avLst/>
          </a:prstGeom>
        </p:spPr>
      </p:pic>
      <p:sp>
        <p:nvSpPr>
          <p:cNvPr id="22" name="path 182"/>
          <p:cNvSpPr/>
          <p:nvPr/>
        </p:nvSpPr>
        <p:spPr>
          <a:xfrm>
            <a:off x="923378" y="90187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textbox 348"/>
          <p:cNvSpPr/>
          <p:nvPr/>
        </p:nvSpPr>
        <p:spPr>
          <a:xfrm>
            <a:off x="941275" y="275983"/>
            <a:ext cx="10547350" cy="635000"/>
          </a:xfrm>
          <a:prstGeom prst="rect">
            <a:avLst/>
          </a:prstGeom>
          <a:noFill/>
          <a:ln w="0" cap="flat">
            <a:noFill/>
            <a:prstDash val="solid"/>
            <a:miter lim="0"/>
          </a:ln>
        </p:spPr>
        <p:txBody>
          <a:bodyPr vert="horz" wrap="square" lIns="0" tIns="0" rIns="0" bIns="0"/>
          <a:lstStyle/>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2700" algn="l" rtl="0" eaLnBrk="0">
              <a:lnSpc>
                <a:spcPct val="79000"/>
              </a:lnSpc>
            </a:pPr>
            <a:r>
              <a:rPr sz="3100" b="1" kern="0" spc="-250" dirty="0">
                <a:solidFill>
                  <a:srgbClr val="000000">
                    <a:alpha val="100000"/>
                  </a:srgbClr>
                </a:solidFill>
                <a:latin typeface="华文中宋" panose="02010600040101010101" charset="-122"/>
                <a:ea typeface="华文中宋" panose="02010600040101010101" charset="-122"/>
                <a:cs typeface="华文中宋" panose="02010600040101010101" charset="-122"/>
              </a:rPr>
              <a:t>目录</a:t>
            </a:r>
            <a:r>
              <a:rPr sz="3100"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                                                           </a:t>
            </a:r>
            <a:endParaRPr sz="3100" dirty="0">
              <a:latin typeface="华文中宋" panose="02010600040101010101" charset="-122"/>
              <a:ea typeface="华文中宋" panose="02010600040101010101" charset="-122"/>
              <a:cs typeface="华文中宋" panose="02010600040101010101" charset="-122"/>
            </a:endParaRPr>
          </a:p>
        </p:txBody>
      </p:sp>
      <p:pic>
        <p:nvPicPr>
          <p:cNvPr id="350" name="picture 350"/>
          <p:cNvPicPr>
            <a:picLocks noChangeAspect="1"/>
          </p:cNvPicPr>
          <p:nvPr/>
        </p:nvPicPr>
        <p:blipFill>
          <a:blip r:embed="rId1"/>
          <a:stretch>
            <a:fillRect/>
          </a:stretch>
        </p:blipFill>
        <p:spPr>
          <a:xfrm rot="21600000">
            <a:off x="8955179" y="288683"/>
            <a:ext cx="2514595" cy="609600"/>
          </a:xfrm>
          <a:prstGeom prst="rect">
            <a:avLst/>
          </a:prstGeom>
        </p:spPr>
      </p:pic>
      <p:graphicFrame>
        <p:nvGraphicFramePr>
          <p:cNvPr id="352" name="table 352"/>
          <p:cNvGraphicFramePr>
            <a:graphicFrameLocks noGrp="1"/>
          </p:cNvGraphicFramePr>
          <p:nvPr/>
        </p:nvGraphicFramePr>
        <p:xfrm>
          <a:off x="2172411" y="5312193"/>
          <a:ext cx="8445500" cy="622935"/>
        </p:xfrm>
        <a:graphic>
          <a:graphicData uri="http://schemas.openxmlformats.org/drawingml/2006/table">
            <a:tbl>
              <a:tblPr>
                <a:solidFill>
                  <a:srgbClr val="D0CECE"/>
                </a:solidFill>
              </a:tblPr>
              <a:tblGrid>
                <a:gridCol w="8445500"/>
              </a:tblGrid>
              <a:tr h="610235">
                <a:tc>
                  <a:txBody>
                    <a:bodyPr/>
                    <a:lstStyle/>
                    <a:p>
                      <a:pPr algn="l" rtl="0" eaLnBrk="0">
                        <a:lnSpc>
                          <a:spcPct val="108000"/>
                        </a:lnSpc>
                      </a:pPr>
                      <a:endParaRPr sz="1000" dirty="0">
                        <a:latin typeface="Arial" panose="020B0604020202020204"/>
                        <a:ea typeface="Arial" panose="020B0604020202020204"/>
                        <a:cs typeface="Arial" panose="020B0604020202020204"/>
                      </a:endParaRPr>
                    </a:p>
                    <a:p>
                      <a:pPr marL="1388745" algn="l" rtl="0" eaLnBrk="0">
                        <a:lnSpc>
                          <a:spcPct val="83000"/>
                        </a:lnSpc>
                        <a:spcBef>
                          <a:spcPts val="5"/>
                        </a:spcBef>
                      </a:pPr>
                      <a:r>
                        <a:rPr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rPr>
                        <a:t>4.</a:t>
                      </a:r>
                      <a:r>
                        <a:rPr lang="zh-CN" sz="27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rPr>
                        <a:t>作业四：</a:t>
                      </a:r>
                      <a:r>
                        <a:rPr lang="en-US" altLang="zh-CN"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K-Means </a:t>
                      </a:r>
                      <a:r>
                        <a:rPr lang="zh-CN" altLang="en-US" sz="27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聚类算法</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D0CECE"/>
                    </a:solidFill>
                  </a:tcPr>
                </a:tc>
              </a:tr>
            </a:tbl>
          </a:graphicData>
        </a:graphic>
      </p:graphicFrame>
      <p:graphicFrame>
        <p:nvGraphicFramePr>
          <p:cNvPr id="354" name="table 354"/>
          <p:cNvGraphicFramePr>
            <a:graphicFrameLocks noGrp="1"/>
          </p:cNvGraphicFramePr>
          <p:nvPr/>
        </p:nvGraphicFramePr>
        <p:xfrm>
          <a:off x="2172411" y="2206155"/>
          <a:ext cx="8445500" cy="622934"/>
        </p:xfrm>
        <a:graphic>
          <a:graphicData uri="http://schemas.openxmlformats.org/drawingml/2006/table">
            <a:tbl>
              <a:tblPr>
                <a:solidFill>
                  <a:srgbClr val="E7E6E6"/>
                </a:solidFill>
              </a:tblPr>
              <a:tblGrid>
                <a:gridCol w="8445500"/>
              </a:tblGrid>
              <a:tr h="610234">
                <a:tc>
                  <a:txBody>
                    <a:bodyPr/>
                    <a:lstStyle/>
                    <a:p>
                      <a:pPr algn="l" rtl="0" eaLnBrk="0">
                        <a:lnSpc>
                          <a:spcPct val="130000"/>
                        </a:lnSpc>
                      </a:pPr>
                      <a:endParaRPr sz="1000" dirty="0">
                        <a:latin typeface="Arial" panose="020B0604020202020204"/>
                        <a:ea typeface="Arial" panose="020B0604020202020204"/>
                        <a:cs typeface="Arial" panose="020B0604020202020204"/>
                      </a:endParaRPr>
                    </a:p>
                    <a:p>
                      <a:pPr marL="1417955" algn="l" rtl="0" eaLnBrk="0">
                        <a:lnSpc>
                          <a:spcPct val="83000"/>
                        </a:lnSpc>
                        <a:spcBef>
                          <a:spcPts val="5"/>
                        </a:spcBef>
                      </a:pPr>
                      <a:r>
                        <a:rPr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rPr>
                        <a:t>1.</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作业一：</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MySQL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安装与基本</a:t>
                      </a:r>
                      <a:r>
                        <a:rPr lang="en-US" altLang="zh-CN"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 SQL </a:t>
                      </a:r>
                      <a:r>
                        <a:rPr lang="zh-CN" altLang="en-US" sz="2700" b="1" kern="0" spc="14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操作</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graphicFrame>
        <p:nvGraphicFramePr>
          <p:cNvPr id="356" name="table 356"/>
          <p:cNvGraphicFramePr>
            <a:graphicFrameLocks noGrp="1"/>
          </p:cNvGraphicFramePr>
          <p:nvPr/>
        </p:nvGraphicFramePr>
        <p:xfrm>
          <a:off x="2172411" y="3246463"/>
          <a:ext cx="8445500" cy="622935"/>
        </p:xfrm>
        <a:graphic>
          <a:graphicData uri="http://schemas.openxmlformats.org/drawingml/2006/table">
            <a:tbl>
              <a:tblPr>
                <a:solidFill>
                  <a:srgbClr val="E7E6E6"/>
                </a:solidFill>
              </a:tblPr>
              <a:tblGrid>
                <a:gridCol w="8445500"/>
              </a:tblGrid>
              <a:tr h="610235">
                <a:tc>
                  <a:txBody>
                    <a:bodyPr/>
                    <a:lstStyle/>
                    <a:p>
                      <a:pPr algn="l" rtl="0" eaLnBrk="0">
                        <a:lnSpc>
                          <a:spcPct val="114000"/>
                        </a:lnSpc>
                      </a:pPr>
                      <a:endParaRPr sz="600" dirty="0">
                        <a:latin typeface="Arial" panose="020B0604020202020204"/>
                        <a:ea typeface="Arial" panose="020B0604020202020204"/>
                        <a:cs typeface="Arial" panose="020B0604020202020204"/>
                      </a:endParaRPr>
                    </a:p>
                    <a:p>
                      <a:pPr marL="1376045" algn="l" rtl="0" eaLnBrk="0">
                        <a:lnSpc>
                          <a:spcPts val="3705"/>
                        </a:lnSpc>
                        <a:spcBef>
                          <a:spcPts val="0"/>
                        </a:spcBef>
                      </a:pPr>
                      <a:r>
                        <a:rPr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rPr>
                        <a:t>2.</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作业二：</a:t>
                      </a:r>
                      <a:r>
                        <a:rPr lang="en-US" altLang="zh-CN"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MongoDB </a:t>
                      </a:r>
                      <a:r>
                        <a:rPr lang="zh-CN" altLang="en-US" sz="2700" b="1" kern="0" spc="16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安装与操作</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graphicFrame>
        <p:nvGraphicFramePr>
          <p:cNvPr id="358" name="table 358"/>
          <p:cNvGraphicFramePr>
            <a:graphicFrameLocks noGrp="1"/>
          </p:cNvGraphicFramePr>
          <p:nvPr/>
        </p:nvGraphicFramePr>
        <p:xfrm>
          <a:off x="2172411" y="4254728"/>
          <a:ext cx="8445500" cy="622935"/>
        </p:xfrm>
        <a:graphic>
          <a:graphicData uri="http://schemas.openxmlformats.org/drawingml/2006/table">
            <a:tbl>
              <a:tblPr>
                <a:solidFill>
                  <a:srgbClr val="E7E6E6"/>
                </a:solidFill>
              </a:tblPr>
              <a:tblGrid>
                <a:gridCol w="8445500"/>
              </a:tblGrid>
              <a:tr h="610235">
                <a:tc>
                  <a:txBody>
                    <a:bodyPr/>
                    <a:lstStyle/>
                    <a:p>
                      <a:pPr algn="l" rtl="0" eaLnBrk="0">
                        <a:lnSpc>
                          <a:spcPct val="112000"/>
                        </a:lnSpc>
                      </a:pPr>
                      <a:endParaRPr sz="700" dirty="0">
                        <a:latin typeface="Arial" panose="020B0604020202020204"/>
                        <a:ea typeface="Arial" panose="020B0604020202020204"/>
                        <a:cs typeface="Arial" panose="020B0604020202020204"/>
                      </a:endParaRPr>
                    </a:p>
                    <a:p>
                      <a:pPr marL="1379855" algn="l" rtl="0" eaLnBrk="0">
                        <a:lnSpc>
                          <a:spcPts val="3705"/>
                        </a:lnSpc>
                        <a:spcBef>
                          <a:spcPts val="5"/>
                        </a:spcBef>
                      </a:pPr>
                      <a:r>
                        <a:rPr sz="2700" b="1" kern="0" spc="170" dirty="0">
                          <a:solidFill>
                            <a:srgbClr val="000000">
                              <a:alpha val="100000"/>
                            </a:srgbClr>
                          </a:solidFill>
                          <a:latin typeface="华文中宋" panose="02010600040101010101" charset="-122"/>
                          <a:ea typeface="华文中宋" panose="02010600040101010101" charset="-122"/>
                          <a:cs typeface="华文中宋" panose="02010600040101010101" charset="-122"/>
                        </a:rPr>
                        <a:t>3.</a:t>
                      </a:r>
                      <a:r>
                        <a:rPr lang="zh-CN" altLang="en-US" sz="2700" b="1" dirty="0">
                          <a:latin typeface="华文中宋" panose="02010600040101010101" charset="-122"/>
                          <a:ea typeface="华文中宋" panose="02010600040101010101" charset="-122"/>
                          <a:cs typeface="华文中宋" panose="02010600040101010101" charset="-122"/>
                          <a:sym typeface="+mn-ea"/>
                        </a:rPr>
                        <a:t>作业三：决策树</a:t>
                      </a:r>
                      <a:r>
                        <a:rPr lang="en-US" altLang="zh-CN" sz="2700" b="1" dirty="0">
                          <a:latin typeface="华文中宋" panose="02010600040101010101" charset="-122"/>
                          <a:ea typeface="华文中宋" panose="02010600040101010101" charset="-122"/>
                          <a:cs typeface="华文中宋" panose="02010600040101010101" charset="-122"/>
                          <a:sym typeface="+mn-ea"/>
                        </a:rPr>
                        <a:t> ID3 </a:t>
                      </a:r>
                      <a:r>
                        <a:rPr lang="zh-CN" altLang="en-US" sz="2700" b="1" dirty="0">
                          <a:latin typeface="华文中宋" panose="02010600040101010101" charset="-122"/>
                          <a:ea typeface="华文中宋" panose="02010600040101010101" charset="-122"/>
                          <a:cs typeface="华文中宋" panose="02010600040101010101" charset="-122"/>
                          <a:sym typeface="+mn-ea"/>
                        </a:rPr>
                        <a:t>算法</a:t>
                      </a:r>
                      <a:endParaRPr sz="2700" dirty="0">
                        <a:latin typeface="华文中宋" panose="02010600040101010101" charset="-122"/>
                        <a:ea typeface="华文中宋" panose="02010600040101010101" charset="-122"/>
                        <a:cs typeface="华文中宋" panose="02010600040101010101" charset="-122"/>
                      </a:endParaRPr>
                    </a:p>
                  </a:txBody>
                  <a:tcPr marL="0" marR="0" marT="0" marB="0" vert="horz">
                    <a:lnL w="12700" cap="flat" cmpd="sng" algn="ctr">
                      <a:solidFill>
                        <a:srgbClr val="172C51"/>
                      </a:solidFill>
                      <a:prstDash val="solid"/>
                      <a:round/>
                      <a:headEnd type="none" w="med" len="med"/>
                      <a:tailEnd type="none" w="med" len="med"/>
                    </a:lnL>
                    <a:lnR w="12700" cap="flat" cmpd="sng" algn="ctr">
                      <a:solidFill>
                        <a:srgbClr val="172C51"/>
                      </a:solidFill>
                      <a:prstDash val="solid"/>
                      <a:round/>
                      <a:headEnd type="none" w="med" len="med"/>
                      <a:tailEnd type="none" w="med" len="med"/>
                    </a:lnR>
                    <a:lnT w="12700" cap="flat" cmpd="sng" algn="ctr">
                      <a:solidFill>
                        <a:srgbClr val="172C51"/>
                      </a:solidFill>
                      <a:prstDash val="solid"/>
                      <a:round/>
                      <a:headEnd type="none" w="med" len="med"/>
                      <a:tailEnd type="none" w="med" len="med"/>
                    </a:lnT>
                    <a:lnB w="12700" cap="flat" cmpd="sng" algn="ctr">
                      <a:solidFill>
                        <a:srgbClr val="172C51"/>
                      </a:solidFill>
                      <a:prstDash val="solid"/>
                      <a:round/>
                      <a:headEnd type="none" w="med" len="med"/>
                      <a:tailEnd type="none" w="med" len="med"/>
                    </a:lnB>
                    <a:solidFill>
                      <a:srgbClr val="E7E6E6"/>
                    </a:solidFill>
                  </a:tcPr>
                </a:tc>
              </a:tr>
            </a:tbl>
          </a:graphicData>
        </a:graphic>
      </p:graphicFrame>
      <p:sp>
        <p:nvSpPr>
          <p:cNvPr id="360" name="path 360"/>
          <p:cNvSpPr/>
          <p:nvPr/>
        </p:nvSpPr>
        <p:spPr>
          <a:xfrm>
            <a:off x="769073" y="1072057"/>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362" name="textbox 362"/>
          <p:cNvSpPr/>
          <p:nvPr/>
        </p:nvSpPr>
        <p:spPr>
          <a:xfrm>
            <a:off x="11345647" y="6477152"/>
            <a:ext cx="178435" cy="2095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1450"/>
              </a:lnSpc>
            </a:pPr>
            <a:r>
              <a:rPr sz="1200" kern="0" spc="-30" dirty="0">
                <a:solidFill>
                  <a:srgbClr val="898989">
                    <a:alpha val="100000"/>
                  </a:srgbClr>
                </a:solidFill>
                <a:latin typeface="等线" panose="02010600030101010101" charset="-122"/>
                <a:ea typeface="等线" panose="02010600030101010101" charset="-122"/>
                <a:cs typeface="等线" panose="02010600030101010101" charset="-122"/>
              </a:rPr>
              <a:t>20</a:t>
            </a:r>
            <a:endParaRPr sz="1200"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23570" y="307594"/>
            <a:ext cx="11155680" cy="329184"/>
          </a:xfrm>
          <a:prstGeom prst="rect">
            <a:avLst/>
          </a:prstGeom>
          <a:noFill/>
        </p:spPr>
        <p:txBody>
          <a:bodyPr wrap="square" rtlCol="0" anchor="ctr"/>
          <a:lstStyle/>
          <a:p>
            <a:pPr marL="0" indent="0">
              <a:buNone/>
            </a:pPr>
            <a:r>
              <a:rPr lang="zh-CN" sz="32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作业四：</a:t>
            </a:r>
            <a:r>
              <a:rPr lang="en-US" altLang="zh-CN" sz="32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K-Means </a:t>
            </a:r>
            <a:r>
              <a:rPr lang="zh-CN" altLang="en-US" sz="32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聚类算法</a:t>
            </a:r>
            <a:endParaRPr lang="en-US" sz="3200" dirty="0"/>
          </a:p>
        </p:txBody>
      </p:sp>
      <p:sp>
        <p:nvSpPr>
          <p:cNvPr id="7" name="Shape 5"/>
          <p:cNvSpPr/>
          <p:nvPr/>
        </p:nvSpPr>
        <p:spPr>
          <a:xfrm>
            <a:off x="502920" y="960120"/>
            <a:ext cx="5715000" cy="5349240"/>
          </a:xfrm>
          <a:prstGeom prst="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8" name="Text 6"/>
          <p:cNvSpPr/>
          <p:nvPr/>
        </p:nvSpPr>
        <p:spPr>
          <a:xfrm>
            <a:off x="822960" y="1143000"/>
            <a:ext cx="5120640" cy="274320"/>
          </a:xfrm>
          <a:prstGeom prst="rect">
            <a:avLst/>
          </a:prstGeom>
          <a:noFill/>
        </p:spPr>
        <p:txBody>
          <a:bodyPr wrap="square" rtlCol="0" anchor="ctr"/>
          <a:lstStyle/>
          <a:p>
            <a:pPr marL="0" indent="0">
              <a:buNone/>
            </a:pPr>
            <a:r>
              <a:rPr lang="en-US" sz="2000" b="1" dirty="0">
                <a:solidFill>
                  <a:srgbClr val="0B2D4A"/>
                </a:solidFill>
                <a:latin typeface="华文中宋" panose="02010600040101010101" charset="-122"/>
                <a:ea typeface="华文中宋" panose="02010600040101010101" charset="-122"/>
                <a:cs typeface="微软雅黑" panose="020B0503020204020204" pitchFamily="34" charset="-120"/>
              </a:rPr>
              <a:t>实现与流程</a:t>
            </a:r>
            <a:endParaRPr lang="en-US" sz="2000" dirty="0">
              <a:latin typeface="华文中宋" panose="02010600040101010101" charset="-122"/>
              <a:ea typeface="华文中宋" panose="02010600040101010101" charset="-122"/>
            </a:endParaRPr>
          </a:p>
        </p:txBody>
      </p:sp>
      <p:sp>
        <p:nvSpPr>
          <p:cNvPr id="9" name="Text 7"/>
          <p:cNvSpPr/>
          <p:nvPr/>
        </p:nvSpPr>
        <p:spPr>
          <a:xfrm>
            <a:off x="868680" y="1554480"/>
            <a:ext cx="5257800" cy="4663440"/>
          </a:xfrm>
          <a:prstGeom prst="rect">
            <a:avLst/>
          </a:prstGeom>
          <a:noFill/>
        </p:spPr>
        <p:txBody>
          <a:bodyPr wrap="square" rtlCol="0" anchor="t"/>
          <a:lstStyle/>
          <a:p>
            <a:pPr marL="228600"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实现 K-Means</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样本分配（欧氏距离）</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中心更新（均值）</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收敛判定（中心变化 &lt; tol）</a:t>
            </a:r>
            <a:endParaRPr lang="en-US" sz="15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提高稳定性</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K-Means++ 初始化</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n_init 多次运行选最小 SSE</a:t>
            </a:r>
            <a:endParaRPr lang="en-US" sz="15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数据预处理</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删除 ID 字段</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缺失值用中位数填充</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标准化（或更鲁棒的缩放）</a:t>
            </a:r>
            <a:endParaRPr lang="en-US" sz="15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评估与可视化</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SSE/肘部法</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轮廓系数</a:t>
            </a:r>
            <a:endParaRPr lang="en-US" sz="15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1500" dirty="0">
                <a:solidFill>
                  <a:srgbClr val="111827"/>
                </a:solidFill>
                <a:latin typeface="华文中宋" panose="02010600040101010101" charset="-122"/>
                <a:ea typeface="华文中宋" panose="02010600040101010101" charset="-122"/>
                <a:cs typeface="华文中宋" panose="02010600040101010101" charset="-122"/>
              </a:rPr>
              <a:t>PCA 降到 2D 作散点图</a:t>
            </a:r>
            <a:endParaRPr lang="en-US" sz="1500" dirty="0">
              <a:latin typeface="华文中宋" panose="02010600040101010101" charset="-122"/>
              <a:ea typeface="华文中宋" panose="02010600040101010101" charset="-122"/>
              <a:cs typeface="华文中宋" panose="02010600040101010101" charset="-122"/>
            </a:endParaRPr>
          </a:p>
        </p:txBody>
      </p:sp>
      <p:sp>
        <p:nvSpPr>
          <p:cNvPr id="10" name="Shape 8"/>
          <p:cNvSpPr/>
          <p:nvPr/>
        </p:nvSpPr>
        <p:spPr>
          <a:xfrm>
            <a:off x="6446520" y="960120"/>
            <a:ext cx="5742432" cy="5349240"/>
          </a:xfrm>
          <a:prstGeom prst="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11" name="Text 9"/>
          <p:cNvSpPr/>
          <p:nvPr/>
        </p:nvSpPr>
        <p:spPr>
          <a:xfrm>
            <a:off x="6766560" y="1143000"/>
            <a:ext cx="5212080" cy="274320"/>
          </a:xfrm>
          <a:prstGeom prst="rect">
            <a:avLst/>
          </a:prstGeom>
          <a:noFill/>
        </p:spPr>
        <p:txBody>
          <a:bodyPr wrap="square" rtlCol="0" anchor="ctr"/>
          <a:lstStyle/>
          <a:p>
            <a:pPr marL="0" indent="0">
              <a:buNone/>
            </a:pPr>
            <a:r>
              <a:rPr lang="en-US" sz="2000" b="1" dirty="0">
                <a:solidFill>
                  <a:srgbClr val="0B2D4A"/>
                </a:solidFill>
                <a:latin typeface="华文中宋" panose="02010600040101010101" charset="-122"/>
                <a:ea typeface="华文中宋" panose="02010600040101010101" charset="-122"/>
                <a:cs typeface="微软雅黑" panose="020B0503020204020204" pitchFamily="34" charset="-120"/>
              </a:rPr>
              <a:t>数据集（真实业务特征）</a:t>
            </a:r>
            <a:endParaRPr lang="en-US" sz="2000" dirty="0">
              <a:latin typeface="华文中宋" panose="02010600040101010101" charset="-122"/>
              <a:ea typeface="华文中宋" panose="02010600040101010101" charset="-122"/>
            </a:endParaRPr>
          </a:p>
        </p:txBody>
      </p:sp>
      <p:sp>
        <p:nvSpPr>
          <p:cNvPr id="13" name="Text 11"/>
          <p:cNvSpPr/>
          <p:nvPr/>
        </p:nvSpPr>
        <p:spPr>
          <a:xfrm>
            <a:off x="6812280" y="1691640"/>
            <a:ext cx="5257800" cy="4572000"/>
          </a:xfrm>
          <a:prstGeom prst="rect">
            <a:avLst/>
          </a:prstGeom>
          <a:noFill/>
        </p:spPr>
        <p:txBody>
          <a:bodyPr wrap="square" rtlCol="0" anchor="t"/>
          <a:lstStyle/>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Credit Card Dataset（Kaggle）</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8950 条用户记录</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17 个数值特征（消费/还款/预支/频率等）</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实验设置</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K=2~10（或更高）</a:t>
            </a:r>
            <a:endParaRPr lang="en-US" sz="2000" dirty="0">
              <a:latin typeface="华文中宋" panose="02010600040101010101" charset="-122"/>
              <a:ea typeface="华文中宋" panose="02010600040101010101" charset="-122"/>
              <a:cs typeface="华文中宋" panose="02010600040101010101" charset="-122"/>
            </a:endParaRPr>
          </a:p>
          <a:p>
            <a:pPr marL="457200" lvl="1"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对比 SSE 与轮廓系数</a:t>
            </a:r>
            <a:endParaRPr lang="en-US" sz="2000" dirty="0">
              <a:latin typeface="华文中宋" panose="02010600040101010101" charset="-122"/>
              <a:ea typeface="华文中宋" panose="02010600040101010101" charset="-122"/>
              <a:cs typeface="华文中宋" panose="02010600040101010101" charset="-122"/>
            </a:endParaRPr>
          </a:p>
          <a:p>
            <a:pPr marL="228600" indent="-228600">
              <a:spcAft>
                <a:spcPts val="7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目标：用聚类刻画“用户行为模式差异”</a:t>
            </a:r>
            <a:endParaRPr lang="en-US" sz="2000" dirty="0">
              <a:latin typeface="华文中宋" panose="02010600040101010101" charset="-122"/>
              <a:ea typeface="华文中宋" panose="02010600040101010101" charset="-122"/>
              <a:cs typeface="华文中宋" panose="02010600040101010101" charset="-122"/>
            </a:endParaRPr>
          </a:p>
        </p:txBody>
      </p:sp>
      <p:pic>
        <p:nvPicPr>
          <p:cNvPr id="178" name="picture 178"/>
          <p:cNvPicPr>
            <a:picLocks noChangeAspect="1"/>
          </p:cNvPicPr>
          <p:nvPr/>
        </p:nvPicPr>
        <p:blipFill>
          <a:blip r:embed="rId1"/>
          <a:stretch>
            <a:fillRect/>
          </a:stretch>
        </p:blipFill>
        <p:spPr>
          <a:xfrm rot="21600000">
            <a:off x="8973553" y="147713"/>
            <a:ext cx="2514595" cy="609600"/>
          </a:xfrm>
          <a:prstGeom prst="rect">
            <a:avLst/>
          </a:prstGeom>
        </p:spPr>
      </p:pic>
      <p:sp>
        <p:nvSpPr>
          <p:cNvPr id="360" name="path 360"/>
          <p:cNvSpPr/>
          <p:nvPr/>
        </p:nvSpPr>
        <p:spPr>
          <a:xfrm>
            <a:off x="649058" y="886002"/>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146304"/>
            <a:ext cx="11155680" cy="329184"/>
          </a:xfrm>
          <a:prstGeom prst="rect">
            <a:avLst/>
          </a:prstGeom>
          <a:noFill/>
        </p:spPr>
        <p:txBody>
          <a:bodyPr wrap="square" rtlCol="0" anchor="ctr"/>
          <a:lstStyle/>
          <a:p>
            <a:pPr marL="0" indent="0">
              <a:buNone/>
            </a:pPr>
            <a:r>
              <a:rPr lang="en-US" sz="2000" b="1" dirty="0">
                <a:solidFill>
                  <a:srgbClr val="FFFFFF"/>
                </a:solidFill>
                <a:latin typeface="微软雅黑" panose="020B0503020204020204" charset="-122"/>
                <a:ea typeface="微软雅黑" panose="020B0503020204020204" charset="-122"/>
                <a:cs typeface="微软雅黑" panose="020B0503020204020204" pitchFamily="34" charset="-120"/>
              </a:rPr>
              <a:t>K-Means 结果｜从“可用”到“更清晰”：优化带来提升</a:t>
            </a:r>
            <a:endParaRPr lang="en-US" sz="2000" dirty="0"/>
          </a:p>
        </p:txBody>
      </p:sp>
      <p:sp>
        <p:nvSpPr>
          <p:cNvPr id="7" name="Shape 5"/>
          <p:cNvSpPr/>
          <p:nvPr>
            <p:custDataLst>
              <p:tags r:id="rId1"/>
            </p:custDataLst>
          </p:nvPr>
        </p:nvSpPr>
        <p:spPr>
          <a:xfrm>
            <a:off x="502920" y="960120"/>
            <a:ext cx="5806440" cy="5778500"/>
          </a:xfrm>
          <a:prstGeom prst="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8" name="Text 6"/>
          <p:cNvSpPr/>
          <p:nvPr>
            <p:custDataLst>
              <p:tags r:id="rId2"/>
            </p:custDataLst>
          </p:nvPr>
        </p:nvSpPr>
        <p:spPr>
          <a:xfrm>
            <a:off x="822960" y="1143000"/>
            <a:ext cx="5303520" cy="320040"/>
          </a:xfrm>
          <a:prstGeom prst="rect">
            <a:avLst/>
          </a:prstGeom>
          <a:noFill/>
        </p:spPr>
        <p:txBody>
          <a:bodyPr wrap="square" rtlCol="0" anchor="ctr"/>
          <a:lstStyle/>
          <a:p>
            <a:pPr marL="0" indent="0">
              <a:buNone/>
            </a:pPr>
            <a:r>
              <a:rPr lang="en-US" sz="1600" b="1" dirty="0">
                <a:solidFill>
                  <a:srgbClr val="0B2D4A"/>
                </a:solidFill>
                <a:latin typeface="华文中宋" panose="02010600040101010101" charset="-122"/>
                <a:ea typeface="华文中宋" panose="02010600040101010101" charset="-122"/>
                <a:cs typeface="华文中宋" panose="02010600040101010101" charset="-122"/>
              </a:rPr>
              <a:t>基础版：轮廓系数最高约 0.26（K=2）</a:t>
            </a:r>
            <a:endParaRPr lang="en-US" sz="1600" dirty="0">
              <a:latin typeface="华文中宋" panose="02010600040101010101" charset="-122"/>
              <a:ea typeface="华文中宋" panose="02010600040101010101" charset="-122"/>
              <a:cs typeface="华文中宋" panose="02010600040101010101" charset="-122"/>
            </a:endParaRPr>
          </a:p>
        </p:txBody>
      </p:sp>
      <p:pic>
        <p:nvPicPr>
          <p:cNvPr id="9" name="Image 0" descr="/mnt/data/slide_assets/kmeans_sil2.png"/>
          <p:cNvPicPr>
            <a:picLocks noChangeAspect="1"/>
          </p:cNvPicPr>
          <p:nvPr>
            <p:custDataLst>
              <p:tags r:id="rId3"/>
            </p:custDataLst>
          </p:nvPr>
        </p:nvPicPr>
        <p:blipFill>
          <a:blip r:embed="rId4"/>
          <a:stretch>
            <a:fillRect/>
          </a:stretch>
        </p:blipFill>
        <p:spPr>
          <a:xfrm>
            <a:off x="822960" y="1508760"/>
            <a:ext cx="5440680" cy="3291840"/>
          </a:xfrm>
          <a:prstGeom prst="rect">
            <a:avLst/>
          </a:prstGeom>
        </p:spPr>
      </p:pic>
      <p:sp>
        <p:nvSpPr>
          <p:cNvPr id="10" name="Text 7"/>
          <p:cNvSpPr/>
          <p:nvPr>
            <p:custDataLst>
              <p:tags r:id="rId5"/>
            </p:custDataLst>
          </p:nvPr>
        </p:nvSpPr>
        <p:spPr>
          <a:xfrm>
            <a:off x="868680" y="4892040"/>
            <a:ext cx="5394960" cy="1417320"/>
          </a:xfrm>
          <a:prstGeom prst="rect">
            <a:avLst/>
          </a:prstGeom>
          <a:noFill/>
        </p:spPr>
        <p:txBody>
          <a:bodyPr wrap="square" rtlCol="0" anchor="t"/>
          <a:lstStyle/>
          <a:p>
            <a:pPr marL="228600" indent="-228600">
              <a:spcAft>
                <a:spcPts val="600"/>
              </a:spcAft>
              <a:buSzPct val="100000"/>
              <a:buChar char="•"/>
            </a:pPr>
            <a:r>
              <a:rPr lang="en-US" sz="1400" dirty="0">
                <a:solidFill>
                  <a:srgbClr val="111827"/>
                </a:solidFill>
                <a:latin typeface="华文中宋" panose="02010600040101010101" charset="-122"/>
                <a:ea typeface="华文中宋" panose="02010600040101010101" charset="-122"/>
                <a:cs typeface="华文中宋" panose="02010600040101010101" charset="-122"/>
              </a:rPr>
              <a:t>现象</a:t>
            </a:r>
            <a:endParaRPr lang="en-US" sz="1400"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sz="1400" dirty="0">
                <a:solidFill>
                  <a:srgbClr val="111827"/>
                </a:solidFill>
                <a:latin typeface="华文中宋" panose="02010600040101010101" charset="-122"/>
                <a:ea typeface="华文中宋" panose="02010600040101010101" charset="-122"/>
                <a:cs typeface="华文中宋" panose="02010600040101010101" charset="-122"/>
              </a:rPr>
              <a:t>肘部法不明显：数据连续变化，不存在天然“清晰分群”</a:t>
            </a:r>
            <a:endParaRPr lang="en-US" sz="1400" dirty="0">
              <a:latin typeface="华文中宋" panose="02010600040101010101" charset="-122"/>
              <a:ea typeface="华文中宋" panose="02010600040101010101" charset="-122"/>
              <a:cs typeface="华文中宋" panose="02010600040101010101" charset="-122"/>
            </a:endParaRPr>
          </a:p>
          <a:p>
            <a:pPr marL="228600" indent="-228600">
              <a:spcAft>
                <a:spcPts val="600"/>
              </a:spcAft>
              <a:buSzPct val="100000"/>
              <a:buChar char="•"/>
            </a:pPr>
            <a:r>
              <a:rPr lang="en-US" sz="1400" dirty="0">
                <a:solidFill>
                  <a:srgbClr val="111827"/>
                </a:solidFill>
                <a:latin typeface="华文中宋" panose="02010600040101010101" charset="-122"/>
                <a:ea typeface="华文中宋" panose="02010600040101010101" charset="-122"/>
                <a:cs typeface="华文中宋" panose="02010600040101010101" charset="-122"/>
              </a:rPr>
              <a:t>选择 K</a:t>
            </a:r>
            <a:endParaRPr lang="en-US" sz="1400"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sz="1400" dirty="0">
                <a:solidFill>
                  <a:srgbClr val="111827"/>
                </a:solidFill>
                <a:latin typeface="华文中宋" panose="02010600040101010101" charset="-122"/>
                <a:ea typeface="华文中宋" panose="02010600040101010101" charset="-122"/>
                <a:cs typeface="华文中宋" panose="02010600040101010101" charset="-122"/>
              </a:rPr>
              <a:t>用轮廓系数作为主要指标，取 K=2</a:t>
            </a:r>
            <a:endParaRPr lang="en-US" sz="1400" dirty="0">
              <a:latin typeface="华文中宋" panose="02010600040101010101" charset="-122"/>
              <a:ea typeface="华文中宋" panose="02010600040101010101" charset="-122"/>
              <a:cs typeface="华文中宋" panose="02010600040101010101" charset="-122"/>
            </a:endParaRPr>
          </a:p>
        </p:txBody>
      </p:sp>
      <p:sp>
        <p:nvSpPr>
          <p:cNvPr id="11" name="Shape 8"/>
          <p:cNvSpPr/>
          <p:nvPr>
            <p:custDataLst>
              <p:tags r:id="rId6"/>
            </p:custDataLst>
          </p:nvPr>
        </p:nvSpPr>
        <p:spPr>
          <a:xfrm>
            <a:off x="6492240" y="960120"/>
            <a:ext cx="5696585" cy="5778500"/>
          </a:xfrm>
          <a:prstGeom prst="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12" name="Text 9"/>
          <p:cNvSpPr/>
          <p:nvPr>
            <p:custDataLst>
              <p:tags r:id="rId7"/>
            </p:custDataLst>
          </p:nvPr>
        </p:nvSpPr>
        <p:spPr>
          <a:xfrm>
            <a:off x="6812280" y="1143000"/>
            <a:ext cx="5120640" cy="320040"/>
          </a:xfrm>
          <a:prstGeom prst="rect">
            <a:avLst/>
          </a:prstGeom>
          <a:noFill/>
        </p:spPr>
        <p:txBody>
          <a:bodyPr wrap="square" rtlCol="0" anchor="ctr"/>
          <a:lstStyle/>
          <a:p>
            <a:pPr marL="0" indent="0">
              <a:buNone/>
            </a:pPr>
            <a:r>
              <a:rPr lang="en-US" sz="1600" b="1" dirty="0">
                <a:solidFill>
                  <a:srgbClr val="0B2D4A"/>
                </a:solidFill>
                <a:latin typeface="华文中宋" panose="02010600040101010101" charset="-122"/>
                <a:ea typeface="华文中宋" panose="02010600040101010101" charset="-122"/>
                <a:cs typeface="华文中宋" panose="02010600040101010101" charset="-122"/>
              </a:rPr>
              <a:t>优化后：轮廓系数提升到约 0.48（K=2）</a:t>
            </a:r>
            <a:endParaRPr lang="en-US" sz="1600" dirty="0">
              <a:latin typeface="华文中宋" panose="02010600040101010101" charset="-122"/>
              <a:ea typeface="华文中宋" panose="02010600040101010101" charset="-122"/>
              <a:cs typeface="华文中宋" panose="02010600040101010101" charset="-122"/>
            </a:endParaRPr>
          </a:p>
        </p:txBody>
      </p:sp>
      <p:pic>
        <p:nvPicPr>
          <p:cNvPr id="13" name="Image 1" descr="/mnt/data/slide_assets/kmeans_sil_improved3.png"/>
          <p:cNvPicPr>
            <a:picLocks noChangeAspect="1"/>
          </p:cNvPicPr>
          <p:nvPr>
            <p:custDataLst>
              <p:tags r:id="rId8"/>
            </p:custDataLst>
          </p:nvPr>
        </p:nvPicPr>
        <p:blipFill>
          <a:blip r:embed="rId9"/>
          <a:stretch>
            <a:fillRect/>
          </a:stretch>
        </p:blipFill>
        <p:spPr>
          <a:xfrm>
            <a:off x="6812280" y="1508760"/>
            <a:ext cx="5166360" cy="3291840"/>
          </a:xfrm>
          <a:prstGeom prst="rect">
            <a:avLst/>
          </a:prstGeom>
        </p:spPr>
      </p:pic>
      <p:sp>
        <p:nvSpPr>
          <p:cNvPr id="14" name="Text 10"/>
          <p:cNvSpPr/>
          <p:nvPr>
            <p:custDataLst>
              <p:tags r:id="rId10"/>
            </p:custDataLst>
          </p:nvPr>
        </p:nvSpPr>
        <p:spPr>
          <a:xfrm>
            <a:off x="6858000" y="4892040"/>
            <a:ext cx="6003925" cy="1417320"/>
          </a:xfrm>
          <a:prstGeom prst="rect">
            <a:avLst/>
          </a:prstGeom>
          <a:noFill/>
        </p:spPr>
        <p:txBody>
          <a:bodyPr wrap="square" rtlCol="0" anchor="t"/>
          <a:lstStyle/>
          <a:p>
            <a:pPr marL="228600" indent="-228600">
              <a:spcAft>
                <a:spcPts val="600"/>
              </a:spcAft>
              <a:buSzPct val="100000"/>
              <a:buChar char="•"/>
            </a:pPr>
            <a:r>
              <a:rPr lang="en-US" sz="1400" dirty="0">
                <a:solidFill>
                  <a:srgbClr val="111827"/>
                </a:solidFill>
                <a:latin typeface="华文中宋" panose="02010600040101010101" charset="-122"/>
                <a:ea typeface="华文中宋" panose="02010600040101010101" charset="-122"/>
                <a:cs typeface="华文中宋" panose="02010600040101010101" charset="-122"/>
              </a:rPr>
              <a:t>优化 1：RobustScaler</a:t>
            </a:r>
            <a:endParaRPr lang="en-US" sz="1400"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sz="1400" dirty="0">
                <a:solidFill>
                  <a:srgbClr val="111827"/>
                </a:solidFill>
                <a:latin typeface="华文中宋" panose="02010600040101010101" charset="-122"/>
                <a:ea typeface="华文中宋" panose="02010600040101010101" charset="-122"/>
                <a:cs typeface="华文中宋" panose="02010600040101010101" charset="-122"/>
              </a:rPr>
              <a:t>降低异常值对距离的干扰</a:t>
            </a:r>
            <a:endParaRPr lang="en-US" sz="1400" dirty="0">
              <a:latin typeface="华文中宋" panose="02010600040101010101" charset="-122"/>
              <a:ea typeface="华文中宋" panose="02010600040101010101" charset="-122"/>
              <a:cs typeface="华文中宋" panose="02010600040101010101" charset="-122"/>
            </a:endParaRPr>
          </a:p>
          <a:p>
            <a:pPr marL="228600" indent="-228600">
              <a:spcAft>
                <a:spcPts val="600"/>
              </a:spcAft>
              <a:buSzPct val="100000"/>
              <a:buChar char="•"/>
            </a:pPr>
            <a:r>
              <a:rPr lang="en-US" sz="1400" dirty="0">
                <a:solidFill>
                  <a:srgbClr val="111827"/>
                </a:solidFill>
                <a:latin typeface="华文中宋" panose="02010600040101010101" charset="-122"/>
                <a:ea typeface="华文中宋" panose="02010600040101010101" charset="-122"/>
                <a:cs typeface="华文中宋" panose="02010600040101010101" charset="-122"/>
              </a:rPr>
              <a:t>优化 2：PCA → 7 维（保留 95% 方差）再聚类</a:t>
            </a:r>
            <a:endParaRPr lang="en-US" sz="1400"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sz="1400" dirty="0">
                <a:solidFill>
                  <a:srgbClr val="111827"/>
                </a:solidFill>
                <a:latin typeface="华文中宋" panose="02010600040101010101" charset="-122"/>
                <a:ea typeface="华文中宋" panose="02010600040101010101" charset="-122"/>
                <a:cs typeface="华文中宋" panose="02010600040101010101" charset="-122"/>
              </a:rPr>
              <a:t>减少噪声维度，提高距离有效性</a:t>
            </a:r>
            <a:endParaRPr lang="en-US" sz="1400" dirty="0">
              <a:latin typeface="华文中宋" panose="02010600040101010101" charset="-122"/>
              <a:ea typeface="华文中宋" panose="02010600040101010101" charset="-122"/>
              <a:cs typeface="华文中宋" panose="02010600040101010101" charset="-122"/>
            </a:endParaRPr>
          </a:p>
          <a:p>
            <a:pPr indent="0">
              <a:spcAft>
                <a:spcPts val="600"/>
              </a:spcAft>
              <a:buSzPct val="100000"/>
              <a:buNone/>
            </a:pPr>
            <a:endParaRPr lang="en-US" sz="1400" dirty="0">
              <a:latin typeface="华文中宋" panose="02010600040101010101" charset="-122"/>
              <a:ea typeface="华文中宋" panose="02010600040101010101" charset="-122"/>
              <a:cs typeface="华文中宋" panose="02010600040101010101" charset="-122"/>
            </a:endParaRPr>
          </a:p>
        </p:txBody>
      </p:sp>
      <p:sp>
        <p:nvSpPr>
          <p:cNvPr id="15" name="文本框 14"/>
          <p:cNvSpPr txBox="1"/>
          <p:nvPr/>
        </p:nvSpPr>
        <p:spPr>
          <a:xfrm>
            <a:off x="433070" y="146050"/>
            <a:ext cx="6424930" cy="1076325"/>
          </a:xfrm>
          <a:prstGeom prst="rect">
            <a:avLst/>
          </a:prstGeom>
          <a:noFill/>
        </p:spPr>
        <p:txBody>
          <a:bodyPr wrap="square" rtlCol="0">
            <a:spAutoFit/>
          </a:bodyPr>
          <a:p>
            <a:r>
              <a:rPr lang="zh-CN" sz="32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作业四：</a:t>
            </a:r>
            <a:r>
              <a:rPr lang="en-US" altLang="zh-CN" sz="32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K-Means </a:t>
            </a:r>
            <a:r>
              <a:rPr lang="zh-CN" altLang="en-US" sz="32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聚类算法</a:t>
            </a:r>
            <a:endParaRPr lang="en-US" sz="3200" dirty="0"/>
          </a:p>
          <a:p>
            <a:endParaRPr lang="zh-CN" altLang="en-US" sz="3200"/>
          </a:p>
        </p:txBody>
      </p:sp>
      <p:pic>
        <p:nvPicPr>
          <p:cNvPr id="178" name="picture 178"/>
          <p:cNvPicPr>
            <a:picLocks noChangeAspect="1"/>
          </p:cNvPicPr>
          <p:nvPr/>
        </p:nvPicPr>
        <p:blipFill>
          <a:blip r:embed="rId11"/>
          <a:stretch>
            <a:fillRect/>
          </a:stretch>
        </p:blipFill>
        <p:spPr>
          <a:xfrm rot="21600000">
            <a:off x="8973553" y="147713"/>
            <a:ext cx="2514595" cy="609600"/>
          </a:xfrm>
          <a:prstGeom prst="rect">
            <a:avLst/>
          </a:prstGeom>
        </p:spPr>
      </p:pic>
      <p:sp>
        <p:nvSpPr>
          <p:cNvPr id="372" name="path 372"/>
          <p:cNvSpPr/>
          <p:nvPr/>
        </p:nvSpPr>
        <p:spPr>
          <a:xfrm>
            <a:off x="764628" y="921562"/>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pic>
        <p:nvPicPr>
          <p:cNvPr id="24" name="图片 16"/>
          <p:cNvPicPr>
            <a:picLocks noChangeAspect="1"/>
          </p:cNvPicPr>
          <p:nvPr/>
        </p:nvPicPr>
        <p:blipFill>
          <a:blip r:embed="rId12"/>
          <a:stretch>
            <a:fillRect/>
          </a:stretch>
        </p:blipFill>
        <p:spPr>
          <a:xfrm>
            <a:off x="853758" y="6149340"/>
            <a:ext cx="5272405" cy="406400"/>
          </a:xfrm>
          <a:prstGeom prst="rect">
            <a:avLst/>
          </a:prstGeom>
          <a:noFill/>
          <a:ln>
            <a:noFill/>
          </a:ln>
        </p:spPr>
      </p:pic>
      <p:pic>
        <p:nvPicPr>
          <p:cNvPr id="35" name="图片 26"/>
          <p:cNvPicPr>
            <a:picLocks noChangeAspect="1"/>
          </p:cNvPicPr>
          <p:nvPr/>
        </p:nvPicPr>
        <p:blipFill>
          <a:blip r:embed="rId13"/>
          <a:stretch>
            <a:fillRect/>
          </a:stretch>
        </p:blipFill>
        <p:spPr>
          <a:xfrm>
            <a:off x="6619558" y="6107430"/>
            <a:ext cx="5264785" cy="44831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 name="图片 25"/>
          <p:cNvPicPr>
            <a:picLocks noChangeAspect="1"/>
          </p:cNvPicPr>
          <p:nvPr/>
        </p:nvPicPr>
        <p:blipFill>
          <a:blip r:embed="rId1"/>
          <a:stretch>
            <a:fillRect/>
          </a:stretch>
        </p:blipFill>
        <p:spPr>
          <a:xfrm>
            <a:off x="230505" y="2083435"/>
            <a:ext cx="5935345" cy="3613785"/>
          </a:xfrm>
          <a:prstGeom prst="rect">
            <a:avLst/>
          </a:prstGeom>
          <a:noFill/>
          <a:ln>
            <a:noFill/>
          </a:ln>
        </p:spPr>
      </p:pic>
      <p:sp>
        <p:nvSpPr>
          <p:cNvPr id="2" name="文本框 1"/>
          <p:cNvSpPr txBox="1"/>
          <p:nvPr/>
        </p:nvSpPr>
        <p:spPr>
          <a:xfrm>
            <a:off x="956945" y="1347470"/>
            <a:ext cx="4298950" cy="398780"/>
          </a:xfrm>
          <a:prstGeom prst="rect">
            <a:avLst/>
          </a:prstGeom>
          <a:noFill/>
        </p:spPr>
        <p:txBody>
          <a:bodyPr wrap="square" rtlCol="0">
            <a:spAutoFit/>
          </a:bodyPr>
          <a:p>
            <a:r>
              <a:rPr lang="zh-CN" altLang="en-US" sz="2000">
                <a:latin typeface="华文中宋" panose="02010600040101010101" charset="-122"/>
                <a:ea typeface="华文中宋" panose="02010600040101010101" charset="-122"/>
                <a:cs typeface="华文中宋" panose="02010600040101010101" charset="-122"/>
              </a:rPr>
              <a:t>优化</a:t>
            </a:r>
            <a:r>
              <a:rPr lang="en-US" altLang="zh-CN" sz="2000">
                <a:latin typeface="华文中宋" panose="02010600040101010101" charset="-122"/>
                <a:ea typeface="华文中宋" panose="02010600040101010101" charset="-122"/>
                <a:cs typeface="华文中宋" panose="02010600040101010101" charset="-122"/>
              </a:rPr>
              <a:t>3</a:t>
            </a:r>
            <a:r>
              <a:rPr lang="zh-CN" altLang="en-US" sz="2000">
                <a:latin typeface="华文中宋" panose="02010600040101010101" charset="-122"/>
                <a:ea typeface="华文中宋" panose="02010600040101010101" charset="-122"/>
                <a:cs typeface="华文中宋" panose="02010600040101010101" charset="-122"/>
              </a:rPr>
              <a:t>：引入轮廓系数分布图</a:t>
            </a:r>
            <a:endParaRPr lang="zh-CN" altLang="en-US" sz="2000">
              <a:latin typeface="华文中宋" panose="02010600040101010101" charset="-122"/>
              <a:ea typeface="华文中宋" panose="02010600040101010101" charset="-122"/>
              <a:cs typeface="华文中宋" panose="02010600040101010101" charset="-122"/>
            </a:endParaRPr>
          </a:p>
        </p:txBody>
      </p:sp>
      <p:sp>
        <p:nvSpPr>
          <p:cNvPr id="3" name="文本框 2"/>
          <p:cNvSpPr txBox="1"/>
          <p:nvPr/>
        </p:nvSpPr>
        <p:spPr>
          <a:xfrm>
            <a:off x="628015" y="175260"/>
            <a:ext cx="6096000" cy="1076325"/>
          </a:xfrm>
          <a:prstGeom prst="rect">
            <a:avLst/>
          </a:prstGeom>
          <a:noFill/>
        </p:spPr>
        <p:txBody>
          <a:bodyPr wrap="square" rtlCol="0" anchor="t">
            <a:spAutoFit/>
          </a:bodyPr>
          <a:p>
            <a:r>
              <a:rPr lang="zh-CN" sz="32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作业四：</a:t>
            </a:r>
            <a:r>
              <a:rPr lang="en-US" altLang="zh-CN" sz="32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K-Means </a:t>
            </a:r>
            <a:r>
              <a:rPr lang="zh-CN" altLang="en-US" sz="32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聚类算法</a:t>
            </a:r>
            <a:endParaRPr lang="en-US" sz="3200" dirty="0"/>
          </a:p>
          <a:p>
            <a:endParaRPr lang="en-US" altLang="en-US" sz="3200" dirty="0"/>
          </a:p>
        </p:txBody>
      </p:sp>
      <p:pic>
        <p:nvPicPr>
          <p:cNvPr id="178" name="picture 178"/>
          <p:cNvPicPr>
            <a:picLocks noChangeAspect="1"/>
          </p:cNvPicPr>
          <p:nvPr/>
        </p:nvPicPr>
        <p:blipFill>
          <a:blip r:embed="rId2"/>
          <a:stretch>
            <a:fillRect/>
          </a:stretch>
        </p:blipFill>
        <p:spPr>
          <a:xfrm rot="21600000">
            <a:off x="8973553" y="147713"/>
            <a:ext cx="2514595" cy="609600"/>
          </a:xfrm>
          <a:prstGeom prst="rect">
            <a:avLst/>
          </a:prstGeom>
        </p:spPr>
      </p:pic>
      <p:sp>
        <p:nvSpPr>
          <p:cNvPr id="372" name="path 372"/>
          <p:cNvSpPr/>
          <p:nvPr/>
        </p:nvSpPr>
        <p:spPr>
          <a:xfrm>
            <a:off x="764628" y="921562"/>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
        <p:nvSpPr>
          <p:cNvPr id="4" name="文本框 3"/>
          <p:cNvSpPr txBox="1"/>
          <p:nvPr/>
        </p:nvSpPr>
        <p:spPr>
          <a:xfrm>
            <a:off x="6472555" y="1347787"/>
            <a:ext cx="5080000" cy="2927985"/>
          </a:xfrm>
          <a:prstGeom prst="rect">
            <a:avLst/>
          </a:prstGeom>
        </p:spPr>
        <p:txBody>
          <a:bodyPr>
            <a:spAutoFit/>
          </a:bodyPr>
          <a:p>
            <a:pPr marL="0" indent="0" algn="l" defTabSz="266700">
              <a:lnSpc>
                <a:spcPct val="150000"/>
              </a:lnSpc>
              <a:spcBef>
                <a:spcPct val="0"/>
              </a:spcBef>
              <a:spcAft>
                <a:spcPct val="0"/>
              </a:spcAft>
            </a:pPr>
            <a:r>
              <a:rPr lang="zh-CN" altLang="en-US" sz="1600" b="0">
                <a:latin typeface="华文中宋" panose="02010600040101010101" charset="-122"/>
                <a:ea typeface="华文中宋" panose="02010600040101010101" charset="-122"/>
                <a:cs typeface="华文中宋" panose="02010600040101010101" charset="-122"/>
              </a:rPr>
              <a:t>传统的聚类评估通常只关注平均轮廓系数等单一数值指标，但该指标无法反映不同簇内部样本的分布情况，也难以判断是否存在局部聚类不合理的问题。</a:t>
            </a:r>
            <a:endParaRPr lang="zh-CN" altLang="en-US" sz="1600" b="0">
              <a:latin typeface="华文中宋" panose="02010600040101010101" charset="-122"/>
              <a:ea typeface="华文中宋" panose="02010600040101010101" charset="-122"/>
              <a:cs typeface="华文中宋" panose="02010600040101010101" charset="-122"/>
            </a:endParaRPr>
          </a:p>
          <a:p>
            <a:pPr marL="0" indent="0" algn="l" defTabSz="266700">
              <a:lnSpc>
                <a:spcPct val="150000"/>
              </a:lnSpc>
              <a:spcBef>
                <a:spcPts val="500"/>
              </a:spcBef>
              <a:spcAft>
                <a:spcPts val="500"/>
              </a:spcAft>
            </a:pPr>
            <a:r>
              <a:rPr lang="zh-CN" altLang="en-US" sz="1600" b="0">
                <a:latin typeface="华文中宋" panose="02010600040101010101" charset="-122"/>
                <a:ea typeface="华文中宋" panose="02010600040101010101" charset="-122"/>
                <a:cs typeface="华文中宋" panose="02010600040101010101" charset="-122"/>
              </a:rPr>
              <a:t>因此，在原有“轮廓系数随 </a:t>
            </a:r>
            <a:r>
              <a:rPr lang="en-US" altLang="zh-CN" sz="1600" b="0">
                <a:latin typeface="华文中宋" panose="02010600040101010101" charset="-122"/>
                <a:ea typeface="华文中宋" panose="02010600040101010101" charset="-122"/>
                <a:cs typeface="华文中宋" panose="02010600040101010101" charset="-122"/>
              </a:rPr>
              <a:t>K </a:t>
            </a:r>
            <a:r>
              <a:rPr lang="zh-CN" altLang="en-US" sz="1600" b="0">
                <a:latin typeface="华文中宋" panose="02010600040101010101" charset="-122"/>
                <a:ea typeface="华文中宋" panose="02010600040101010101" charset="-122"/>
                <a:cs typeface="华文中宋" panose="02010600040101010101" charset="-122"/>
              </a:rPr>
              <a:t>变化曲线”的基础上，本实验进一步引入 轮廓系数分布图（</a:t>
            </a:r>
            <a:r>
              <a:rPr lang="en-US" altLang="zh-CN" sz="1600" b="0">
                <a:latin typeface="华文中宋" panose="02010600040101010101" charset="-122"/>
                <a:ea typeface="华文中宋" panose="02010600040101010101" charset="-122"/>
                <a:cs typeface="华文中宋" panose="02010600040101010101" charset="-122"/>
              </a:rPr>
              <a:t>Silhouette Plot</a:t>
            </a:r>
            <a:r>
              <a:rPr lang="zh-CN" altLang="en-US" sz="1600" b="0">
                <a:latin typeface="华文中宋" panose="02010600040101010101" charset="-122"/>
                <a:ea typeface="华文中宋" panose="02010600040101010101" charset="-122"/>
                <a:cs typeface="华文中宋" panose="02010600040101010101" charset="-122"/>
              </a:rPr>
              <a:t>），对每个样本的轮廓系数进行可视化展示。</a:t>
            </a:r>
            <a:endParaRPr lang="zh-CN" altLang="en-US" sz="1600" b="0">
              <a:latin typeface="华文中宋" panose="02010600040101010101" charset="-122"/>
              <a:ea typeface="华文中宋" panose="02010600040101010101" charset="-122"/>
              <a:cs typeface="华文中宋" panose="02010600040101010101" charset="-122"/>
            </a:endParaRPr>
          </a:p>
          <a:p>
            <a:pPr defTabSz="266700"/>
            <a:r>
              <a:rPr lang="zh-CN" altLang="en-US" sz="1600" b="0">
                <a:latin typeface="华文中宋" panose="02010600040101010101" charset="-122"/>
                <a:ea typeface="华文中宋" panose="02010600040101010101" charset="-122"/>
                <a:cs typeface="华文中宋" panose="02010600040101010101" charset="-122"/>
              </a:rPr>
              <a:t>该方法能够从样本层面观察各簇的内部一致性以及不同簇之间的分离程度。</a:t>
            </a:r>
            <a:endParaRPr lang="zh-CN" altLang="en-US" sz="1600" b="0">
              <a:latin typeface="华文中宋" panose="02010600040101010101" charset="-122"/>
              <a:ea typeface="华文中宋" panose="02010600040101010101" charset="-122"/>
              <a:cs typeface="华文中宋" panose="02010600040101010101" charset="-122"/>
            </a:endParaRPr>
          </a:p>
        </p:txBody>
      </p:sp>
      <p:sp>
        <p:nvSpPr>
          <p:cNvPr id="5" name="文本框 4"/>
          <p:cNvSpPr txBox="1"/>
          <p:nvPr/>
        </p:nvSpPr>
        <p:spPr>
          <a:xfrm>
            <a:off x="6408420" y="4509770"/>
            <a:ext cx="5080000" cy="1938020"/>
          </a:xfrm>
          <a:prstGeom prst="rect">
            <a:avLst/>
          </a:prstGeom>
        </p:spPr>
        <p:txBody>
          <a:bodyPr>
            <a:spAutoFit/>
          </a:bodyPr>
          <a:p>
            <a:pPr marL="0" indent="0" algn="l" defTabSz="266700">
              <a:lnSpc>
                <a:spcPct val="150000"/>
              </a:lnSpc>
              <a:spcBef>
                <a:spcPct val="0"/>
              </a:spcBef>
              <a:spcAft>
                <a:spcPct val="0"/>
              </a:spcAft>
            </a:pPr>
            <a:r>
              <a:rPr lang="zh-CN" altLang="en-US" sz="1600">
                <a:latin typeface="华文中宋" panose="02010600040101010101" charset="-122"/>
                <a:ea typeface="华文中宋" panose="02010600040101010101" charset="-122"/>
                <a:cs typeface="华文中宋" panose="02010600040101010101" charset="-122"/>
              </a:rPr>
              <a:t>从轮廓系数分布图可以观察到，在 </a:t>
            </a:r>
            <a:r>
              <a:rPr lang="en-US" altLang="zh-CN" sz="1600">
                <a:latin typeface="华文中宋" panose="02010600040101010101" charset="-122"/>
                <a:ea typeface="华文中宋" panose="02010600040101010101" charset="-122"/>
                <a:cs typeface="华文中宋" panose="02010600040101010101" charset="-122"/>
              </a:rPr>
              <a:t>K=2 </a:t>
            </a:r>
            <a:r>
              <a:rPr lang="zh-CN" altLang="en-US" sz="1600">
                <a:latin typeface="华文中宋" panose="02010600040101010101" charset="-122"/>
                <a:ea typeface="华文中宋" panose="02010600040101010101" charset="-122"/>
                <a:cs typeface="华文中宋" panose="02010600040101010101" charset="-122"/>
              </a:rPr>
              <a:t>的情况下，两类样本的轮廓系数大多为正值，且集中分布在较高区间，几乎不存在明显的负值样本。这表明改进后的聚类结果不仅在平均指标上表现良好，在样本层面同样具有较高的一致性和稳定性。</a:t>
            </a:r>
            <a:endParaRPr lang="zh-CN" altLang="en-US" sz="1600">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146304"/>
            <a:ext cx="11155680" cy="329184"/>
          </a:xfrm>
          <a:prstGeom prst="rect">
            <a:avLst/>
          </a:prstGeom>
          <a:noFill/>
        </p:spPr>
        <p:txBody>
          <a:bodyPr wrap="square" rtlCol="0" anchor="ctr"/>
          <a:lstStyle/>
          <a:p>
            <a:pPr marL="0" indent="0">
              <a:buNone/>
            </a:pPr>
            <a:r>
              <a:rPr lang="en-US" sz="2000" b="1" dirty="0">
                <a:solidFill>
                  <a:srgbClr val="FFFFFF"/>
                </a:solidFill>
                <a:latin typeface="微软雅黑" panose="020B0503020204020204" charset="-122"/>
                <a:ea typeface="微软雅黑" panose="020B0503020204020204" charset="-122"/>
                <a:cs typeface="微软雅黑" panose="020B0503020204020204" pitchFamily="34" charset="-120"/>
              </a:rPr>
              <a:t>K-Means 可解释性｜PCA 可视化 + 聚类中心画像</a:t>
            </a:r>
            <a:endParaRPr lang="en-US" sz="2000" dirty="0"/>
          </a:p>
        </p:txBody>
      </p:sp>
      <p:sp>
        <p:nvSpPr>
          <p:cNvPr id="7" name="Shape 5"/>
          <p:cNvSpPr/>
          <p:nvPr/>
        </p:nvSpPr>
        <p:spPr>
          <a:xfrm>
            <a:off x="502920" y="960120"/>
            <a:ext cx="6720840" cy="5349240"/>
          </a:xfrm>
          <a:prstGeom prst="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8" name="Text 6"/>
          <p:cNvSpPr/>
          <p:nvPr/>
        </p:nvSpPr>
        <p:spPr>
          <a:xfrm>
            <a:off x="822960" y="1143000"/>
            <a:ext cx="6035040" cy="274320"/>
          </a:xfrm>
          <a:prstGeom prst="rect">
            <a:avLst/>
          </a:prstGeom>
          <a:noFill/>
        </p:spPr>
        <p:txBody>
          <a:bodyPr wrap="square" rtlCol="0" anchor="ctr"/>
          <a:lstStyle/>
          <a:p>
            <a:pPr marL="0" indent="0">
              <a:buNone/>
            </a:pPr>
            <a:r>
              <a:rPr lang="en-US" sz="1800" b="1" dirty="0">
                <a:solidFill>
                  <a:srgbClr val="0B2D4A"/>
                </a:solidFill>
                <a:latin typeface="微软雅黑" panose="020B0503020204020204" charset="-122"/>
                <a:ea typeface="微软雅黑" panose="020B0503020204020204" charset="-122"/>
                <a:cs typeface="微软雅黑" panose="020B0503020204020204" pitchFamily="34" charset="-120"/>
              </a:rPr>
              <a:t>PCA 二维投影（K=2）</a:t>
            </a:r>
            <a:endParaRPr lang="en-US" sz="1800" dirty="0"/>
          </a:p>
        </p:txBody>
      </p:sp>
      <p:pic>
        <p:nvPicPr>
          <p:cNvPr id="9" name="Image 0" descr="/mnt/data/slide_assets/kmeans_pca.png"/>
          <p:cNvPicPr>
            <a:picLocks noChangeAspect="1"/>
          </p:cNvPicPr>
          <p:nvPr/>
        </p:nvPicPr>
        <p:blipFill>
          <a:blip r:embed="rId1"/>
          <a:stretch>
            <a:fillRect/>
          </a:stretch>
        </p:blipFill>
        <p:spPr>
          <a:xfrm>
            <a:off x="822960" y="1804670"/>
            <a:ext cx="6355080" cy="3749040"/>
          </a:xfrm>
          <a:prstGeom prst="rect">
            <a:avLst/>
          </a:prstGeom>
        </p:spPr>
      </p:pic>
      <p:sp>
        <p:nvSpPr>
          <p:cNvPr id="10" name="Shape 7"/>
          <p:cNvSpPr/>
          <p:nvPr/>
        </p:nvSpPr>
        <p:spPr>
          <a:xfrm>
            <a:off x="7406640" y="960120"/>
            <a:ext cx="4782312" cy="5349240"/>
          </a:xfrm>
          <a:prstGeom prst="rect">
            <a:avLst/>
          </a:prstGeom>
          <a:solidFill>
            <a:srgbClr val="FFFFFF"/>
          </a:solidFill>
          <a:ln w="12700">
            <a:solidFill>
              <a:srgbClr val="E5E7EB"/>
            </a:solidFill>
            <a:prstDash val="solid"/>
          </a:ln>
          <a:effectLst>
            <a:outerShdw blurRad="38100" dist="19050" dir="2700000" algn="bl" rotWithShape="0">
              <a:srgbClr val="000000">
                <a:alpha val="12000"/>
              </a:srgbClr>
            </a:outerShdw>
          </a:effectLst>
        </p:spPr>
      </p:sp>
      <p:sp>
        <p:nvSpPr>
          <p:cNvPr id="11" name="Text 8"/>
          <p:cNvSpPr/>
          <p:nvPr/>
        </p:nvSpPr>
        <p:spPr>
          <a:xfrm>
            <a:off x="7726680" y="1143000"/>
            <a:ext cx="4206240" cy="274320"/>
          </a:xfrm>
          <a:prstGeom prst="rect">
            <a:avLst/>
          </a:prstGeom>
          <a:noFill/>
        </p:spPr>
        <p:txBody>
          <a:bodyPr wrap="square" rtlCol="0" anchor="ctr"/>
          <a:lstStyle/>
          <a:p>
            <a:pPr marL="0" indent="0">
              <a:buNone/>
            </a:pPr>
            <a:r>
              <a:rPr lang="en-US" b="1" dirty="0">
                <a:solidFill>
                  <a:srgbClr val="0B2D4A"/>
                </a:solidFill>
                <a:latin typeface="华文中宋" panose="02010600040101010101" charset="-122"/>
                <a:ea typeface="华文中宋" panose="02010600040101010101" charset="-122"/>
                <a:cs typeface="微软雅黑" panose="020B0503020204020204" pitchFamily="34" charset="-120"/>
              </a:rPr>
              <a:t>怎么解释两类用户？</a:t>
            </a:r>
            <a:endParaRPr lang="en-US" dirty="0">
              <a:latin typeface="华文中宋" panose="02010600040101010101" charset="-122"/>
              <a:ea typeface="华文中宋" panose="02010600040101010101" charset="-122"/>
            </a:endParaRPr>
          </a:p>
        </p:txBody>
      </p:sp>
      <p:pic>
        <p:nvPicPr>
          <p:cNvPr id="12" name="Image 1" descr="/mnt/data/slide_assets/kmeans_profile4.png"/>
          <p:cNvPicPr>
            <a:picLocks noChangeAspect="1"/>
          </p:cNvPicPr>
          <p:nvPr/>
        </p:nvPicPr>
        <p:blipFill>
          <a:blip r:embed="rId2"/>
          <a:stretch>
            <a:fillRect/>
          </a:stretch>
        </p:blipFill>
        <p:spPr>
          <a:xfrm>
            <a:off x="7726680" y="1508760"/>
            <a:ext cx="4251960" cy="1417320"/>
          </a:xfrm>
          <a:prstGeom prst="rect">
            <a:avLst/>
          </a:prstGeom>
        </p:spPr>
      </p:pic>
      <p:sp>
        <p:nvSpPr>
          <p:cNvPr id="13" name="Text 9"/>
          <p:cNvSpPr/>
          <p:nvPr/>
        </p:nvSpPr>
        <p:spPr>
          <a:xfrm>
            <a:off x="7726680" y="3017520"/>
            <a:ext cx="4343400" cy="3200400"/>
          </a:xfrm>
          <a:prstGeom prst="rect">
            <a:avLst/>
          </a:prstGeom>
          <a:noFill/>
        </p:spPr>
        <p:txBody>
          <a:bodyPr wrap="square" rtlCol="0" anchor="t"/>
          <a:lstStyle/>
          <a:p>
            <a:pPr marL="228600" indent="-228600">
              <a:spcAft>
                <a:spcPts val="6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rPr>
              <a:t>类 1：使用更活跃</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rPr>
              <a:t>消费/交易频率更高</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rPr>
              <a:t>还款与额度使用更明显</a:t>
            </a:r>
            <a:endParaRPr lang="en-US" dirty="0">
              <a:latin typeface="华文中宋" panose="02010600040101010101" charset="-122"/>
              <a:ea typeface="华文中宋" panose="02010600040101010101" charset="-122"/>
              <a:cs typeface="华文中宋" panose="02010600040101010101" charset="-122"/>
            </a:endParaRPr>
          </a:p>
          <a:p>
            <a:pPr marL="228600" indent="-228600">
              <a:spcAft>
                <a:spcPts val="6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rPr>
              <a:t>类 2：使用更保守</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rPr>
              <a:t>整体消费与交易特征较低</a:t>
            </a:r>
            <a:endParaRPr lang="en-US" dirty="0">
              <a:latin typeface="华文中宋" panose="02010600040101010101" charset="-122"/>
              <a:ea typeface="华文中宋" panose="02010600040101010101" charset="-122"/>
              <a:cs typeface="华文中宋" panose="02010600040101010101" charset="-122"/>
            </a:endParaRPr>
          </a:p>
          <a:p>
            <a:pPr marL="228600" indent="-228600">
              <a:spcAft>
                <a:spcPts val="6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rPr>
              <a:t>意义</a:t>
            </a:r>
            <a:endParaRPr lang="en-US" dirty="0">
              <a:latin typeface="华文中宋" panose="02010600040101010101" charset="-122"/>
              <a:ea typeface="华文中宋" panose="02010600040101010101" charset="-122"/>
              <a:cs typeface="华文中宋" panose="02010600040101010101" charset="-122"/>
            </a:endParaRPr>
          </a:p>
          <a:p>
            <a:pPr marL="457200" lvl="1" indent="-228600">
              <a:spcAft>
                <a:spcPts val="600"/>
              </a:spcAft>
              <a:buSzPct val="100000"/>
              <a:buChar char="•"/>
            </a:pPr>
            <a:r>
              <a:rPr lang="en-US" dirty="0">
                <a:solidFill>
                  <a:srgbClr val="111827"/>
                </a:solidFill>
                <a:latin typeface="华文中宋" panose="02010600040101010101" charset="-122"/>
                <a:ea typeface="华文中宋" panose="02010600040101010101" charset="-122"/>
                <a:cs typeface="华文中宋" panose="02010600040101010101" charset="-122"/>
              </a:rPr>
              <a:t>聚类不仅“分开了”，还能从中心画像解释差异</a:t>
            </a:r>
            <a:endParaRPr lang="en-US" dirty="0">
              <a:latin typeface="华文中宋" panose="02010600040101010101" charset="-122"/>
              <a:ea typeface="华文中宋" panose="02010600040101010101" charset="-122"/>
              <a:cs typeface="华文中宋" panose="02010600040101010101" charset="-122"/>
            </a:endParaRPr>
          </a:p>
        </p:txBody>
      </p:sp>
      <p:sp>
        <p:nvSpPr>
          <p:cNvPr id="14" name="文本框 13"/>
          <p:cNvSpPr txBox="1"/>
          <p:nvPr/>
        </p:nvSpPr>
        <p:spPr>
          <a:xfrm>
            <a:off x="563880" y="146050"/>
            <a:ext cx="6235700" cy="709295"/>
          </a:xfrm>
          <a:prstGeom prst="rect">
            <a:avLst/>
          </a:prstGeom>
          <a:noFill/>
        </p:spPr>
        <p:txBody>
          <a:bodyPr wrap="square" rtlCol="0">
            <a:noAutofit/>
          </a:bodyPr>
          <a:p>
            <a:r>
              <a:rPr lang="zh-CN" sz="3200" b="1" kern="0" spc="110" dirty="0">
                <a:solidFill>
                  <a:srgbClr val="000000">
                    <a:alpha val="100000"/>
                  </a:srgbClr>
                </a:solidFill>
                <a:latin typeface="华文中宋" panose="02010600040101010101" charset="-122"/>
                <a:ea typeface="华文中宋" panose="02010600040101010101" charset="-122"/>
                <a:cs typeface="华文中宋" panose="02010600040101010101" charset="-122"/>
                <a:sym typeface="+mn-ea"/>
              </a:rPr>
              <a:t>作业四：</a:t>
            </a:r>
            <a:r>
              <a:rPr lang="en-US" altLang="zh-CN" sz="32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K-Means </a:t>
            </a:r>
            <a:r>
              <a:rPr lang="zh-CN" altLang="en-US" sz="3200" b="1" kern="0" spc="1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聚类算法</a:t>
            </a:r>
            <a:endParaRPr lang="en-US" sz="3200" dirty="0"/>
          </a:p>
          <a:p>
            <a:endParaRPr lang="zh-CN" altLang="en-US" sz="3200"/>
          </a:p>
          <a:p>
            <a:endParaRPr lang="zh-CN" altLang="en-US" sz="3200"/>
          </a:p>
        </p:txBody>
      </p:sp>
      <p:pic>
        <p:nvPicPr>
          <p:cNvPr id="178" name="picture 178"/>
          <p:cNvPicPr>
            <a:picLocks noChangeAspect="1"/>
          </p:cNvPicPr>
          <p:nvPr/>
        </p:nvPicPr>
        <p:blipFill>
          <a:blip r:embed="rId3"/>
          <a:stretch>
            <a:fillRect/>
          </a:stretch>
        </p:blipFill>
        <p:spPr>
          <a:xfrm rot="21600000">
            <a:off x="8973553" y="147713"/>
            <a:ext cx="2514595" cy="609600"/>
          </a:xfrm>
          <a:prstGeom prst="rect">
            <a:avLst/>
          </a:prstGeom>
        </p:spPr>
      </p:pic>
      <p:sp>
        <p:nvSpPr>
          <p:cNvPr id="372" name="path 372"/>
          <p:cNvSpPr/>
          <p:nvPr/>
        </p:nvSpPr>
        <p:spPr>
          <a:xfrm>
            <a:off x="764628" y="921562"/>
            <a:ext cx="10894072" cy="58420"/>
          </a:xfrm>
          <a:custGeom>
            <a:avLst/>
            <a:gdLst/>
            <a:ahLst/>
            <a:cxnLst/>
            <a:rect l="0" t="0" r="0" b="0"/>
            <a:pathLst>
              <a:path w="17156" h="92">
                <a:moveTo>
                  <a:pt x="10" y="82"/>
                </a:moveTo>
                <a:lnTo>
                  <a:pt x="17146" y="82"/>
                </a:lnTo>
                <a:lnTo>
                  <a:pt x="17146" y="10"/>
                </a:lnTo>
                <a:lnTo>
                  <a:pt x="10" y="10"/>
                </a:lnTo>
                <a:lnTo>
                  <a:pt x="10" y="82"/>
                </a:lnTo>
                <a:close/>
              </a:path>
            </a:pathLst>
          </a:custGeom>
          <a:solidFill>
            <a:srgbClr val="000000">
              <a:alpha val="100000"/>
            </a:srgbClr>
          </a:solidFill>
          <a:ln w="12700" cap="flat">
            <a:solidFill>
              <a:srgbClr val="000000"/>
            </a:solidFill>
            <a:prstDash val="solid"/>
            <a:miter lim="800000"/>
          </a:ln>
        </p:spPr>
        <p:txBody>
          <a:bodyPr rtlCol="0"/>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146304"/>
            <a:ext cx="11155680" cy="329184"/>
          </a:xfrm>
          <a:prstGeom prst="rect">
            <a:avLst/>
          </a:prstGeom>
          <a:noFill/>
        </p:spPr>
        <p:txBody>
          <a:bodyPr wrap="square" rtlCol="0" anchor="ctr"/>
          <a:lstStyle/>
          <a:p>
            <a:pPr marL="0" indent="0">
              <a:buNone/>
            </a:pPr>
            <a:r>
              <a:rPr lang="en-US" sz="2000" b="1" dirty="0">
                <a:solidFill>
                  <a:srgbClr val="FFFFFF"/>
                </a:solidFill>
                <a:latin typeface="微软雅黑" panose="020B0503020204020204" charset="-122"/>
                <a:ea typeface="微软雅黑" panose="020B0503020204020204" charset="-122"/>
                <a:cs typeface="微软雅黑" panose="020B0503020204020204" pitchFamily="34" charset="-120"/>
              </a:rPr>
              <a:t>总结｜我在这门课里学到的能力</a:t>
            </a:r>
            <a:endParaRPr lang="en-US" sz="2000" dirty="0"/>
          </a:p>
        </p:txBody>
      </p:sp>
      <p:sp>
        <p:nvSpPr>
          <p:cNvPr id="8" name="Text 6"/>
          <p:cNvSpPr/>
          <p:nvPr/>
        </p:nvSpPr>
        <p:spPr>
          <a:xfrm>
            <a:off x="822960" y="1143000"/>
            <a:ext cx="10972800" cy="365760"/>
          </a:xfrm>
          <a:prstGeom prst="rect">
            <a:avLst/>
          </a:prstGeom>
          <a:noFill/>
        </p:spPr>
        <p:txBody>
          <a:bodyPr wrap="square" rtlCol="0" anchor="ctr"/>
          <a:lstStyle/>
          <a:p>
            <a:pPr marL="0" indent="0">
              <a:buNone/>
            </a:pPr>
            <a:endParaRPr lang="en-US" sz="2200" dirty="0"/>
          </a:p>
        </p:txBody>
      </p:sp>
      <p:sp>
        <p:nvSpPr>
          <p:cNvPr id="9" name="Shape 7"/>
          <p:cNvSpPr/>
          <p:nvPr/>
        </p:nvSpPr>
        <p:spPr>
          <a:xfrm>
            <a:off x="502920" y="987298"/>
            <a:ext cx="10881360" cy="73152"/>
          </a:xfrm>
          <a:prstGeom prst="rect">
            <a:avLst/>
          </a:prstGeom>
          <a:solidFill>
            <a:srgbClr val="0B2D4A"/>
          </a:solidFill>
          <a:ln w="12700">
            <a:solidFill>
              <a:srgbClr val="0B2D4A"/>
            </a:solidFill>
            <a:prstDash val="solid"/>
          </a:ln>
        </p:spPr>
        <p:txBody>
          <a:bodyPr/>
          <a:p>
            <a:endParaRPr lang="zh-CN" altLang="en-US"/>
          </a:p>
        </p:txBody>
      </p:sp>
      <p:sp>
        <p:nvSpPr>
          <p:cNvPr id="10" name="Text 8"/>
          <p:cNvSpPr/>
          <p:nvPr/>
        </p:nvSpPr>
        <p:spPr>
          <a:xfrm>
            <a:off x="960120" y="1457325"/>
            <a:ext cx="10881360" cy="2926080"/>
          </a:xfrm>
          <a:prstGeom prst="rect">
            <a:avLst/>
          </a:prstGeom>
          <a:noFill/>
        </p:spPr>
        <p:txBody>
          <a:bodyPr wrap="square" rtlCol="0" anchor="t"/>
          <a:lstStyle/>
          <a:p>
            <a:pPr marL="279400" indent="-279400">
              <a:spcAft>
                <a:spcPts val="8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数据库能力：</a:t>
            </a:r>
            <a:endParaRPr lang="en-US" sz="2000" dirty="0">
              <a:latin typeface="华文中宋" panose="02010600040101010101" charset="-122"/>
              <a:ea typeface="华文中宋" panose="02010600040101010101" charset="-122"/>
              <a:cs typeface="华文中宋" panose="02010600040101010101" charset="-122"/>
            </a:endParaRPr>
          </a:p>
          <a:p>
            <a:pPr marL="558800" lvl="1" indent="-279400">
              <a:spcAft>
                <a:spcPts val="8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能独立搭建 MySQL / MongoDB 环境，并完成基本操作与对比理解</a:t>
            </a:r>
            <a:endParaRPr lang="en-US" sz="2000" dirty="0">
              <a:latin typeface="华文中宋" panose="02010600040101010101" charset="-122"/>
              <a:ea typeface="华文中宋" panose="02010600040101010101" charset="-122"/>
              <a:cs typeface="华文中宋" panose="02010600040101010101" charset="-122"/>
            </a:endParaRPr>
          </a:p>
          <a:p>
            <a:pPr marL="279400" indent="-279400">
              <a:spcAft>
                <a:spcPts val="8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算法能力：</a:t>
            </a:r>
            <a:endParaRPr lang="en-US" sz="2000" dirty="0">
              <a:latin typeface="华文中宋" panose="02010600040101010101" charset="-122"/>
              <a:ea typeface="华文中宋" panose="02010600040101010101" charset="-122"/>
              <a:cs typeface="华文中宋" panose="02010600040101010101" charset="-122"/>
            </a:endParaRPr>
          </a:p>
          <a:p>
            <a:pPr marL="558800" lvl="1" indent="-279400">
              <a:spcAft>
                <a:spcPts val="8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能从零实现 ID3 与 K-Means，并用交叉验证/指标/可视化评估</a:t>
            </a:r>
            <a:endParaRPr lang="en-US" sz="2000" dirty="0">
              <a:latin typeface="华文中宋" panose="02010600040101010101" charset="-122"/>
              <a:ea typeface="华文中宋" panose="02010600040101010101" charset="-122"/>
              <a:cs typeface="华文中宋" panose="02010600040101010101" charset="-122"/>
            </a:endParaRPr>
          </a:p>
          <a:p>
            <a:pPr marL="279400" indent="-279400">
              <a:spcAft>
                <a:spcPts val="8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工程与思维：</a:t>
            </a:r>
            <a:endParaRPr lang="en-US" sz="2000" dirty="0">
              <a:latin typeface="华文中宋" panose="02010600040101010101" charset="-122"/>
              <a:ea typeface="华文中宋" panose="02010600040101010101" charset="-122"/>
              <a:cs typeface="华文中宋" panose="02010600040101010101" charset="-122"/>
            </a:endParaRPr>
          </a:p>
          <a:p>
            <a:pPr marL="558800" lvl="1" indent="-279400">
              <a:spcAft>
                <a:spcPts val="800"/>
              </a:spcAft>
              <a:buSzPct val="100000"/>
              <a:buChar char="•"/>
            </a:pPr>
            <a:r>
              <a:rPr lang="en-US" sz="2000" dirty="0">
                <a:solidFill>
                  <a:srgbClr val="111827"/>
                </a:solidFill>
                <a:latin typeface="华文中宋" panose="02010600040101010101" charset="-122"/>
                <a:ea typeface="华文中宋" panose="02010600040101010101" charset="-122"/>
                <a:cs typeface="华文中宋" panose="02010600040101010101" charset="-122"/>
              </a:rPr>
              <a:t>知道如何处理过拟合、异常值、高维噪声，并提出改进</a:t>
            </a:r>
            <a:endParaRPr lang="en-US" sz="2000" dirty="0">
              <a:latin typeface="华文中宋" panose="02010600040101010101" charset="-122"/>
              <a:ea typeface="华文中宋" panose="02010600040101010101" charset="-122"/>
              <a:cs typeface="华文中宋" panose="02010600040101010101" charset="-122"/>
            </a:endParaRPr>
          </a:p>
        </p:txBody>
      </p:sp>
      <p:pic>
        <p:nvPicPr>
          <p:cNvPr id="178" name="picture 178"/>
          <p:cNvPicPr>
            <a:picLocks noChangeAspect="1"/>
          </p:cNvPicPr>
          <p:nvPr/>
        </p:nvPicPr>
        <p:blipFill>
          <a:blip r:embed="rId1"/>
          <a:stretch>
            <a:fillRect/>
          </a:stretch>
        </p:blipFill>
        <p:spPr>
          <a:xfrm rot="21600000">
            <a:off x="8973553" y="147713"/>
            <a:ext cx="2514595" cy="609600"/>
          </a:xfrm>
          <a:prstGeom prst="rect">
            <a:avLst/>
          </a:prstGeom>
        </p:spPr>
      </p:pic>
      <p:sp>
        <p:nvSpPr>
          <p:cNvPr id="14" name="文本框 13"/>
          <p:cNvSpPr txBox="1"/>
          <p:nvPr/>
        </p:nvSpPr>
        <p:spPr>
          <a:xfrm>
            <a:off x="591185" y="212090"/>
            <a:ext cx="3601720" cy="583565"/>
          </a:xfrm>
          <a:prstGeom prst="rect">
            <a:avLst/>
          </a:prstGeom>
          <a:noFill/>
        </p:spPr>
        <p:txBody>
          <a:bodyPr wrap="square" rtlCol="0">
            <a:spAutoFit/>
          </a:bodyPr>
          <a:p>
            <a:r>
              <a:rPr lang="zh-CN" altLang="en-US" sz="3200" b="1">
                <a:latin typeface="华文中宋" panose="02010600040101010101" charset="-122"/>
                <a:ea typeface="华文中宋" panose="02010600040101010101" charset="-122"/>
              </a:rPr>
              <a:t>总结</a:t>
            </a:r>
            <a:endParaRPr lang="zh-CN" altLang="en-US" sz="3200" b="1">
              <a:latin typeface="华文中宋" panose="02010600040101010101" charset="-122"/>
              <a:ea typeface="华文中宋" panose="0201060004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6" name="picture 376"/>
          <p:cNvPicPr>
            <a:picLocks noChangeAspect="1"/>
          </p:cNvPicPr>
          <p:nvPr/>
        </p:nvPicPr>
        <p:blipFill>
          <a:blip r:embed="rId1"/>
          <a:stretch>
            <a:fillRect/>
          </a:stretch>
        </p:blipFill>
        <p:spPr>
          <a:xfrm rot="21600000">
            <a:off x="10110" y="4221087"/>
            <a:ext cx="12181889" cy="2636907"/>
          </a:xfrm>
          <a:prstGeom prst="rect">
            <a:avLst/>
          </a:prstGeom>
        </p:spPr>
      </p:pic>
      <p:sp>
        <p:nvSpPr>
          <p:cNvPr id="378" name="rect 378"/>
          <p:cNvSpPr/>
          <p:nvPr/>
        </p:nvSpPr>
        <p:spPr>
          <a:xfrm>
            <a:off x="0" y="1766963"/>
            <a:ext cx="12192000" cy="2318436"/>
          </a:xfrm>
          <a:prstGeom prst="rect">
            <a:avLst/>
          </a:prstGeom>
          <a:solidFill>
            <a:srgbClr val="DAE3F3">
              <a:alpha val="72156"/>
            </a:srgbClr>
          </a:solidFill>
          <a:ln w="0" cap="flat">
            <a:noFill/>
            <a:prstDash val="solid"/>
            <a:miter lim="0"/>
          </a:ln>
        </p:spPr>
        <p:txBody>
          <a:bodyPr rtlCol="0"/>
          <a:lstStyle/>
          <a:p>
            <a:pPr algn="ctr"/>
            <a:endParaRPr lang="zh-CN" altLang="en-US"/>
          </a:p>
        </p:txBody>
      </p:sp>
      <p:pic>
        <p:nvPicPr>
          <p:cNvPr id="380" name="picture 380"/>
          <p:cNvPicPr>
            <a:picLocks noChangeAspect="1"/>
          </p:cNvPicPr>
          <p:nvPr/>
        </p:nvPicPr>
        <p:blipFill>
          <a:blip r:embed="rId2"/>
          <a:stretch>
            <a:fillRect/>
          </a:stretch>
        </p:blipFill>
        <p:spPr>
          <a:xfrm rot="21600000">
            <a:off x="147281" y="6657"/>
            <a:ext cx="1864396" cy="1760293"/>
          </a:xfrm>
          <a:prstGeom prst="rect">
            <a:avLst/>
          </a:prstGeom>
        </p:spPr>
      </p:pic>
      <p:sp>
        <p:nvSpPr>
          <p:cNvPr id="382" name="textbox 382"/>
          <p:cNvSpPr/>
          <p:nvPr/>
        </p:nvSpPr>
        <p:spPr>
          <a:xfrm>
            <a:off x="5419295" y="2766466"/>
            <a:ext cx="1521460" cy="754380"/>
          </a:xfrm>
          <a:prstGeom prst="rect">
            <a:avLst/>
          </a:prstGeom>
          <a:noFill/>
          <a:ln w="0" cap="flat">
            <a:noFill/>
            <a:prstDash val="solid"/>
            <a:miter lim="0"/>
          </a:ln>
        </p:spPr>
        <p:txBody>
          <a:bodyPr vert="horz" wrap="square" lIns="0" tIns="0" rIns="0" bIns="0"/>
          <a:lstStyle/>
          <a:p>
            <a:pPr algn="l" rtl="0" eaLnBrk="0">
              <a:lnSpc>
                <a:spcPct val="67000"/>
              </a:lnSpc>
            </a:pPr>
            <a:endParaRPr sz="100" dirty="0">
              <a:latin typeface="Arial" panose="020B0604020202020204"/>
              <a:ea typeface="Arial" panose="020B0604020202020204"/>
              <a:cs typeface="Arial" panose="020B0604020202020204"/>
            </a:endParaRPr>
          </a:p>
          <a:p>
            <a:pPr algn="r" rtl="0" eaLnBrk="0">
              <a:lnSpc>
                <a:spcPct val="80000"/>
              </a:lnSpc>
            </a:pPr>
            <a:r>
              <a:rPr sz="6000" b="1" kern="0" spc="-250" dirty="0">
                <a:solidFill>
                  <a:srgbClr val="222F66">
                    <a:alpha val="100000"/>
                  </a:srgbClr>
                </a:solidFill>
                <a:latin typeface="华文中宋" panose="02010600040101010101" charset="-122"/>
                <a:ea typeface="华文中宋" panose="02010600040101010101" charset="-122"/>
                <a:cs typeface="华文中宋" panose="02010600040101010101" charset="-122"/>
              </a:rPr>
              <a:t>谢</a:t>
            </a:r>
            <a:r>
              <a:rPr sz="6000" b="1" kern="0" spc="-50" dirty="0">
                <a:solidFill>
                  <a:srgbClr val="222F66">
                    <a:alpha val="100000"/>
                  </a:srgbClr>
                </a:solidFill>
                <a:latin typeface="华文中宋" panose="02010600040101010101" charset="-122"/>
                <a:ea typeface="华文中宋" panose="02010600040101010101" charset="-122"/>
                <a:cs typeface="华文中宋" panose="02010600040101010101" charset="-122"/>
              </a:rPr>
              <a:t>谢</a:t>
            </a:r>
            <a:endParaRPr sz="6000" dirty="0">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tags/tag1.xml><?xml version="1.0" encoding="utf-8"?>
<p:tagLst xmlns:p="http://schemas.openxmlformats.org/presentationml/2006/main">
  <p:tag name="KSO_WM_DIAGRAM_VIRTUALLY_FRAME" val="{&quot;height&quot;:455,&quot;left&quot;:39.6,&quot;top&quot;:75.6,&quot;width&quot;:973.15}"/>
</p:tagLst>
</file>

<file path=ppt/tags/tag2.xml><?xml version="1.0" encoding="utf-8"?>
<p:tagLst xmlns:p="http://schemas.openxmlformats.org/presentationml/2006/main">
  <p:tag name="KSO_WM_DIAGRAM_VIRTUALLY_FRAME" val="{&quot;height&quot;:455,&quot;left&quot;:39.6,&quot;top&quot;:75.6,&quot;width&quot;:973.15}"/>
</p:tagLst>
</file>

<file path=ppt/tags/tag3.xml><?xml version="1.0" encoding="utf-8"?>
<p:tagLst xmlns:p="http://schemas.openxmlformats.org/presentationml/2006/main">
  <p:tag name="KSO_WM_DIAGRAM_VIRTUALLY_FRAME" val="{&quot;height&quot;:455,&quot;left&quot;:39.6,&quot;top&quot;:75.6,&quot;width&quot;:973.15}"/>
</p:tagLst>
</file>

<file path=ppt/tags/tag4.xml><?xml version="1.0" encoding="utf-8"?>
<p:tagLst xmlns:p="http://schemas.openxmlformats.org/presentationml/2006/main">
  <p:tag name="KSO_WM_DIAGRAM_VIRTUALLY_FRAME" val="{&quot;height&quot;:455,&quot;left&quot;:39.6,&quot;top&quot;:75.6,&quot;width&quot;:973.15}"/>
</p:tagLst>
</file>

<file path=ppt/tags/tag5.xml><?xml version="1.0" encoding="utf-8"?>
<p:tagLst xmlns:p="http://schemas.openxmlformats.org/presentationml/2006/main">
  <p:tag name="KSO_WM_DIAGRAM_VIRTUALLY_FRAME" val="{&quot;height&quot;:455,&quot;left&quot;:39.6,&quot;top&quot;:75.6,&quot;width&quot;:973.15}"/>
</p:tagLst>
</file>

<file path=ppt/tags/tag6.xml><?xml version="1.0" encoding="utf-8"?>
<p:tagLst xmlns:p="http://schemas.openxmlformats.org/presentationml/2006/main">
  <p:tag name="KSO_WM_DIAGRAM_VIRTUALLY_FRAME" val="{&quot;height&quot;:455,&quot;left&quot;:39.6,&quot;top&quot;:75.6,&quot;width&quot;:973.15}"/>
</p:tagLst>
</file>

<file path=ppt/tags/tag7.xml><?xml version="1.0" encoding="utf-8"?>
<p:tagLst xmlns:p="http://schemas.openxmlformats.org/presentationml/2006/main">
  <p:tag name="KSO_WM_DIAGRAM_VIRTUALLY_FRAME" val="{&quot;height&quot;:455,&quot;left&quot;:39.6,&quot;top&quot;:75.6,&quot;width&quot;:973.15}"/>
</p:tagLst>
</file>

<file path=ppt/tags/tag8.xml><?xml version="1.0" encoding="utf-8"?>
<p:tagLst xmlns:p="http://schemas.openxmlformats.org/presentationml/2006/main">
  <p:tag name="KSO_WM_DIAGRAM_VIRTUALLY_FRAME" val="{&quot;height&quot;:455,&quot;left&quot;:39.6,&quot;top&quot;:75.6,&quot;width&quot;:973.1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3094</Words>
  <Application>WPS 演示</Application>
  <PresentationFormat/>
  <Paragraphs>292</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宋体</vt:lpstr>
      <vt:lpstr>Wingdings</vt:lpstr>
      <vt:lpstr>Arial</vt:lpstr>
      <vt:lpstr>华文中宋</vt:lpstr>
      <vt:lpstr>等线</vt:lpstr>
      <vt:lpstr>仿宋</vt:lpstr>
      <vt:lpstr>微软雅黑</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hqj</dc:creator>
  <cp:lastModifiedBy>于庆学</cp:lastModifiedBy>
  <cp:revision>8</cp:revision>
  <dcterms:created xsi:type="dcterms:W3CDTF">2025-11-18T12:51:00Z</dcterms:created>
  <dcterms:modified xsi:type="dcterms:W3CDTF">2025-12-29T05:38:46Z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wqlLaW5nc29mdCBQREYgdG8gV1BTIDExNQ</vt:lpwstr>
  </property>
  <property fmtid="{D5CDD505-2E9C-101B-9397-08002B2CF9AE}" pid="3" name="Created">
    <vt:filetime>2025-11-19T19:34:40Z</vt:filetime>
  </property>
  <property fmtid="{D5CDD505-2E9C-101B-9397-08002B2CF9AE}" pid="4" name="ICV">
    <vt:lpwstr>47B43D0E6469431C830AF38774AA47AF_12</vt:lpwstr>
  </property>
  <property fmtid="{D5CDD505-2E9C-101B-9397-08002B2CF9AE}" pid="5" name="KSOProductBuildVer">
    <vt:lpwstr>2052-12.1.0.24657</vt:lpwstr>
  </property>
</Properties>
</file>