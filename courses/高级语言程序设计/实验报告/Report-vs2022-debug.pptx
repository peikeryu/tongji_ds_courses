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62" r:id="rId6"/>
    <p:sldId id="258" r:id="rId7"/>
    <p:sldId id="259" r:id="rId8"/>
    <p:sldId id="265" r:id="rId9"/>
    <p:sldId id="261" r:id="rId10"/>
    <p:sldId id="260"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367790" y="3701733"/>
            <a:ext cx="9144000" cy="2387600"/>
          </a:xfrm>
        </p:spPr>
        <p:txBody>
          <a:bodyPr>
            <a:normAutofit fontScale="90000"/>
          </a:bodyPr>
          <a:p>
            <a:r>
              <a:rPr lang="en-US" altLang="zh-CN"/>
              <a:t>       </a:t>
            </a: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zh-CN" altLang="en-US"/>
            </a:br>
            <a:br>
              <a:rPr lang="en-US" altLang="zh-CN"/>
            </a:br>
            <a:br>
              <a:rPr lang="en-US" altLang="zh-CN"/>
            </a:br>
            <a:r>
              <a:rPr lang="en-US" altLang="zh-CN">
                <a:latin typeface="仿宋" panose="02010609060101010101" charset="-122"/>
                <a:ea typeface="仿宋" panose="02010609060101010101" charset="-122"/>
                <a:cs typeface="仿宋" panose="02010609060101010101" charset="-122"/>
              </a:rPr>
              <a:t>VS2022</a:t>
            </a:r>
            <a:r>
              <a:rPr lang="zh-CN" altLang="en-US">
                <a:latin typeface="仿宋" panose="02010609060101010101" charset="-122"/>
                <a:ea typeface="仿宋" panose="02010609060101010101" charset="-122"/>
                <a:cs typeface="仿宋" panose="02010609060101010101" charset="-122"/>
              </a:rPr>
              <a:t>调试工具的使用实验报告</a:t>
            </a:r>
            <a:br>
              <a:rPr lang="zh-CN" altLang="en-US">
                <a:latin typeface="仿宋" panose="02010609060101010101" charset="-122"/>
                <a:ea typeface="仿宋" panose="02010609060101010101" charset="-122"/>
                <a:cs typeface="仿宋" panose="02010609060101010101" charset="-122"/>
              </a:rPr>
            </a:br>
            <a:br>
              <a:rPr lang="en-US" altLang="zh-CN"/>
            </a:br>
            <a:r>
              <a:rPr lang="en-US" altLang="zh-CN" sz="2220">
                <a:latin typeface="仿宋" panose="02010609060101010101" charset="-122"/>
                <a:ea typeface="仿宋" panose="02010609060101010101" charset="-122"/>
                <a:cs typeface="仿宋" panose="02010609060101010101" charset="-122"/>
              </a:rPr>
              <a:t>2451951 </a:t>
            </a:r>
            <a:r>
              <a:rPr lang="zh-CN" altLang="en-US" sz="2220">
                <a:latin typeface="仿宋" panose="02010609060101010101" charset="-122"/>
                <a:ea typeface="仿宋" panose="02010609060101010101" charset="-122"/>
                <a:cs typeface="仿宋" panose="02010609060101010101" charset="-122"/>
              </a:rPr>
              <a:t>大数据</a:t>
            </a:r>
            <a:r>
              <a:rPr lang="en-US" altLang="zh-CN" sz="2220">
                <a:latin typeface="仿宋" panose="02010609060101010101" charset="-122"/>
                <a:ea typeface="仿宋" panose="02010609060101010101" charset="-122"/>
                <a:cs typeface="仿宋" panose="02010609060101010101" charset="-122"/>
              </a:rPr>
              <a:t> </a:t>
            </a:r>
            <a:r>
              <a:rPr lang="zh-CN" altLang="en-US" sz="2220">
                <a:latin typeface="仿宋" panose="02010609060101010101" charset="-122"/>
                <a:ea typeface="仿宋" panose="02010609060101010101" charset="-122"/>
                <a:cs typeface="仿宋" panose="02010609060101010101" charset="-122"/>
              </a:rPr>
              <a:t>于沛可</a:t>
            </a:r>
            <a:r>
              <a:rPr lang="en-US" altLang="zh-CN" sz="2220">
                <a:latin typeface="仿宋" panose="02010609060101010101" charset="-122"/>
                <a:ea typeface="仿宋" panose="02010609060101010101" charset="-122"/>
                <a:cs typeface="仿宋" panose="02010609060101010101" charset="-122"/>
              </a:rPr>
              <a:t> </a:t>
            </a:r>
            <a:br>
              <a:rPr lang="en-US" altLang="zh-CN" sz="2220">
                <a:latin typeface="仿宋" panose="02010609060101010101" charset="-122"/>
                <a:ea typeface="仿宋" panose="02010609060101010101" charset="-122"/>
                <a:cs typeface="仿宋" panose="02010609060101010101" charset="-122"/>
              </a:rPr>
            </a:br>
            <a:r>
              <a:rPr lang="en-US" altLang="zh-CN" sz="2220">
                <a:latin typeface="仿宋" panose="02010609060101010101" charset="-122"/>
                <a:ea typeface="仿宋" panose="02010609060101010101" charset="-122"/>
                <a:cs typeface="仿宋" panose="02010609060101010101" charset="-122"/>
              </a:rPr>
              <a:t>2025/12/27</a:t>
            </a:r>
            <a:endParaRPr lang="en-US" altLang="zh-CN" sz="2220">
              <a:latin typeface="仿宋" panose="02010609060101010101" charset="-122"/>
              <a:ea typeface="仿宋" panose="02010609060101010101" charset="-122"/>
              <a:cs typeface="仿宋" panose="02010609060101010101" charset="-122"/>
            </a:endParaRPr>
          </a:p>
        </p:txBody>
      </p:sp>
      <p:pic>
        <p:nvPicPr>
          <p:cNvPr id="4" name="图片 1"/>
          <p:cNvPicPr>
            <a:picLocks noChangeAspect="1"/>
          </p:cNvPicPr>
          <p:nvPr/>
        </p:nvPicPr>
        <p:blipFill>
          <a:blip r:embed="rId1"/>
          <a:stretch>
            <a:fillRect/>
          </a:stretch>
        </p:blipFill>
        <p:spPr>
          <a:xfrm>
            <a:off x="4326255" y="83185"/>
            <a:ext cx="3227070" cy="30581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rPr>
              <a:t>一．</a:t>
            </a:r>
            <a:r>
              <a:rPr lang="en-US" altLang="zh-CN" sz="4000">
                <a:latin typeface="仿宋" panose="02010609060101010101" charset="-122"/>
                <a:ea typeface="仿宋" panose="02010609060101010101" charset="-122"/>
                <a:cs typeface="仿宋" panose="02010609060101010101" charset="-122"/>
              </a:rPr>
              <a:t>VS2022</a:t>
            </a:r>
            <a:r>
              <a:rPr lang="zh-CN" altLang="en-US" sz="4000">
                <a:latin typeface="仿宋" panose="02010609060101010101" charset="-122"/>
                <a:ea typeface="仿宋" panose="02010609060101010101" charset="-122"/>
                <a:cs typeface="仿宋" panose="02010609060101010101" charset="-122"/>
              </a:rPr>
              <a:t>下调试工具的基本使用方法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610235" y="1731010"/>
            <a:ext cx="10515600" cy="4351338"/>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1.1 </a:t>
            </a:r>
            <a:r>
              <a:rPr lang="zh-CN" altLang="en-US" sz="2000">
                <a:latin typeface="宋体" panose="02010600030101010101" pitchFamily="2" charset="-122"/>
                <a:ea typeface="宋体" panose="02010600030101010101" pitchFamily="2" charset="-122"/>
                <a:cs typeface="宋体" panose="02010600030101010101" pitchFamily="2" charset="-122"/>
              </a:rPr>
              <a:t>如何开始调试？如何结束调试？</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设置断点：点击代码的左侧边栏</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快捷键</a:t>
            </a:r>
            <a:r>
              <a:rPr lang="en-US" altLang="zh-CN" sz="2000">
                <a:latin typeface="宋体" panose="02010600030101010101" pitchFamily="2" charset="-122"/>
                <a:ea typeface="宋体" panose="02010600030101010101" pitchFamily="2" charset="-122"/>
                <a:cs typeface="宋体" panose="02010600030101010101" pitchFamily="2" charset="-122"/>
              </a:rPr>
              <a:t>F9</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启动调试：快捷键</a:t>
            </a:r>
            <a:r>
              <a:rPr lang="en-US" altLang="zh-CN" sz="2000">
                <a:latin typeface="宋体" panose="02010600030101010101" pitchFamily="2" charset="-122"/>
                <a:ea typeface="宋体" panose="02010600030101010101" pitchFamily="2" charset="-122"/>
                <a:cs typeface="宋体" panose="02010600030101010101" pitchFamily="2" charset="-122"/>
              </a:rPr>
              <a:t>F5/</a:t>
            </a:r>
            <a:r>
              <a:rPr lang="zh-CN" altLang="en-US" sz="2000">
                <a:latin typeface="宋体" panose="02010600030101010101" pitchFamily="2" charset="-122"/>
                <a:ea typeface="宋体" panose="02010600030101010101" pitchFamily="2" charset="-122"/>
                <a:cs typeface="宋体" panose="02010600030101010101" pitchFamily="2" charset="-122"/>
              </a:rPr>
              <a:t>点击工具栏上的</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调试</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开始调试</a:t>
            </a:r>
            <a:r>
              <a:rPr lang="en-US" altLang="zh-CN" sz="2000">
                <a:latin typeface="宋体" panose="02010600030101010101" pitchFamily="2" charset="-122"/>
                <a:ea typeface="宋体" panose="02010600030101010101" pitchFamily="2" charset="-122"/>
                <a:cs typeface="宋体" panose="02010600030101010101" pitchFamily="2" charset="-122"/>
              </a:rPr>
              <a:t>”</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停止调试：点击工具栏上的</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停止调试</a:t>
            </a:r>
            <a:r>
              <a:rPr lang="en-US" altLang="zh-CN"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680720" y="4099560"/>
            <a:ext cx="4706620" cy="1588135"/>
          </a:xfrm>
          <a:prstGeom prst="rect">
            <a:avLst/>
          </a:prstGeom>
        </p:spPr>
      </p:pic>
      <p:pic>
        <p:nvPicPr>
          <p:cNvPr id="6" name="图片 5"/>
          <p:cNvPicPr>
            <a:picLocks noChangeAspect="1"/>
          </p:cNvPicPr>
          <p:nvPr/>
        </p:nvPicPr>
        <p:blipFill>
          <a:blip r:embed="rId2"/>
          <a:stretch>
            <a:fillRect/>
          </a:stretch>
        </p:blipFill>
        <p:spPr>
          <a:xfrm>
            <a:off x="7366635" y="1731010"/>
            <a:ext cx="4685030" cy="1150620"/>
          </a:xfrm>
          <a:prstGeom prst="rect">
            <a:avLst/>
          </a:prstGeom>
        </p:spPr>
      </p:pic>
      <p:cxnSp>
        <p:nvCxnSpPr>
          <p:cNvPr id="7" name="直接箭头连接符 6"/>
          <p:cNvCxnSpPr/>
          <p:nvPr/>
        </p:nvCxnSpPr>
        <p:spPr>
          <a:xfrm>
            <a:off x="1710690" y="2881630"/>
            <a:ext cx="1185545" cy="1888490"/>
          </a:xfrm>
          <a:prstGeom prst="straightConnector1">
            <a:avLst/>
          </a:prstGeom>
          <a:ln w="31750" cap="rnd">
            <a:solidFill>
              <a:srgbClr val="C00000"/>
            </a:solidFill>
            <a:round/>
            <a:tailEnd type="arrow" w="med" len="med"/>
          </a:ln>
        </p:spPr>
        <p:style>
          <a:lnRef idx="0">
            <a:srgbClr val="FFFFFF"/>
          </a:lnRef>
          <a:fillRef idx="0">
            <a:srgbClr val="FFFFFF"/>
          </a:fillRef>
          <a:effectRef idx="0">
            <a:srgbClr val="FFFFFF"/>
          </a:effectRef>
          <a:fontRef idx="minor">
            <a:schemeClr val="tx1"/>
          </a:fontRef>
        </p:style>
      </p:cxnSp>
      <p:pic>
        <p:nvPicPr>
          <p:cNvPr id="8" name="图片 7"/>
          <p:cNvPicPr>
            <a:picLocks noChangeAspect="1"/>
          </p:cNvPicPr>
          <p:nvPr/>
        </p:nvPicPr>
        <p:blipFill>
          <a:blip r:embed="rId3"/>
          <a:stretch>
            <a:fillRect/>
          </a:stretch>
        </p:blipFill>
        <p:spPr>
          <a:xfrm>
            <a:off x="6066790" y="4083050"/>
            <a:ext cx="5322570" cy="1604645"/>
          </a:xfrm>
          <a:prstGeom prst="rect">
            <a:avLst/>
          </a:prstGeom>
        </p:spPr>
      </p:pic>
      <p:cxnSp>
        <p:nvCxnSpPr>
          <p:cNvPr id="5" name="直接箭头连接符 4"/>
          <p:cNvCxnSpPr/>
          <p:nvPr/>
        </p:nvCxnSpPr>
        <p:spPr>
          <a:xfrm>
            <a:off x="5325110" y="3213735"/>
            <a:ext cx="4168140" cy="1054735"/>
          </a:xfrm>
          <a:prstGeom prst="straightConnector1">
            <a:avLst/>
          </a:prstGeom>
          <a:ln w="31750" cap="rnd">
            <a:solidFill>
              <a:srgbClr val="C00000"/>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rPr>
              <a:t>一．</a:t>
            </a:r>
            <a:r>
              <a:rPr lang="en-US" altLang="zh-CN" sz="4000">
                <a:latin typeface="仿宋" panose="02010609060101010101" charset="-122"/>
                <a:ea typeface="仿宋" panose="02010609060101010101" charset="-122"/>
                <a:cs typeface="仿宋" panose="02010609060101010101" charset="-122"/>
              </a:rPr>
              <a:t>VS2022</a:t>
            </a:r>
            <a:r>
              <a:rPr lang="zh-CN" altLang="en-US" sz="4000">
                <a:latin typeface="仿宋" panose="02010609060101010101" charset="-122"/>
                <a:ea typeface="仿宋" panose="02010609060101010101" charset="-122"/>
                <a:cs typeface="仿宋" panose="02010609060101010101" charset="-122"/>
              </a:rPr>
              <a:t>下调试工具的基本使用方法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838200" y="1526540"/>
            <a:ext cx="10515600" cy="4351338"/>
          </a:xfrm>
        </p:spPr>
        <p:txBody>
          <a:bodyPr/>
          <a:p>
            <a:pPr marL="0" indent="0" fontAlgn="auto">
              <a:lnSpc>
                <a:spcPct val="100000"/>
              </a:lnSpc>
              <a:buNone/>
            </a:pPr>
            <a:r>
              <a:rPr lang="en-US" altLang="zh-CN" sz="2000">
                <a:latin typeface="宋体" panose="02010600030101010101" pitchFamily="2" charset="-122"/>
                <a:ea typeface="宋体" panose="02010600030101010101" pitchFamily="2" charset="-122"/>
                <a:sym typeface="+mn-ea"/>
              </a:rPr>
              <a:t>1.2 </a:t>
            </a:r>
            <a:r>
              <a:rPr lang="zh-CN" altLang="en-US" sz="2000">
                <a:latin typeface="宋体" panose="02010600030101010101" pitchFamily="2" charset="-122"/>
                <a:ea typeface="宋体" panose="02010600030101010101" pitchFamily="2" charset="-122"/>
                <a:sym typeface="+mn-ea"/>
              </a:rPr>
              <a:t>如何在一个函数中每个语句单步执行？</a:t>
            </a:r>
            <a:endParaRPr lang="zh-CN" altLang="en-US" sz="2000">
              <a:latin typeface="宋体" panose="02010600030101010101" pitchFamily="2" charset="-122"/>
              <a:ea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sym typeface="+mn-ea"/>
              </a:rPr>
              <a:t>在调试状态下，使用</a:t>
            </a:r>
            <a:r>
              <a:rPr lang="en-US" altLang="zh-CN" sz="2000">
                <a:latin typeface="宋体" panose="02010600030101010101" pitchFamily="2" charset="-122"/>
                <a:ea typeface="宋体" panose="02010600030101010101" pitchFamily="2" charset="-122"/>
                <a:sym typeface="+mn-ea"/>
              </a:rPr>
              <a:t> F11</a:t>
            </a:r>
            <a:r>
              <a:rPr lang="zh-CN" altLang="en-US" sz="2000">
                <a:latin typeface="宋体" panose="02010600030101010101" pitchFamily="2" charset="-122"/>
                <a:ea typeface="宋体" panose="02010600030101010101" pitchFamily="2" charset="-122"/>
                <a:sym typeface="+mn-ea"/>
              </a:rPr>
              <a:t>（逐语句执行）</a:t>
            </a:r>
            <a:r>
              <a:rPr lang="en-US" altLang="zh-CN" sz="2000">
                <a:latin typeface="宋体" panose="02010600030101010101" pitchFamily="2" charset="-122"/>
                <a:ea typeface="宋体" panose="02010600030101010101" pitchFamily="2" charset="-122"/>
                <a:sym typeface="+mn-ea"/>
              </a:rPr>
              <a:t> </a:t>
            </a:r>
            <a:r>
              <a:rPr lang="zh-CN" altLang="en-US" sz="2000">
                <a:latin typeface="宋体" panose="02010600030101010101" pitchFamily="2" charset="-122"/>
                <a:ea typeface="宋体" panose="02010600030101010101" pitchFamily="2" charset="-122"/>
                <a:sym typeface="+mn-ea"/>
              </a:rPr>
              <a:t>可以在函数内部按语句顺序执行程序；每按一次</a:t>
            </a:r>
            <a:r>
              <a:rPr lang="en-US" altLang="zh-CN" sz="2000">
                <a:latin typeface="宋体" panose="02010600030101010101" pitchFamily="2" charset="-122"/>
                <a:ea typeface="宋体" panose="02010600030101010101" pitchFamily="2" charset="-122"/>
                <a:sym typeface="+mn-ea"/>
              </a:rPr>
              <a:t> F11</a:t>
            </a:r>
            <a:r>
              <a:rPr lang="zh-CN" altLang="en-US" sz="2000">
                <a:latin typeface="宋体" panose="02010600030101010101" pitchFamily="2" charset="-122"/>
                <a:ea typeface="宋体" panose="02010600030101010101" pitchFamily="2" charset="-122"/>
                <a:sym typeface="+mn-ea"/>
              </a:rPr>
              <a:t>，程序向下执行一条语句</a:t>
            </a:r>
            <a:endParaRPr lang="zh-CN" altLang="en-US" sz="2000"/>
          </a:p>
        </p:txBody>
      </p:sp>
      <p:pic>
        <p:nvPicPr>
          <p:cNvPr id="4" name="图片 3"/>
          <p:cNvPicPr>
            <a:picLocks noChangeAspect="1"/>
          </p:cNvPicPr>
          <p:nvPr/>
        </p:nvPicPr>
        <p:blipFill>
          <a:blip r:embed="rId1"/>
          <a:stretch>
            <a:fillRect/>
          </a:stretch>
        </p:blipFill>
        <p:spPr>
          <a:xfrm>
            <a:off x="838200" y="2765425"/>
            <a:ext cx="4889500" cy="4072890"/>
          </a:xfrm>
          <a:prstGeom prst="rect">
            <a:avLst/>
          </a:prstGeom>
        </p:spPr>
      </p:pic>
      <p:pic>
        <p:nvPicPr>
          <p:cNvPr id="5" name="图片 4"/>
          <p:cNvPicPr>
            <a:picLocks noChangeAspect="1"/>
          </p:cNvPicPr>
          <p:nvPr/>
        </p:nvPicPr>
        <p:blipFill>
          <a:blip r:embed="rId2"/>
          <a:stretch>
            <a:fillRect/>
          </a:stretch>
        </p:blipFill>
        <p:spPr>
          <a:xfrm>
            <a:off x="8136890" y="2592705"/>
            <a:ext cx="3286125" cy="4237990"/>
          </a:xfrm>
          <a:prstGeom prst="rect">
            <a:avLst/>
          </a:prstGeom>
        </p:spPr>
      </p:pic>
      <p:cxnSp>
        <p:nvCxnSpPr>
          <p:cNvPr id="6" name="直接箭头连接符 5"/>
          <p:cNvCxnSpPr/>
          <p:nvPr/>
        </p:nvCxnSpPr>
        <p:spPr>
          <a:xfrm>
            <a:off x="6024245" y="2406015"/>
            <a:ext cx="2298700" cy="311340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41300"/>
            <a:ext cx="10515600" cy="1325563"/>
          </a:xfrm>
        </p:spPr>
        <p:txBody>
          <a:bodyPr/>
          <a:p>
            <a:r>
              <a:rPr lang="zh-CN" altLang="en-US" sz="4000">
                <a:latin typeface="仿宋" panose="02010609060101010101" charset="-122"/>
                <a:ea typeface="仿宋" panose="02010609060101010101" charset="-122"/>
                <a:cs typeface="仿宋" panose="02010609060101010101" charset="-122"/>
              </a:rPr>
              <a:t>一．</a:t>
            </a:r>
            <a:r>
              <a:rPr lang="en-US" altLang="zh-CN" sz="4000">
                <a:latin typeface="仿宋" panose="02010609060101010101" charset="-122"/>
                <a:ea typeface="仿宋" panose="02010609060101010101" charset="-122"/>
                <a:cs typeface="仿宋" panose="02010609060101010101" charset="-122"/>
              </a:rPr>
              <a:t>VS2022</a:t>
            </a:r>
            <a:r>
              <a:rPr lang="zh-CN" altLang="en-US" sz="4000">
                <a:latin typeface="仿宋" panose="02010609060101010101" charset="-122"/>
                <a:ea typeface="仿宋" panose="02010609060101010101" charset="-122"/>
                <a:cs typeface="仿宋" panose="02010609060101010101" charset="-122"/>
              </a:rPr>
              <a:t>下调试工具的基本使用方法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746760" y="1266190"/>
            <a:ext cx="6139815" cy="4383405"/>
          </a:xfrm>
        </p:spPr>
        <p:txBody>
          <a:bodyPr/>
          <a:p>
            <a:pPr marL="0" indent="0" fontAlgn="auto">
              <a:lnSpc>
                <a:spcPct val="100000"/>
              </a:lnSpc>
              <a:buNone/>
            </a:pPr>
            <a:r>
              <a:rPr lang="en-US" altLang="zh-CN" sz="2000">
                <a:latin typeface="宋体" panose="02010600030101010101" pitchFamily="2" charset="-122"/>
                <a:ea typeface="宋体" panose="02010600030101010101" pitchFamily="2" charset="-122"/>
              </a:rPr>
              <a:t>1.3 </a:t>
            </a:r>
            <a:r>
              <a:rPr lang="zh-CN" altLang="en-US" sz="2000">
                <a:latin typeface="宋体" panose="02010600030101010101" pitchFamily="2" charset="-122"/>
                <a:ea typeface="宋体" panose="02010600030101010101" pitchFamily="2" charset="-122"/>
              </a:rPr>
              <a:t>在碰到系统类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系统函数时，如何一步完成这些系统类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系统函数的执行而不要进入到这些系统类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函数的内部单步执行？</a:t>
            </a:r>
            <a:endParaRPr lang="zh-CN" altLang="en-US" sz="2000">
              <a:latin typeface="宋体" panose="02010600030101010101" pitchFamily="2" charset="-122"/>
              <a:ea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rPr>
              <a:t>当程序执行到</a:t>
            </a:r>
            <a:r>
              <a:rPr lang="en-US" altLang="zh-CN" sz="2000">
                <a:latin typeface="宋体" panose="02010600030101010101" pitchFamily="2" charset="-122"/>
                <a:ea typeface="宋体" panose="02010600030101010101" pitchFamily="2" charset="-122"/>
              </a:rPr>
              <a:t> cout </a:t>
            </a:r>
            <a:r>
              <a:rPr lang="zh-CN" altLang="en-US" sz="2000">
                <a:latin typeface="宋体" panose="02010600030101010101" pitchFamily="2" charset="-122"/>
                <a:ea typeface="宋体" panose="02010600030101010101" pitchFamily="2" charset="-122"/>
              </a:rPr>
              <a:t>或</a:t>
            </a:r>
            <a:r>
              <a:rPr lang="en-US" altLang="zh-CN" sz="2000">
                <a:latin typeface="宋体" panose="02010600030101010101" pitchFamily="2" charset="-122"/>
                <a:ea typeface="宋体" panose="02010600030101010101" pitchFamily="2" charset="-122"/>
              </a:rPr>
              <a:t> sqrt </a:t>
            </a:r>
            <a:r>
              <a:rPr lang="zh-CN" altLang="en-US" sz="2000">
                <a:latin typeface="宋体" panose="02010600030101010101" pitchFamily="2" charset="-122"/>
                <a:ea typeface="宋体" panose="02010600030101010101" pitchFamily="2" charset="-122"/>
              </a:rPr>
              <a:t>等系统类或系统函数时，使用</a:t>
            </a:r>
            <a:r>
              <a:rPr lang="en-US" altLang="zh-CN" sz="2000">
                <a:latin typeface="宋体" panose="02010600030101010101" pitchFamily="2" charset="-122"/>
                <a:ea typeface="宋体" panose="02010600030101010101" pitchFamily="2" charset="-122"/>
              </a:rPr>
              <a:t> F10 </a:t>
            </a:r>
            <a:r>
              <a:rPr lang="zh-CN" altLang="en-US" sz="2000">
                <a:latin typeface="宋体" panose="02010600030101010101" pitchFamily="2" charset="-122"/>
                <a:ea typeface="宋体" panose="02010600030101010101" pitchFamily="2" charset="-122"/>
              </a:rPr>
              <a:t>可以一步完成该函数的执行过程，而不会进入系统函数的内部进行单步调试</a:t>
            </a:r>
            <a:endParaRPr lang="zh-CN" altLang="en-US" sz="2000">
              <a:latin typeface="宋体" panose="02010600030101010101" pitchFamily="2" charset="-122"/>
              <a:ea typeface="宋体" panose="02010600030101010101" pitchFamily="2" charset="-122"/>
            </a:endParaRPr>
          </a:p>
          <a:p>
            <a:pPr marL="0" indent="0" fontAlgn="auto">
              <a:lnSpc>
                <a:spcPct val="100000"/>
              </a:lnSpc>
              <a:buNone/>
            </a:pPr>
            <a:r>
              <a:rPr lang="en-US" altLang="zh-CN" sz="2000">
                <a:latin typeface="宋体" panose="02010600030101010101" pitchFamily="2" charset="-122"/>
                <a:ea typeface="宋体" panose="02010600030101010101" pitchFamily="2" charset="-122"/>
              </a:rPr>
              <a:t>1.4 </a:t>
            </a:r>
            <a:r>
              <a:rPr lang="zh-CN" altLang="en-US" sz="2000">
                <a:latin typeface="宋体" panose="02010600030101010101" pitchFamily="2" charset="-122"/>
                <a:ea typeface="宋体" panose="02010600030101010101" pitchFamily="2" charset="-122"/>
              </a:rPr>
              <a:t>如果已经进入到系统类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函数的内部，如何跳出并返回自己的函数？</a:t>
            </a:r>
            <a:endParaRPr lang="zh-CN" altLang="en-US" sz="2000">
              <a:latin typeface="宋体" panose="02010600030101010101" pitchFamily="2" charset="-122"/>
              <a:ea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rPr>
              <a:t>在调试过程中，若误使用</a:t>
            </a:r>
            <a:r>
              <a:rPr lang="en-US" altLang="zh-CN" sz="2000">
                <a:latin typeface="宋体" panose="02010600030101010101" pitchFamily="2" charset="-122"/>
                <a:ea typeface="宋体" panose="02010600030101010101" pitchFamily="2" charset="-122"/>
              </a:rPr>
              <a:t> F11 </a:t>
            </a:r>
            <a:r>
              <a:rPr lang="zh-CN" altLang="en-US" sz="2000">
                <a:latin typeface="宋体" panose="02010600030101010101" pitchFamily="2" charset="-122"/>
                <a:ea typeface="宋体" panose="02010600030101010101" pitchFamily="2" charset="-122"/>
              </a:rPr>
              <a:t>进入了系统函数的内部代码，可以使用</a:t>
            </a:r>
            <a:r>
              <a:rPr lang="en-US" altLang="zh-CN" sz="2000">
                <a:latin typeface="宋体" panose="02010600030101010101" pitchFamily="2" charset="-122"/>
                <a:ea typeface="宋体" panose="02010600030101010101" pitchFamily="2" charset="-122"/>
              </a:rPr>
              <a:t> Shift + F11</a:t>
            </a:r>
            <a:r>
              <a:rPr lang="zh-CN" altLang="en-US" sz="2000">
                <a:latin typeface="宋体" panose="02010600030101010101" pitchFamily="2" charset="-122"/>
                <a:ea typeface="宋体" panose="02010600030101010101" pitchFamily="2" charset="-122"/>
              </a:rPr>
              <a:t>（跳出）直接结束当前函数的调试，并返回到调用该函数的位置继续执行程序</a:t>
            </a:r>
            <a:endParaRPr lang="zh-CN" altLang="en-US" sz="2000">
              <a:latin typeface="宋体" panose="02010600030101010101" pitchFamily="2" charset="-122"/>
              <a:ea typeface="宋体" panose="02010600030101010101" pitchFamily="2" charset="-122"/>
            </a:endParaRPr>
          </a:p>
          <a:p>
            <a:pPr marL="0" indent="0" fontAlgn="auto">
              <a:lnSpc>
                <a:spcPct val="100000"/>
              </a:lnSpc>
              <a:buNone/>
            </a:pPr>
            <a:endParaRPr lang="zh-CN" altLang="en-US" sz="2000">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7102475" y="1567180"/>
            <a:ext cx="5088890" cy="3971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一．</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下调试工具的基本使用方法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p:txBody>
          <a:bodyPr/>
          <a:p>
            <a:pPr marL="0" indent="0">
              <a:buNone/>
            </a:pPr>
            <a:r>
              <a:rPr lang="en-US" altLang="zh-CN" sz="2000">
                <a:latin typeface="宋体" panose="02010600030101010101" pitchFamily="2" charset="-122"/>
                <a:ea typeface="宋体" panose="02010600030101010101" pitchFamily="2" charset="-122"/>
              </a:rPr>
              <a:t>1.5 </a:t>
            </a:r>
            <a:r>
              <a:rPr lang="zh-CN" altLang="en-US" sz="2000">
                <a:latin typeface="宋体" panose="02010600030101010101" pitchFamily="2" charset="-122"/>
                <a:ea typeface="宋体" panose="02010600030101010101" pitchFamily="2" charset="-122"/>
              </a:rPr>
              <a:t>在碰到自定义语句时，如何一步完成自定义函数的执行而不要进入到这些自定义函数的内部单步执行？</a:t>
            </a:r>
            <a:endParaRPr lang="zh-CN" altLang="en-US" sz="2000">
              <a:latin typeface="宋体" panose="02010600030101010101" pitchFamily="2" charset="-122"/>
              <a:ea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rPr>
              <a:t>1.6 </a:t>
            </a:r>
            <a:r>
              <a:rPr lang="zh-CN" altLang="en-US" sz="2000">
                <a:latin typeface="宋体" panose="02010600030101010101" pitchFamily="2" charset="-122"/>
                <a:ea typeface="宋体" panose="02010600030101010101" pitchFamily="2" charset="-122"/>
                <a:sym typeface="+mn-ea"/>
              </a:rPr>
              <a:t>在碰到自定义语句时，如何转到被调用函数中单步执行？</a:t>
            </a:r>
            <a:endParaRPr lang="zh-CN" altLang="en-US" sz="2000">
              <a:latin typeface="宋体" panose="02010600030101010101" pitchFamily="2" charset="-122"/>
              <a:ea typeface="宋体" panose="02010600030101010101" pitchFamily="2" charset="-122"/>
              <a:sym typeface="+mn-ea"/>
            </a:endParaRPr>
          </a:p>
          <a:p>
            <a:pPr marL="0" indent="0">
              <a:buNone/>
            </a:pPr>
            <a:endParaRPr lang="en-US" altLang="zh-CN" sz="2000">
              <a:latin typeface="宋体" panose="02010600030101010101" pitchFamily="2" charset="-122"/>
              <a:ea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rPr>
              <a:t>F10</a:t>
            </a:r>
            <a:r>
              <a:rPr lang="zh-CN" altLang="en-US" sz="2000">
                <a:latin typeface="宋体" panose="02010600030101010101" pitchFamily="2" charset="-122"/>
                <a:ea typeface="宋体" panose="02010600030101010101" pitchFamily="2" charset="-122"/>
              </a:rPr>
              <a:t>会执行函数但不会进入函数内部，</a:t>
            </a:r>
            <a:endParaRPr lang="zh-CN" altLang="en-US" sz="2000">
              <a:latin typeface="宋体" panose="02010600030101010101" pitchFamily="2" charset="-122"/>
              <a:ea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rPr>
              <a:t>F11</a:t>
            </a:r>
            <a:r>
              <a:rPr lang="zh-CN" altLang="en-US" sz="2000">
                <a:latin typeface="宋体" panose="02010600030101010101" pitchFamily="2" charset="-122"/>
                <a:ea typeface="宋体" panose="02010600030101010101" pitchFamily="2" charset="-122"/>
              </a:rPr>
              <a:t>可以进入被调用函数的内部，对函数中的各条语句进行单步执行</a:t>
            </a:r>
            <a:endParaRPr lang="zh-CN" altLang="en-US" sz="2000">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sp>
        <p:nvSpPr>
          <p:cNvPr id="3" name="内容占位符 2"/>
          <p:cNvSpPr>
            <a:spLocks noGrp="1"/>
          </p:cNvSpPr>
          <p:nvPr>
            <p:ph idx="1"/>
          </p:nvPr>
        </p:nvSpPr>
        <p:spPr>
          <a:xfrm>
            <a:off x="838200" y="1975485"/>
            <a:ext cx="3469005" cy="420179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2.1 </a:t>
            </a:r>
            <a:r>
              <a:rPr lang="zh-CN" altLang="en-US" sz="2000">
                <a:latin typeface="宋体" panose="02010600030101010101" pitchFamily="2" charset="-122"/>
                <a:ea typeface="宋体" panose="02010600030101010101" pitchFamily="2" charset="-122"/>
                <a:cs typeface="宋体" panose="02010600030101010101" pitchFamily="2" charset="-122"/>
              </a:rPr>
              <a:t>查看形参</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自动变量的变化情况</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在</a:t>
            </a:r>
            <a:r>
              <a:rPr lang="en-US" altLang="zh-CN" sz="2000">
                <a:latin typeface="宋体" panose="02010600030101010101" pitchFamily="2" charset="-122"/>
                <a:ea typeface="宋体" panose="02010600030101010101" pitchFamily="2" charset="-122"/>
                <a:cs typeface="宋体" panose="02010600030101010101" pitchFamily="2" charset="-122"/>
              </a:rPr>
              <a:t>VS</a:t>
            </a:r>
            <a:r>
              <a:rPr lang="zh-CN" altLang="en-US" sz="2000">
                <a:latin typeface="宋体" panose="02010600030101010101" pitchFamily="2" charset="-122"/>
                <a:ea typeface="宋体" panose="02010600030101010101" pitchFamily="2" charset="-122"/>
                <a:cs typeface="宋体" panose="02010600030101010101" pitchFamily="2" charset="-122"/>
              </a:rPr>
              <a:t>界面下侧的</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自动窗口</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会显示当前执行和之前执行中使用到的形参与自动变量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5105400" y="1334135"/>
            <a:ext cx="6628765" cy="5484495"/>
          </a:xfrm>
          <a:prstGeom prst="rect">
            <a:avLst/>
          </a:prstGeom>
        </p:spPr>
      </p:pic>
      <p:cxnSp>
        <p:nvCxnSpPr>
          <p:cNvPr id="5" name="直接箭头连接符 4"/>
          <p:cNvCxnSpPr/>
          <p:nvPr/>
        </p:nvCxnSpPr>
        <p:spPr>
          <a:xfrm>
            <a:off x="3959860" y="2366645"/>
            <a:ext cx="1504315" cy="281368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sp>
        <p:nvSpPr>
          <p:cNvPr id="3" name="内容占位符 2"/>
          <p:cNvSpPr>
            <a:spLocks noGrp="1"/>
          </p:cNvSpPr>
          <p:nvPr>
            <p:ph idx="1"/>
          </p:nvPr>
        </p:nvSpPr>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2.2 </a:t>
            </a:r>
            <a:r>
              <a:rPr lang="zh-CN" altLang="en-US" sz="2000">
                <a:latin typeface="宋体" panose="02010600030101010101" pitchFamily="2" charset="-122"/>
                <a:ea typeface="宋体" panose="02010600030101010101" pitchFamily="2" charset="-122"/>
                <a:cs typeface="宋体" panose="02010600030101010101" pitchFamily="2" charset="-122"/>
              </a:rPr>
              <a:t>查看静态局部变量的变化情况</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在函数体内部时，</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自动窗口</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和</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局部变量窗口</a:t>
            </a:r>
            <a:r>
              <a:rPr lang="en-US" altLang="zh-CN" sz="200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可以直接显示该静态局部变量；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8" name="图片 7"/>
          <p:cNvPicPr>
            <a:picLocks noChangeAspect="1"/>
          </p:cNvPicPr>
          <p:nvPr/>
        </p:nvPicPr>
        <p:blipFill>
          <a:blip r:embed="rId1"/>
          <a:stretch>
            <a:fillRect/>
          </a:stretch>
        </p:blipFill>
        <p:spPr>
          <a:xfrm>
            <a:off x="902335" y="2670810"/>
            <a:ext cx="4813300" cy="4097020"/>
          </a:xfrm>
          <a:prstGeom prst="rect">
            <a:avLst/>
          </a:prstGeom>
        </p:spPr>
      </p:pic>
      <p:pic>
        <p:nvPicPr>
          <p:cNvPr id="9" name="图片 8"/>
          <p:cNvPicPr>
            <a:picLocks noChangeAspect="1"/>
          </p:cNvPicPr>
          <p:nvPr/>
        </p:nvPicPr>
        <p:blipFill>
          <a:blip r:embed="rId2"/>
          <a:stretch>
            <a:fillRect/>
          </a:stretch>
        </p:blipFill>
        <p:spPr>
          <a:xfrm>
            <a:off x="6478270" y="2670810"/>
            <a:ext cx="4385310" cy="40963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latin typeface="仿宋" panose="02010609060101010101" charset="-122"/>
              <a:ea typeface="仿宋" panose="02010609060101010101" charset="-122"/>
              <a:cs typeface="仿宋" panose="02010609060101010101" charset="-122"/>
            </a:endParaRPr>
          </a:p>
        </p:txBody>
      </p:sp>
      <p:pic>
        <p:nvPicPr>
          <p:cNvPr id="4" name="图片 3"/>
          <p:cNvPicPr>
            <a:picLocks noChangeAspect="1"/>
          </p:cNvPicPr>
          <p:nvPr/>
        </p:nvPicPr>
        <p:blipFill>
          <a:blip r:embed="rId1"/>
          <a:stretch>
            <a:fillRect/>
          </a:stretch>
        </p:blipFill>
        <p:spPr>
          <a:xfrm>
            <a:off x="509270" y="1886585"/>
            <a:ext cx="5586730" cy="4916170"/>
          </a:xfrm>
          <a:prstGeom prst="rect">
            <a:avLst/>
          </a:prstGeom>
        </p:spPr>
      </p:pic>
      <p:pic>
        <p:nvPicPr>
          <p:cNvPr id="5" name="图片 4"/>
          <p:cNvPicPr>
            <a:picLocks noChangeAspect="1"/>
          </p:cNvPicPr>
          <p:nvPr/>
        </p:nvPicPr>
        <p:blipFill>
          <a:blip r:embed="rId2"/>
          <a:stretch>
            <a:fillRect/>
          </a:stretch>
        </p:blipFill>
        <p:spPr>
          <a:xfrm>
            <a:off x="6257290" y="1944370"/>
            <a:ext cx="5863590" cy="4858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sp>
        <p:nvSpPr>
          <p:cNvPr id="3" name="内容占位符 2"/>
          <p:cNvSpPr>
            <a:spLocks noGrp="1"/>
          </p:cNvSpPr>
          <p:nvPr>
            <p:ph idx="1"/>
          </p:nvPr>
        </p:nvSpPr>
        <p:spPr>
          <a:xfrm>
            <a:off x="798830" y="1903095"/>
            <a:ext cx="4042410" cy="4615815"/>
          </a:xfrm>
        </p:spPr>
        <p:txBody>
          <a:bodyPr/>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在函数体外部时，可以通过</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监视窗口</a:t>
            </a:r>
            <a:r>
              <a:rPr lang="en-US" altLang="zh-CN" sz="2000">
                <a:latin typeface="宋体" panose="02010600030101010101" pitchFamily="2" charset="-122"/>
                <a:ea typeface="宋体" panose="02010600030101010101" pitchFamily="2" charset="-122"/>
                <a:cs typeface="宋体" panose="02010600030101010101" pitchFamily="2" charset="-122"/>
              </a:rPr>
              <a:t>”</a:t>
            </a:r>
            <a:r>
              <a:rPr lang="zh-CN" altLang="en-US" sz="2000">
                <a:latin typeface="宋体" panose="02010600030101010101" pitchFamily="2" charset="-122"/>
                <a:ea typeface="宋体" panose="02010600030101010101" pitchFamily="2" charset="-122"/>
                <a:cs typeface="宋体" panose="02010600030101010101" pitchFamily="2" charset="-122"/>
              </a:rPr>
              <a:t>查看该静态局部变量的当前值</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5340985" y="1374140"/>
            <a:ext cx="5960745" cy="51454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sp>
        <p:nvSpPr>
          <p:cNvPr id="3" name="内容占位符 2"/>
          <p:cNvSpPr>
            <a:spLocks noGrp="1"/>
          </p:cNvSpPr>
          <p:nvPr>
            <p:ph idx="1"/>
          </p:nvPr>
        </p:nvSpPr>
        <p:spPr>
          <a:xfrm>
            <a:off x="838200" y="1825625"/>
            <a:ext cx="4036060" cy="4267200"/>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2.3 </a:t>
            </a:r>
            <a:r>
              <a:rPr lang="zh-CN" altLang="en-US" sz="2000">
                <a:latin typeface="宋体" panose="02010600030101010101" pitchFamily="2" charset="-122"/>
                <a:ea typeface="宋体" panose="02010600030101010101" pitchFamily="2" charset="-122"/>
                <a:cs typeface="宋体" panose="02010600030101010101" pitchFamily="2" charset="-122"/>
              </a:rPr>
              <a:t>查看静态全局变量的变化情况（两个源程序文件，有静态全局变量同名）</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调试过程中可以观察到，这两个静态全局变量虽然名称相同，但作用域仅限于各自所在的源文件，互不影响</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通过监视窗口可以分别查看不同源文件中静态全局变量的值变化情况；自动窗口通常需要进入对应函数体后才会显示该变量，因此一般不用于查看静态全局变量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demo</a:t>
            </a:r>
            <a:r>
              <a:rPr lang="zh-CN" altLang="en-US" sz="2000">
                <a:latin typeface="宋体" panose="02010600030101010101" pitchFamily="2" charset="-122"/>
                <a:ea typeface="宋体" panose="02010600030101010101" pitchFamily="2" charset="-122"/>
                <a:cs typeface="宋体" panose="02010600030101010101" pitchFamily="2" charset="-122"/>
              </a:rPr>
              <a:t>中的</a:t>
            </a:r>
            <a:r>
              <a:rPr lang="en-US" altLang="zh-CN" sz="2000">
                <a:latin typeface="宋体" panose="02010600030101010101" pitchFamily="2" charset="-122"/>
                <a:ea typeface="宋体" panose="02010600030101010101" pitchFamily="2" charset="-122"/>
                <a:cs typeface="宋体" panose="02010600030101010101" pitchFamily="2" charset="-122"/>
              </a:rPr>
              <a:t>x:</a:t>
            </a:r>
            <a:endParaRPr lang="en-US" altLang="zh-CN" sz="200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5119370" y="1517015"/>
            <a:ext cx="4565650" cy="4012565"/>
          </a:xfrm>
          <a:prstGeom prst="rect">
            <a:avLst/>
          </a:prstGeom>
        </p:spPr>
      </p:pic>
      <p:pic>
        <p:nvPicPr>
          <p:cNvPr id="6" name="图片 5"/>
          <p:cNvPicPr>
            <a:picLocks noChangeAspect="1"/>
          </p:cNvPicPr>
          <p:nvPr/>
        </p:nvPicPr>
        <p:blipFill>
          <a:blip r:embed="rId2"/>
          <a:stretch>
            <a:fillRect/>
          </a:stretch>
        </p:blipFill>
        <p:spPr>
          <a:xfrm>
            <a:off x="7986395" y="2712720"/>
            <a:ext cx="4076700" cy="41033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pic>
        <p:nvPicPr>
          <p:cNvPr id="4" name="内容占位符 3"/>
          <p:cNvPicPr>
            <a:picLocks noChangeAspect="1"/>
          </p:cNvPicPr>
          <p:nvPr>
            <p:ph idx="1"/>
          </p:nvPr>
        </p:nvPicPr>
        <p:blipFill>
          <a:blip r:embed="rId1"/>
          <a:stretch>
            <a:fillRect/>
          </a:stretch>
        </p:blipFill>
        <p:spPr>
          <a:xfrm>
            <a:off x="989330" y="2332355"/>
            <a:ext cx="4417060" cy="4445635"/>
          </a:xfrm>
          <a:prstGeom prst="rect">
            <a:avLst/>
          </a:prstGeom>
        </p:spPr>
      </p:pic>
      <p:pic>
        <p:nvPicPr>
          <p:cNvPr id="5" name="图片 4"/>
          <p:cNvPicPr>
            <a:picLocks noChangeAspect="1"/>
          </p:cNvPicPr>
          <p:nvPr/>
        </p:nvPicPr>
        <p:blipFill>
          <a:blip r:embed="rId2"/>
          <a:stretch>
            <a:fillRect/>
          </a:stretch>
        </p:blipFill>
        <p:spPr>
          <a:xfrm>
            <a:off x="5971540" y="2334895"/>
            <a:ext cx="4488815" cy="4443095"/>
          </a:xfrm>
          <a:prstGeom prst="rect">
            <a:avLst/>
          </a:prstGeom>
        </p:spPr>
      </p:pic>
      <p:sp>
        <p:nvSpPr>
          <p:cNvPr id="6" name="文本框 5"/>
          <p:cNvSpPr txBox="1"/>
          <p:nvPr/>
        </p:nvSpPr>
        <p:spPr>
          <a:xfrm>
            <a:off x="989330" y="1691005"/>
            <a:ext cx="3087370" cy="398780"/>
          </a:xfrm>
          <a:prstGeom prst="rect">
            <a:avLst/>
          </a:prstGeom>
          <a:noFill/>
        </p:spPr>
        <p:txBody>
          <a:bodyPr wrap="square" rtlCol="0">
            <a:spAutoFit/>
          </a:bodyPr>
          <a:p>
            <a:r>
              <a:rPr lang="en-US" altLang="zh-CN" sz="2000">
                <a:latin typeface="宋体" panose="02010600030101010101" pitchFamily="2" charset="-122"/>
                <a:ea typeface="宋体" panose="02010600030101010101" pitchFamily="2" charset="-122"/>
                <a:cs typeface="宋体" panose="02010600030101010101" pitchFamily="2" charset="-122"/>
              </a:rPr>
              <a:t>demo2</a:t>
            </a:r>
            <a:r>
              <a:rPr lang="zh-CN" altLang="en-US" sz="2000">
                <a:latin typeface="宋体" panose="02010600030101010101" pitchFamily="2" charset="-122"/>
                <a:ea typeface="宋体" panose="02010600030101010101" pitchFamily="2" charset="-122"/>
                <a:cs typeface="宋体" panose="02010600030101010101" pitchFamily="2" charset="-122"/>
              </a:rPr>
              <a:t>中的</a:t>
            </a:r>
            <a:r>
              <a:rPr lang="en-US" altLang="zh-CN" sz="2000">
                <a:latin typeface="宋体" panose="02010600030101010101" pitchFamily="2" charset="-122"/>
                <a:ea typeface="宋体" panose="02010600030101010101" pitchFamily="2" charset="-122"/>
                <a:cs typeface="宋体" panose="02010600030101010101" pitchFamily="2" charset="-122"/>
              </a:rPr>
              <a:t>x</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二</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的调试工具查看各种生存期</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作用域变量的方法</a:t>
            </a:r>
            <a:endParaRPr lang="zh-CN" altLang="en-US" sz="4000"/>
          </a:p>
        </p:txBody>
      </p:sp>
      <p:sp>
        <p:nvSpPr>
          <p:cNvPr id="3" name="内容占位符 2"/>
          <p:cNvSpPr>
            <a:spLocks noGrp="1"/>
          </p:cNvSpPr>
          <p:nvPr>
            <p:ph idx="1"/>
          </p:nvPr>
        </p:nvSpPr>
        <p:spPr>
          <a:xfrm>
            <a:off x="838200" y="1825625"/>
            <a:ext cx="5194935" cy="454088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2.4 </a:t>
            </a:r>
            <a:r>
              <a:rPr lang="zh-CN" altLang="en-US" sz="2000">
                <a:latin typeface="宋体" panose="02010600030101010101" pitchFamily="2" charset="-122"/>
                <a:ea typeface="宋体" panose="02010600030101010101" pitchFamily="2" charset="-122"/>
                <a:cs typeface="宋体" panose="02010600030101010101" pitchFamily="2" charset="-122"/>
              </a:rPr>
              <a:t>查看外部全局变量的变化情况（两个源程序文件，一个定义，另一个有</a:t>
            </a:r>
            <a:r>
              <a:rPr lang="en-US" altLang="zh-CN" sz="2000">
                <a:latin typeface="宋体" panose="02010600030101010101" pitchFamily="2" charset="-122"/>
                <a:ea typeface="宋体" panose="02010600030101010101" pitchFamily="2" charset="-122"/>
                <a:cs typeface="宋体" panose="02010600030101010101" pitchFamily="2" charset="-122"/>
              </a:rPr>
              <a:t> extern </a:t>
            </a:r>
            <a:r>
              <a:rPr lang="zh-CN" altLang="en-US" sz="2000">
                <a:latin typeface="宋体" panose="02010600030101010101" pitchFamily="2" charset="-122"/>
                <a:ea typeface="宋体" panose="02010600030101010101" pitchFamily="2" charset="-122"/>
                <a:cs typeface="宋体" panose="02010600030101010101" pitchFamily="2" charset="-122"/>
              </a:rPr>
              <a:t>说明）</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调试过程中可以观察到，该变量在不同函数中被修改后，其变化会影响整个程序中对该变量的访问结果</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通过监视窗口可以方便地查看外部全局变量的值变化情况；自动窗口通常需要进入函数体后才会显示该变量，因此一般不作为主要查看方式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内容占位符 3"/>
          <p:cNvPicPr>
            <a:picLocks noChangeAspect="1"/>
          </p:cNvPicPr>
          <p:nvPr/>
        </p:nvPicPr>
        <p:blipFill>
          <a:blip r:embed="rId1"/>
          <a:stretch>
            <a:fillRect/>
          </a:stretch>
        </p:blipFill>
        <p:spPr>
          <a:xfrm>
            <a:off x="6417945" y="1448435"/>
            <a:ext cx="5398770" cy="5159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图片 4"/>
          <p:cNvPicPr>
            <a:picLocks noChangeAspect="1"/>
          </p:cNvPicPr>
          <p:nvPr/>
        </p:nvPicPr>
        <p:blipFill>
          <a:blip r:embed="rId1"/>
          <a:stretch>
            <a:fillRect/>
          </a:stretch>
        </p:blipFill>
        <p:spPr>
          <a:xfrm>
            <a:off x="324485" y="664210"/>
            <a:ext cx="5461000" cy="5197475"/>
          </a:xfrm>
          <a:prstGeom prst="rect">
            <a:avLst/>
          </a:prstGeom>
        </p:spPr>
      </p:pic>
      <p:pic>
        <p:nvPicPr>
          <p:cNvPr id="6" name="图片 5"/>
          <p:cNvPicPr>
            <a:picLocks noChangeAspect="1"/>
          </p:cNvPicPr>
          <p:nvPr/>
        </p:nvPicPr>
        <p:blipFill>
          <a:blip r:embed="rId2"/>
          <a:stretch>
            <a:fillRect/>
          </a:stretch>
        </p:blipFill>
        <p:spPr>
          <a:xfrm>
            <a:off x="6279515" y="664210"/>
            <a:ext cx="5591175" cy="5276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838200" y="2019935"/>
            <a:ext cx="4784725" cy="415734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3.1 char/int/float</a:t>
            </a:r>
            <a:r>
              <a:rPr lang="zh-CN" altLang="en-US" sz="2000">
                <a:latin typeface="宋体" panose="02010600030101010101" pitchFamily="2" charset="-122"/>
                <a:ea typeface="宋体" panose="02010600030101010101" pitchFamily="2" charset="-122"/>
                <a:cs typeface="宋体" panose="02010600030101010101" pitchFamily="2" charset="-122"/>
              </a:rPr>
              <a:t>等简单变量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在调试过程中，使用自动窗口可以直接查看</a:t>
            </a:r>
            <a:r>
              <a:rPr lang="en-US" altLang="zh-CN" sz="2000">
                <a:latin typeface="宋体" panose="02010600030101010101" pitchFamily="2" charset="-122"/>
                <a:ea typeface="宋体" panose="02010600030101010101" pitchFamily="2" charset="-122"/>
                <a:cs typeface="宋体" panose="02010600030101010101" pitchFamily="2" charset="-122"/>
              </a:rPr>
              <a:t> int</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en-US" altLang="zh-CN" sz="2000">
                <a:latin typeface="宋体" panose="02010600030101010101" pitchFamily="2" charset="-122"/>
                <a:ea typeface="宋体" panose="02010600030101010101" pitchFamily="2" charset="-122"/>
                <a:cs typeface="宋体" panose="02010600030101010101" pitchFamily="2" charset="-122"/>
              </a:rPr>
              <a:t>float</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en-US" altLang="zh-CN" sz="2000">
                <a:latin typeface="宋体" panose="02010600030101010101" pitchFamily="2" charset="-122"/>
                <a:ea typeface="宋体" panose="02010600030101010101" pitchFamily="2" charset="-122"/>
                <a:cs typeface="宋体" panose="02010600030101010101" pitchFamily="2" charset="-122"/>
              </a:rPr>
              <a:t>char </a:t>
            </a:r>
            <a:r>
              <a:rPr lang="zh-CN" altLang="en-US" sz="2000">
                <a:latin typeface="宋体" panose="02010600030101010101" pitchFamily="2" charset="-122"/>
                <a:ea typeface="宋体" panose="02010600030101010101" pitchFamily="2" charset="-122"/>
                <a:cs typeface="宋体" panose="02010600030101010101" pitchFamily="2" charset="-122"/>
              </a:rPr>
              <a:t>等基本数据类型变量的当前值</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6388100" y="1139825"/>
            <a:ext cx="5593715" cy="5718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838200" y="1961515"/>
            <a:ext cx="5533390" cy="421576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3.2 </a:t>
            </a:r>
            <a:r>
              <a:rPr lang="zh-CN" altLang="en-US" sz="2000">
                <a:latin typeface="宋体" panose="02010600030101010101" pitchFamily="2" charset="-122"/>
                <a:ea typeface="宋体" panose="02010600030101010101" pitchFamily="2" charset="-122"/>
                <a:cs typeface="宋体" panose="02010600030101010101" pitchFamily="2" charset="-122"/>
              </a:rPr>
              <a:t>查看指向简单变量的指针变量（地址和值）</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通过自动窗口可以同时查看指针变量本身的地址值以及其所指向的内容；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指针</a:t>
            </a:r>
            <a:r>
              <a:rPr lang="en-US" altLang="zh-CN" sz="2000">
                <a:latin typeface="宋体" panose="02010600030101010101" pitchFamily="2" charset="-122"/>
                <a:ea typeface="宋体" panose="02010600030101010101" pitchFamily="2" charset="-122"/>
                <a:cs typeface="宋体" panose="02010600030101010101" pitchFamily="2" charset="-122"/>
              </a:rPr>
              <a:t> p </a:t>
            </a:r>
            <a:r>
              <a:rPr lang="zh-CN" altLang="en-US" sz="2000">
                <a:latin typeface="宋体" panose="02010600030101010101" pitchFamily="2" charset="-122"/>
                <a:ea typeface="宋体" panose="02010600030101010101" pitchFamily="2" charset="-122"/>
                <a:cs typeface="宋体" panose="02010600030101010101" pitchFamily="2" charset="-122"/>
              </a:rPr>
              <a:t>保存的是变量</a:t>
            </a:r>
            <a:r>
              <a:rPr lang="en-US" altLang="zh-CN" sz="2000">
                <a:latin typeface="宋体" panose="02010600030101010101" pitchFamily="2" charset="-122"/>
                <a:ea typeface="宋体" panose="02010600030101010101" pitchFamily="2" charset="-122"/>
                <a:cs typeface="宋体" panose="02010600030101010101" pitchFamily="2" charset="-122"/>
              </a:rPr>
              <a:t> a </a:t>
            </a:r>
            <a:r>
              <a:rPr lang="zh-CN" altLang="en-US" sz="2000">
                <a:latin typeface="宋体" panose="02010600030101010101" pitchFamily="2" charset="-122"/>
                <a:ea typeface="宋体" panose="02010600030101010101" pitchFamily="2" charset="-122"/>
                <a:cs typeface="宋体" panose="02010600030101010101" pitchFamily="2" charset="-122"/>
              </a:rPr>
              <a:t>的地址，而</a:t>
            </a:r>
            <a:r>
              <a:rPr lang="en-US" altLang="zh-CN" sz="2000">
                <a:latin typeface="宋体" panose="02010600030101010101" pitchFamily="2" charset="-122"/>
                <a:ea typeface="宋体" panose="02010600030101010101" pitchFamily="2" charset="-122"/>
                <a:cs typeface="宋体" panose="02010600030101010101" pitchFamily="2" charset="-122"/>
              </a:rPr>
              <a:t> *p </a:t>
            </a:r>
            <a:r>
              <a:rPr lang="zh-CN" altLang="en-US" sz="2000">
                <a:latin typeface="宋体" panose="02010600030101010101" pitchFamily="2" charset="-122"/>
                <a:ea typeface="宋体" panose="02010600030101010101" pitchFamily="2" charset="-122"/>
                <a:cs typeface="宋体" panose="02010600030101010101" pitchFamily="2" charset="-122"/>
              </a:rPr>
              <a:t>表示该地址中存放的数据</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6690995" y="1165860"/>
            <a:ext cx="5293360" cy="56921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838200" y="1691640"/>
            <a:ext cx="3964305" cy="4485640"/>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3.3 </a:t>
            </a:r>
            <a:r>
              <a:rPr lang="zh-CN" altLang="en-US" sz="2000">
                <a:latin typeface="宋体" panose="02010600030101010101" pitchFamily="2" charset="-122"/>
                <a:ea typeface="宋体" panose="02010600030101010101" pitchFamily="2" charset="-122"/>
                <a:cs typeface="宋体" panose="02010600030101010101" pitchFamily="2" charset="-122"/>
              </a:rPr>
              <a:t>查看一维数组</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在调试状态下，可以在自动窗口中展开一维数组，查看数组中各元素的值；</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当数组元素被修改时，其变化能够被实时显示</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5450840" y="1087755"/>
            <a:ext cx="6064885" cy="57226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latin typeface="仿宋" panose="02010609060101010101" charset="-122"/>
              <a:ea typeface="仿宋" panose="02010609060101010101" charset="-122"/>
              <a:cs typeface="仿宋" panose="02010609060101010101" charset="-122"/>
            </a:endParaRPr>
          </a:p>
        </p:txBody>
      </p:sp>
      <p:sp>
        <p:nvSpPr>
          <p:cNvPr id="3" name="内容占位符 2"/>
          <p:cNvSpPr>
            <a:spLocks noGrp="1"/>
          </p:cNvSpPr>
          <p:nvPr>
            <p:ph idx="1"/>
          </p:nvPr>
        </p:nvSpPr>
        <p:spPr>
          <a:xfrm>
            <a:off x="838200" y="1864995"/>
            <a:ext cx="4322445" cy="431228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sym typeface="+mn-ea"/>
              </a:rPr>
              <a:t>3.3 </a:t>
            </a:r>
            <a:r>
              <a:rPr lang="zh-CN" altLang="en-US" sz="2000">
                <a:latin typeface="宋体" panose="02010600030101010101" pitchFamily="2" charset="-122"/>
                <a:ea typeface="宋体" panose="02010600030101010101" pitchFamily="2" charset="-122"/>
                <a:cs typeface="宋体" panose="02010600030101010101" pitchFamily="2" charset="-122"/>
                <a:sym typeface="+mn-ea"/>
              </a:rPr>
              <a:t>查看一维数组</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rPr>
              <a:t>也可以在监视窗口中添加每个数组中的元素</a:t>
            </a:r>
            <a:endParaRPr lang="zh-CN" altLang="en-US" sz="2000">
              <a:latin typeface="宋体" panose="02010600030101010101" pitchFamily="2" charset="-122"/>
              <a:ea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rPr>
              <a:t>对以下情况，均同理可用监视窗口查看</a:t>
            </a:r>
            <a:endParaRPr lang="zh-CN" altLang="en-US" sz="200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5801360" y="1132205"/>
            <a:ext cx="6082030" cy="57257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3" name="内容占位符 2"/>
          <p:cNvSpPr>
            <a:spLocks noGrp="1"/>
          </p:cNvSpPr>
          <p:nvPr>
            <p:ph idx="1"/>
          </p:nvPr>
        </p:nvSpPr>
        <p:spPr>
          <a:xfrm>
            <a:off x="838200" y="1838325"/>
            <a:ext cx="5533390" cy="4338955"/>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3.4 </a:t>
            </a:r>
            <a:r>
              <a:rPr lang="zh-CN" altLang="en-US" sz="2000">
                <a:latin typeface="宋体" panose="02010600030101010101" pitchFamily="2" charset="-122"/>
                <a:ea typeface="宋体" panose="02010600030101010101" pitchFamily="2" charset="-122"/>
                <a:cs typeface="宋体" panose="02010600030101010101" pitchFamily="2" charset="-122"/>
              </a:rPr>
              <a:t>查看指向一维数组的指针变量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指向一维数组的指针变量保存的是数组首元素的地址；</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通过指针可以间接访问和修改数组中的元素，其效果与直接使用数组名一致</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6495415" y="1218565"/>
            <a:ext cx="5255895" cy="51714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3" name="内容占位符 2"/>
          <p:cNvSpPr>
            <a:spLocks noGrp="1"/>
          </p:cNvSpPr>
          <p:nvPr>
            <p:ph idx="1"/>
          </p:nvPr>
        </p:nvSpPr>
        <p:spPr>
          <a:xfrm>
            <a:off x="890270" y="1747520"/>
            <a:ext cx="4264025" cy="4429760"/>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3.5 </a:t>
            </a:r>
            <a:r>
              <a:rPr lang="zh-CN" altLang="en-US" sz="2000">
                <a:latin typeface="宋体" panose="02010600030101010101" pitchFamily="2" charset="-122"/>
                <a:ea typeface="宋体" panose="02010600030101010101" pitchFamily="2" charset="-122"/>
                <a:cs typeface="宋体" panose="02010600030101010101" pitchFamily="2" charset="-122"/>
              </a:rPr>
              <a:t>查看二维数组（包括数组名仅带一个下标）</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对于二维数组，可以在自动窗口中逐层展开查看其结构；</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当数组名仅带一个下标时，表示该行数组的首地址</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5154295" y="1791335"/>
            <a:ext cx="7056120" cy="50666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3" name="内容占位符 2"/>
          <p:cNvSpPr>
            <a:spLocks noGrp="1"/>
          </p:cNvSpPr>
          <p:nvPr>
            <p:ph idx="1"/>
          </p:nvPr>
        </p:nvSpPr>
        <p:spPr>
          <a:xfrm>
            <a:off x="838200" y="2007235"/>
            <a:ext cx="2491105" cy="4170045"/>
          </a:xfrm>
        </p:spPr>
        <p:txBody>
          <a:bodyPr>
            <a:normAutofit lnSpcReduction="10000"/>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3.6 </a:t>
            </a:r>
            <a:r>
              <a:rPr lang="zh-CN" altLang="en-US" sz="2000">
                <a:latin typeface="宋体" panose="02010600030101010101" pitchFamily="2" charset="-122"/>
                <a:ea typeface="宋体" panose="02010600030101010101" pitchFamily="2" charset="-122"/>
                <a:cs typeface="宋体" panose="02010600030101010101" pitchFamily="2" charset="-122"/>
              </a:rPr>
              <a:t>实参是一维数组名，形参是指针</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自动窗口会自动显示函数中使用的指针；</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在自动窗口中可通过指针查看数组地址；</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可以使用监视窗口查看数组的地址和值；</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前面为地址，括号中为数组内容</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3585210" y="1497330"/>
            <a:ext cx="8606790" cy="53606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3" name="内容占位符 2"/>
          <p:cNvSpPr>
            <a:spLocks noGrp="1"/>
          </p:cNvSpPr>
          <p:nvPr>
            <p:ph idx="1"/>
          </p:nvPr>
        </p:nvSpPr>
        <p:spPr>
          <a:xfrm>
            <a:off x="838200" y="1805940"/>
            <a:ext cx="3983355" cy="4371340"/>
          </a:xfrm>
        </p:spPr>
        <p:txBody>
          <a:bodyPr/>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3.7 </a:t>
            </a:r>
            <a:r>
              <a:rPr lang="zh-CN" altLang="en-US" sz="2000">
                <a:latin typeface="宋体" panose="02010600030101010101" pitchFamily="2" charset="-122"/>
                <a:ea typeface="宋体" panose="02010600030101010101" pitchFamily="2" charset="-122"/>
                <a:cs typeface="宋体" panose="02010600030101010101" pitchFamily="2" charset="-122"/>
              </a:rPr>
              <a:t>指向字符串常量的指针变量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自动窗口会显示当前行用到的指针变量</a:t>
            </a:r>
            <a:r>
              <a:rPr lang="en-US" altLang="zh-CN" sz="2000">
                <a:latin typeface="宋体" panose="02010600030101010101" pitchFamily="2" charset="-122"/>
                <a:ea typeface="宋体" panose="02010600030101010101" pitchFamily="2" charset="-122"/>
                <a:cs typeface="宋体" panose="02010600030101010101" pitchFamily="2" charset="-122"/>
              </a:rPr>
              <a:t> p</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en-US" altLang="zh-CN" sz="2000">
                <a:latin typeface="宋体" panose="02010600030101010101" pitchFamily="2" charset="-122"/>
                <a:ea typeface="宋体" panose="02010600030101010101" pitchFamily="2" charset="-122"/>
                <a:cs typeface="宋体" panose="02010600030101010101" pitchFamily="2" charset="-122"/>
              </a:rPr>
              <a:t>p </a:t>
            </a:r>
            <a:r>
              <a:rPr lang="zh-CN" altLang="en-US" sz="2000">
                <a:latin typeface="宋体" panose="02010600030101010101" pitchFamily="2" charset="-122"/>
                <a:ea typeface="宋体" panose="02010600030101010101" pitchFamily="2" charset="-122"/>
                <a:cs typeface="宋体" panose="02010600030101010101" pitchFamily="2" charset="-122"/>
              </a:rPr>
              <a:t>的值就是字符串首字符地址，后面显示的有字符串的内容；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000">
                <a:latin typeface="宋体" panose="02010600030101010101" pitchFamily="2" charset="-122"/>
                <a:ea typeface="宋体" panose="02010600030101010101" pitchFamily="2" charset="-122"/>
                <a:cs typeface="宋体" panose="02010600030101010101" pitchFamily="2" charset="-122"/>
              </a:rPr>
              <a:t>也可在监视窗口中添加单个字符，显示的是其</a:t>
            </a:r>
            <a:r>
              <a:rPr lang="en-US" altLang="zh-CN" sz="2000">
                <a:latin typeface="宋体" panose="02010600030101010101" pitchFamily="2" charset="-122"/>
                <a:ea typeface="宋体" panose="02010600030101010101" pitchFamily="2" charset="-122"/>
                <a:cs typeface="宋体" panose="02010600030101010101" pitchFamily="2" charset="-122"/>
              </a:rPr>
              <a:t>ASCII</a:t>
            </a:r>
            <a:r>
              <a:rPr lang="zh-CN" altLang="en-US" sz="2000">
                <a:latin typeface="宋体" panose="02010600030101010101" pitchFamily="2" charset="-122"/>
                <a:ea typeface="宋体" panose="02010600030101010101" pitchFamily="2" charset="-122"/>
                <a:cs typeface="宋体" panose="02010600030101010101" pitchFamily="2" charset="-122"/>
              </a:rPr>
              <a:t>码值以及相应内容</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6483350" y="1301750"/>
            <a:ext cx="5708650" cy="5379085"/>
          </a:xfrm>
          <a:prstGeom prst="rect">
            <a:avLst/>
          </a:prstGeom>
        </p:spPr>
      </p:pic>
      <p:pic>
        <p:nvPicPr>
          <p:cNvPr id="5" name="内容占位符 3"/>
          <p:cNvPicPr>
            <a:picLocks noChangeAspect="1"/>
          </p:cNvPicPr>
          <p:nvPr/>
        </p:nvPicPr>
        <p:blipFill>
          <a:blip r:embed="rId2"/>
          <a:stretch>
            <a:fillRect/>
          </a:stretch>
        </p:blipFill>
        <p:spPr>
          <a:xfrm>
            <a:off x="0" y="4626610"/>
            <a:ext cx="6483350" cy="18357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5" name="内容占位符 4"/>
          <p:cNvSpPr/>
          <p:nvPr>
            <p:ph idx="1"/>
          </p:nvPr>
        </p:nvSpPr>
        <p:spPr>
          <a:xfrm>
            <a:off x="883920" y="1604645"/>
            <a:ext cx="3982720" cy="4260215"/>
          </a:xfrm>
        </p:spPr>
        <p:txBody>
          <a:bodyPr>
            <a:noAutofit/>
          </a:bodyPr>
          <a:p>
            <a:pPr marL="0" indent="0" fontAlgn="auto">
              <a:lnSpc>
                <a:spcPct val="100000"/>
              </a:lnSpc>
              <a:buNone/>
            </a:pPr>
            <a:r>
              <a:rPr lang="en-US" altLang="zh-CN" sz="1900">
                <a:latin typeface="宋体" panose="02010600030101010101" pitchFamily="2" charset="-122"/>
                <a:ea typeface="宋体" panose="02010600030101010101" pitchFamily="2" charset="-122"/>
                <a:cs typeface="宋体" panose="02010600030101010101" pitchFamily="2" charset="-122"/>
              </a:rPr>
              <a:t>3.8 </a:t>
            </a:r>
            <a:r>
              <a:rPr lang="zh-CN" altLang="en-US" sz="1900">
                <a:latin typeface="宋体" panose="02010600030101010101" pitchFamily="2" charset="-122"/>
                <a:ea typeface="宋体" panose="02010600030101010101" pitchFamily="2" charset="-122"/>
                <a:cs typeface="宋体" panose="02010600030101010101" pitchFamily="2" charset="-122"/>
              </a:rPr>
              <a:t>引用（引用与指针是否有区别？有什么区别？）</a:t>
            </a:r>
            <a:endParaRPr lang="zh-CN" altLang="en-US" sz="19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1900">
                <a:latin typeface="宋体" panose="02010600030101010101" pitchFamily="2" charset="-122"/>
                <a:ea typeface="宋体" panose="02010600030101010101" pitchFamily="2" charset="-122"/>
                <a:cs typeface="宋体" panose="02010600030101010101" pitchFamily="2" charset="-122"/>
              </a:rPr>
              <a:t>可以通过监视窗口同时添加原变量名、引用名以及取地址表达式（如</a:t>
            </a:r>
            <a:r>
              <a:rPr lang="en-US" altLang="zh-CN" sz="1900">
                <a:latin typeface="宋体" panose="02010600030101010101" pitchFamily="2" charset="-122"/>
                <a:ea typeface="宋体" panose="02010600030101010101" pitchFamily="2" charset="-122"/>
                <a:cs typeface="宋体" panose="02010600030101010101" pitchFamily="2" charset="-122"/>
              </a:rPr>
              <a:t> &amp;a</a:t>
            </a:r>
            <a:r>
              <a:rPr lang="zh-CN" altLang="en-US" sz="1900">
                <a:latin typeface="宋体" panose="02010600030101010101" pitchFamily="2" charset="-122"/>
                <a:ea typeface="宋体" panose="02010600030101010101" pitchFamily="2" charset="-122"/>
                <a:cs typeface="宋体" panose="02010600030101010101" pitchFamily="2" charset="-122"/>
              </a:rPr>
              <a:t>、</a:t>
            </a:r>
            <a:r>
              <a:rPr lang="en-US" altLang="zh-CN" sz="1900">
                <a:latin typeface="宋体" panose="02010600030101010101" pitchFamily="2" charset="-122"/>
                <a:ea typeface="宋体" panose="02010600030101010101" pitchFamily="2" charset="-122"/>
                <a:cs typeface="宋体" panose="02010600030101010101" pitchFamily="2" charset="-122"/>
              </a:rPr>
              <a:t>&amp;r</a:t>
            </a:r>
            <a:r>
              <a:rPr lang="zh-CN" altLang="en-US" sz="1900">
                <a:latin typeface="宋体" panose="02010600030101010101" pitchFamily="2" charset="-122"/>
                <a:ea typeface="宋体" panose="02010600030101010101" pitchFamily="2" charset="-122"/>
                <a:cs typeface="宋体" panose="02010600030101010101" pitchFamily="2" charset="-122"/>
              </a:rPr>
              <a:t>）进行对比观察；</a:t>
            </a:r>
            <a:endParaRPr lang="zh-CN" altLang="en-US" sz="19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1900">
                <a:latin typeface="宋体" panose="02010600030101010101" pitchFamily="2" charset="-122"/>
                <a:ea typeface="宋体" panose="02010600030101010101" pitchFamily="2" charset="-122"/>
                <a:cs typeface="宋体" panose="02010600030101010101" pitchFamily="2" charset="-122"/>
              </a:rPr>
              <a:t>可以发现，引用变量与原变量的地址完全相同，说明引用本身并不单独占用存储空间，而是与原变量共享同一存储单元。</a:t>
            </a:r>
            <a:endParaRPr lang="zh-CN" altLang="en-US" sz="19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1900">
                <a:latin typeface="宋体" panose="02010600030101010101" pitchFamily="2" charset="-122"/>
                <a:ea typeface="宋体" panose="02010600030101010101" pitchFamily="2" charset="-122"/>
                <a:cs typeface="宋体" panose="02010600030101010101" pitchFamily="2" charset="-122"/>
              </a:rPr>
              <a:t>与引用不同，指针变量在调试窗口中既可以查看其保存的地址值（指针中存放的地址），也可以查看指针变量自身的地址。</a:t>
            </a:r>
            <a:endParaRPr lang="zh-CN" altLang="en-US" sz="19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1900">
                <a:latin typeface="宋体" panose="02010600030101010101" pitchFamily="2" charset="-122"/>
                <a:ea typeface="宋体" panose="02010600030101010101" pitchFamily="2" charset="-122"/>
                <a:cs typeface="宋体" panose="02010600030101010101" pitchFamily="2" charset="-122"/>
              </a:rPr>
              <a:t>因此，在监视窗口中，表达式</a:t>
            </a:r>
            <a:r>
              <a:rPr lang="en-US" altLang="zh-CN" sz="1900">
                <a:latin typeface="宋体" panose="02010600030101010101" pitchFamily="2" charset="-122"/>
                <a:ea typeface="宋体" panose="02010600030101010101" pitchFamily="2" charset="-122"/>
                <a:cs typeface="宋体" panose="02010600030101010101" pitchFamily="2" charset="-122"/>
              </a:rPr>
              <a:t> p </a:t>
            </a:r>
            <a:r>
              <a:rPr lang="zh-CN" altLang="en-US" sz="1900">
                <a:latin typeface="宋体" panose="02010600030101010101" pitchFamily="2" charset="-122"/>
                <a:ea typeface="宋体" panose="02010600030101010101" pitchFamily="2" charset="-122"/>
                <a:cs typeface="宋体" panose="02010600030101010101" pitchFamily="2" charset="-122"/>
              </a:rPr>
              <a:t>与</a:t>
            </a:r>
            <a:r>
              <a:rPr lang="en-US" altLang="zh-CN" sz="1900">
                <a:latin typeface="宋体" panose="02010600030101010101" pitchFamily="2" charset="-122"/>
                <a:ea typeface="宋体" panose="02010600030101010101" pitchFamily="2" charset="-122"/>
                <a:cs typeface="宋体" panose="02010600030101010101" pitchFamily="2" charset="-122"/>
              </a:rPr>
              <a:t> &amp;p </a:t>
            </a:r>
            <a:r>
              <a:rPr lang="zh-CN" altLang="en-US" sz="1900">
                <a:latin typeface="宋体" panose="02010600030101010101" pitchFamily="2" charset="-122"/>
                <a:ea typeface="宋体" panose="02010600030101010101" pitchFamily="2" charset="-122"/>
                <a:cs typeface="宋体" panose="02010600030101010101" pitchFamily="2" charset="-122"/>
              </a:rPr>
              <a:t>的值不同，表明指针本身是一个独立变量</a:t>
            </a:r>
            <a:endParaRPr lang="zh-CN" altLang="en-US" sz="19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4820920" y="1604645"/>
            <a:ext cx="7292340" cy="51454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a:latin typeface="仿宋" panose="02010609060101010101" charset="-122"/>
                <a:ea typeface="仿宋" panose="02010609060101010101" charset="-122"/>
                <a:cs typeface="仿宋" panose="02010609060101010101" charset="-122"/>
                <a:sym typeface="+mn-ea"/>
              </a:rPr>
              <a:t>三</a:t>
            </a:r>
            <a:r>
              <a:rPr lang="en-US" altLang="zh-CN" sz="4000">
                <a:latin typeface="仿宋" panose="02010609060101010101" charset="-122"/>
                <a:ea typeface="仿宋" panose="02010609060101010101" charset="-122"/>
                <a:cs typeface="仿宋" panose="02010609060101010101" charset="-122"/>
                <a:sym typeface="+mn-ea"/>
              </a:rPr>
              <a:t>.</a:t>
            </a:r>
            <a:r>
              <a:rPr lang="zh-CN" altLang="en-US" sz="4000">
                <a:latin typeface="仿宋" panose="02010609060101010101" charset="-122"/>
                <a:ea typeface="仿宋" panose="02010609060101010101" charset="-122"/>
                <a:cs typeface="仿宋" panose="02010609060101010101" charset="-122"/>
                <a:sym typeface="+mn-ea"/>
              </a:rPr>
              <a:t>用</a:t>
            </a:r>
            <a:r>
              <a:rPr lang="en-US" altLang="zh-CN" sz="4000">
                <a:latin typeface="仿宋" panose="02010609060101010101" charset="-122"/>
                <a:ea typeface="仿宋" panose="02010609060101010101" charset="-122"/>
                <a:cs typeface="仿宋" panose="02010609060101010101" charset="-122"/>
                <a:sym typeface="+mn-ea"/>
              </a:rPr>
              <a:t>VS2022</a:t>
            </a:r>
            <a:r>
              <a:rPr lang="zh-CN" altLang="en-US" sz="4000">
                <a:latin typeface="仿宋" panose="02010609060101010101" charset="-122"/>
                <a:ea typeface="仿宋" panose="02010609060101010101" charset="-122"/>
                <a:cs typeface="仿宋" panose="02010609060101010101" charset="-122"/>
                <a:sym typeface="+mn-ea"/>
              </a:rPr>
              <a:t>的调试工具查看各种不同类型变量的方法</a:t>
            </a:r>
            <a:endParaRPr lang="zh-CN" altLang="en-US" sz="4000"/>
          </a:p>
        </p:txBody>
      </p:sp>
      <p:sp>
        <p:nvSpPr>
          <p:cNvPr id="3" name="内容占位符 2"/>
          <p:cNvSpPr>
            <a:spLocks noGrp="1"/>
          </p:cNvSpPr>
          <p:nvPr>
            <p:ph idx="1"/>
          </p:nvPr>
        </p:nvSpPr>
        <p:spPr>
          <a:xfrm>
            <a:off x="838200" y="1691640"/>
            <a:ext cx="4621530" cy="4485640"/>
          </a:xfrm>
        </p:spPr>
        <p:txBody>
          <a:bodyPr>
            <a:noAutofit/>
          </a:bodyPr>
          <a:p>
            <a:pPr marL="0" indent="0" fontAlgn="auto">
              <a:lnSpc>
                <a:spcPct val="100000"/>
              </a:lnSpc>
              <a:buNone/>
            </a:pPr>
            <a:r>
              <a:rPr lang="en-US" altLang="zh-CN" sz="2000">
                <a:latin typeface="宋体" panose="02010600030101010101" pitchFamily="2" charset="-122"/>
                <a:ea typeface="宋体" panose="02010600030101010101" pitchFamily="2" charset="-122"/>
                <a:cs typeface="宋体" panose="02010600030101010101" pitchFamily="2" charset="-122"/>
              </a:rPr>
              <a:t>3.9 </a:t>
            </a:r>
            <a:r>
              <a:rPr lang="zh-CN" altLang="en-US" sz="2000">
                <a:latin typeface="宋体" panose="02010600030101010101" pitchFamily="2" charset="-122"/>
                <a:ea typeface="宋体" panose="02010600030101010101" pitchFamily="2" charset="-122"/>
                <a:cs typeface="宋体" panose="02010600030101010101" pitchFamily="2" charset="-122"/>
              </a:rPr>
              <a:t>使用指针时出现了越界访问</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cs typeface="宋体" panose="02010600030101010101" pitchFamily="2" charset="-122"/>
              </a:rPr>
              <a:t>在调试过程中，自动窗口会显示当前执行行中使用到的指针变量，当指针已经发生越界时，自动窗口中仍可能显示该指针的地址值，但该地址已经不再指向数组的有效存储区域；</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cs typeface="宋体" panose="02010600030101010101" pitchFamily="2" charset="-122"/>
              </a:rPr>
              <a:t>通过监视窗口添加指针变量及其解引用表达式（如</a:t>
            </a:r>
            <a:r>
              <a:rPr lang="en-US" altLang="zh-CN" sz="2000">
                <a:latin typeface="宋体" panose="02010600030101010101" pitchFamily="2" charset="-122"/>
                <a:ea typeface="宋体" panose="02010600030101010101" pitchFamily="2" charset="-122"/>
                <a:cs typeface="宋体" panose="02010600030101010101" pitchFamily="2" charset="-122"/>
              </a:rPr>
              <a:t> p</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en-US" altLang="zh-CN" sz="2000">
                <a:latin typeface="宋体" panose="02010600030101010101" pitchFamily="2" charset="-122"/>
                <a:ea typeface="宋体" panose="02010600030101010101" pitchFamily="2" charset="-122"/>
                <a:cs typeface="宋体" panose="02010600030101010101" pitchFamily="2" charset="-122"/>
              </a:rPr>
              <a:t>*p </a:t>
            </a:r>
            <a:r>
              <a:rPr lang="zh-CN" altLang="en-US" sz="2000">
                <a:latin typeface="宋体" panose="02010600030101010101" pitchFamily="2" charset="-122"/>
                <a:ea typeface="宋体" panose="02010600030101010101" pitchFamily="2" charset="-122"/>
                <a:cs typeface="宋体" panose="02010600030101010101" pitchFamily="2" charset="-122"/>
              </a:rPr>
              <a:t>或</a:t>
            </a:r>
            <a:r>
              <a:rPr lang="en-US" altLang="zh-CN" sz="2000">
                <a:latin typeface="宋体" panose="02010600030101010101" pitchFamily="2" charset="-122"/>
                <a:ea typeface="宋体" panose="02010600030101010101" pitchFamily="2" charset="-122"/>
                <a:cs typeface="宋体" panose="02010600030101010101" pitchFamily="2" charset="-122"/>
              </a:rPr>
              <a:t> p[i]</a:t>
            </a:r>
            <a:r>
              <a:rPr lang="zh-CN" altLang="en-US" sz="2000">
                <a:latin typeface="宋体" panose="02010600030101010101" pitchFamily="2" charset="-122"/>
                <a:ea typeface="宋体" panose="02010600030101010101" pitchFamily="2" charset="-122"/>
                <a:cs typeface="宋体" panose="02010600030101010101" pitchFamily="2" charset="-122"/>
              </a:rPr>
              <a:t>），可以观察到越界访问时，指针所指向的数据值可能为随机值，或者在执行写操作时导致程序运行异常甚至直接中断；</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marL="0" indent="0" fontAlgn="auto">
              <a:lnSpc>
                <a:spcPct val="100000"/>
              </a:lnSpc>
              <a:buNone/>
            </a:pPr>
            <a:r>
              <a:rPr lang="zh-CN" altLang="en-US" sz="2000">
                <a:latin typeface="宋体" panose="02010600030101010101" pitchFamily="2" charset="-122"/>
                <a:ea typeface="宋体" panose="02010600030101010101" pitchFamily="2" charset="-122"/>
                <a:cs typeface="宋体" panose="02010600030101010101" pitchFamily="2" charset="-122"/>
              </a:rPr>
              <a:t>调试结果表明，指针越界访问并不会在编译阶段被发现，而是在运行和调试过程中表现为不可预期的结果</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5763260" y="1837055"/>
            <a:ext cx="6428740" cy="441261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2656</Words>
  <Application>WPS 演示</Application>
  <PresentationFormat>宽屏</PresentationFormat>
  <Paragraphs>134</Paragraphs>
  <Slides>23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Arial</vt:lpstr>
      <vt:lpstr>宋体</vt:lpstr>
      <vt:lpstr>Wingdings</vt:lpstr>
      <vt:lpstr>Arial Unicode MS</vt:lpstr>
      <vt:lpstr>Calibri</vt:lpstr>
      <vt:lpstr>微软雅黑</vt:lpstr>
      <vt:lpstr>仿宋</vt:lpstr>
      <vt:lpstr>WPS</vt:lpstr>
      <vt:lpstr>PowerPoint 演示文稿</vt:lpstr>
      <vt:lpstr>PowerPoint 演示文稿</vt:lpstr>
      <vt:lpstr>一．VS2022下调试工具的基本使用方法</vt:lpstr>
      <vt:lpstr>一．VS2022下调试工具的基本使用方法</vt:lpstr>
      <vt:lpstr>PowerPoint 演示文稿</vt:lpstr>
      <vt:lpstr>PowerPoint 演示文稿</vt:lpstr>
      <vt:lpstr>二.用VS2022的调试工具查看各种生存期/作用域变量的方法</vt:lpstr>
      <vt:lpstr>PowerPoint 演示文稿</vt:lpstr>
      <vt:lpstr>PowerPoint 演示文稿</vt:lpstr>
      <vt:lpstr>二.用VS2022的调试工具查看各种生存期/作用域变量的方法</vt:lpstr>
      <vt:lpstr>PowerPoint 演示文稿</vt:lpstr>
      <vt:lpstr>PowerPoint 演示文稿</vt:lpstr>
      <vt:lpstr>PowerPoint 演示文稿</vt:lpstr>
      <vt:lpstr>PowerPoint 演示文稿</vt:lpstr>
      <vt:lpstr>三.用VS2022的调试工具查看各种不同类型变量的方法</vt:lpstr>
      <vt:lpstr>三.用VS2022的调试工具查看各种不同类型变量的方法</vt:lpstr>
      <vt:lpstr>三.用VS2022的调试工具查看各种不同类型变量的方法</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Peiker</dc:creator>
  <cp:lastModifiedBy>于庆学</cp:lastModifiedBy>
  <cp:revision>7</cp:revision>
  <dcterms:created xsi:type="dcterms:W3CDTF">2023-08-09T12:44:00Z</dcterms:created>
  <dcterms:modified xsi:type="dcterms:W3CDTF">2025-12-27T10:03:30Z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410FBAAE435E4B8C90A7E329F2ACB4BC_12</vt:lpwstr>
  </property>
</Properties>
</file>