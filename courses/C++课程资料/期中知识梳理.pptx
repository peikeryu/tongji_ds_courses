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63" r:id="rId2"/>
    <p:sldId id="465" r:id="rId3"/>
    <p:sldId id="433" r:id="rId4"/>
    <p:sldId id="434" r:id="rId5"/>
    <p:sldId id="435" r:id="rId6"/>
    <p:sldId id="436" r:id="rId7"/>
    <p:sldId id="437" r:id="rId8"/>
    <p:sldId id="438" r:id="rId9"/>
    <p:sldId id="439" r:id="rId10"/>
    <p:sldId id="440" r:id="rId11"/>
    <p:sldId id="441" r:id="rId12"/>
    <p:sldId id="455" r:id="rId13"/>
    <p:sldId id="467" r:id="rId14"/>
    <p:sldId id="426" r:id="rId15"/>
    <p:sldId id="378" r:id="rId16"/>
    <p:sldId id="401" r:id="rId17"/>
    <p:sldId id="457" r:id="rId18"/>
    <p:sldId id="478" r:id="rId19"/>
    <p:sldId id="428" r:id="rId20"/>
    <p:sldId id="380" r:id="rId21"/>
    <p:sldId id="458" r:id="rId22"/>
    <p:sldId id="407" r:id="rId23"/>
    <p:sldId id="381" r:id="rId24"/>
    <p:sldId id="382" r:id="rId25"/>
    <p:sldId id="477" r:id="rId26"/>
    <p:sldId id="383" r:id="rId27"/>
    <p:sldId id="432" r:id="rId28"/>
    <p:sldId id="472" r:id="rId2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">
          <p15:clr>
            <a:srgbClr val="A4A3A4"/>
          </p15:clr>
        </p15:guide>
        <p15:guide id="2" pos="2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282" y="67"/>
      </p:cViewPr>
      <p:guideLst>
        <p:guide orient="horz" pos="240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3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00E6E-FFEF-4D1E-AB32-5334EA3164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324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57CE8-066E-4CE0-A4B8-739FA495FF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52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BE81A-8C95-49CC-BA1B-CE436C934E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053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49D41-A394-4AD5-8702-EEA2619599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505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FF235-EDE7-41FD-96E6-03C5D1B54D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890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30B4B-5A3D-4370-A556-00B759A966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214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CC6B0-99E8-4908-A571-6E01504BEA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339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DEBE4-7096-4506-8F4E-0C60BF50FC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168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9FAD6-7A91-4D70-8508-BB29AAF6CC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623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E0805-F039-47F8-BF7F-B8E9AC3EDB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73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A25B2-2071-4DD9-AEB3-98AA02009A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214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9FA45C3-73FD-4A43-88A6-06ECEF5679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>
            <a:spLocks noChangeArrowheads="1"/>
          </p:cNvSpPr>
          <p:nvPr/>
        </p:nvSpPr>
        <p:spPr bwMode="auto">
          <a:xfrm>
            <a:off x="323850" y="0"/>
            <a:ext cx="8569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</a:rPr>
              <a:t>考试系统使用注意</a:t>
            </a:r>
            <a:r>
              <a:rPr lang="zh-CN" altLang="en-US" sz="2400" b="1">
                <a:solidFill>
                  <a:schemeClr val="tx2"/>
                </a:solidFill>
              </a:rPr>
              <a:t>（务必认真研读）</a:t>
            </a:r>
          </a:p>
        </p:txBody>
      </p:sp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468313" y="1196975"/>
            <a:ext cx="849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400"/>
          </a:p>
        </p:txBody>
      </p:sp>
      <p:sp>
        <p:nvSpPr>
          <p:cNvPr id="2052" name="AutoShape 6"/>
          <p:cNvSpPr>
            <a:spLocks noChangeArrowheads="1"/>
          </p:cNvSpPr>
          <p:nvPr/>
        </p:nvSpPr>
        <p:spPr bwMode="auto">
          <a:xfrm>
            <a:off x="215900" y="648555"/>
            <a:ext cx="576263" cy="7207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!</a:t>
            </a:r>
          </a:p>
        </p:txBody>
      </p:sp>
      <p:grpSp>
        <p:nvGrpSpPr>
          <p:cNvPr id="2053" name="Group 20"/>
          <p:cNvGrpSpPr>
            <a:grpSpLocks/>
          </p:cNvGrpSpPr>
          <p:nvPr/>
        </p:nvGrpSpPr>
        <p:grpSpPr bwMode="auto">
          <a:xfrm>
            <a:off x="323850" y="5334469"/>
            <a:ext cx="8640763" cy="720725"/>
            <a:chOff x="204" y="1434"/>
            <a:chExt cx="5443" cy="454"/>
          </a:xfrm>
        </p:grpSpPr>
        <p:sp>
          <p:nvSpPr>
            <p:cNvPr id="2056" name="Text Box 7"/>
            <p:cNvSpPr txBox="1">
              <a:spLocks noChangeArrowheads="1"/>
            </p:cNvSpPr>
            <p:nvPr/>
          </p:nvSpPr>
          <p:spPr bwMode="auto">
            <a:xfrm>
              <a:off x="748" y="1485"/>
              <a:ext cx="48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 smtClean="0">
                  <a:solidFill>
                    <a:schemeClr val="tx2"/>
                  </a:solidFill>
                </a:rPr>
                <a:t>离开</a:t>
              </a:r>
              <a:r>
                <a:rPr lang="zh-CN" altLang="en-US" sz="2400" dirty="0">
                  <a:solidFill>
                    <a:schemeClr val="tx2"/>
                  </a:solidFill>
                </a:rPr>
                <a:t>考场前按“提交”按钮，该按钮只能按一次</a:t>
              </a:r>
            </a:p>
          </p:txBody>
        </p:sp>
        <p:sp>
          <p:nvSpPr>
            <p:cNvPr id="2057" name="AutoShape 8"/>
            <p:cNvSpPr>
              <a:spLocks noChangeArrowheads="1"/>
            </p:cNvSpPr>
            <p:nvPr/>
          </p:nvSpPr>
          <p:spPr bwMode="auto">
            <a:xfrm>
              <a:off x="204" y="1434"/>
              <a:ext cx="363" cy="4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>
                  <a:solidFill>
                    <a:srgbClr val="FF0000"/>
                  </a:solidFill>
                </a:rPr>
                <a:t>!</a:t>
              </a:r>
            </a:p>
          </p:txBody>
        </p:sp>
      </p:grpSp>
      <p:sp>
        <p:nvSpPr>
          <p:cNvPr id="2054" name="Text Box 9"/>
          <p:cNvSpPr txBox="1">
            <a:spLocks noChangeArrowheads="1"/>
          </p:cNvSpPr>
          <p:nvPr/>
        </p:nvSpPr>
        <p:spPr bwMode="auto">
          <a:xfrm>
            <a:off x="985444" y="698420"/>
            <a:ext cx="8158556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编程题和改错</a:t>
            </a:r>
            <a:r>
              <a:rPr lang="zh-CN" altLang="en-US" sz="2400" dirty="0" smtClean="0"/>
              <a:t>题</a:t>
            </a:r>
            <a:r>
              <a:rPr lang="zh-CN" altLang="en-US" sz="2400" dirty="0"/>
              <a:t>上</a:t>
            </a:r>
            <a:r>
              <a:rPr lang="zh-CN" altLang="en-US" sz="2400" dirty="0" smtClean="0"/>
              <a:t>传</a:t>
            </a:r>
            <a:r>
              <a:rPr lang="en-US" altLang="zh-CN" sz="3600" dirty="0" err="1" smtClean="0">
                <a:solidFill>
                  <a:schemeClr val="tx2"/>
                </a:solidFill>
              </a:rPr>
              <a:t>cpp</a:t>
            </a:r>
            <a:r>
              <a:rPr lang="zh-CN" altLang="en-US" sz="2400" dirty="0" smtClean="0"/>
              <a:t>文件注意以下两点：</a:t>
            </a:r>
            <a:endParaRPr lang="en-US" altLang="zh-CN" sz="2400" dirty="0" smtClean="0"/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注意观察一下</a:t>
            </a:r>
            <a:r>
              <a:rPr lang="en-US" altLang="zh-CN" sz="2400" dirty="0" err="1" smtClean="0"/>
              <a:t>cpp</a:t>
            </a:r>
            <a:r>
              <a:rPr lang="zh-CN" altLang="en-US" sz="2400" dirty="0" smtClean="0"/>
              <a:t>文件的字节数不能是</a:t>
            </a:r>
            <a:r>
              <a:rPr lang="en-US" altLang="zh-CN" sz="2400" dirty="0" smtClean="0"/>
              <a:t>0KB</a:t>
            </a:r>
            <a:r>
              <a:rPr lang="zh-CN" altLang="en-US" sz="2400" dirty="0" smtClean="0"/>
              <a:t>，</a:t>
            </a:r>
            <a:r>
              <a:rPr lang="zh-CN" altLang="en-US" sz="2400" dirty="0" smtClean="0">
                <a:solidFill>
                  <a:schemeClr val="tx2"/>
                </a:solidFill>
              </a:rPr>
              <a:t>最好</a:t>
            </a:r>
            <a:r>
              <a:rPr lang="zh-CN" altLang="en-US" sz="2400" dirty="0">
                <a:solidFill>
                  <a:schemeClr val="tx2"/>
                </a:solidFill>
              </a:rPr>
              <a:t>关闭</a:t>
            </a:r>
            <a:r>
              <a:rPr lang="en-US" altLang="zh-CN" sz="2400" dirty="0" smtClean="0">
                <a:solidFill>
                  <a:schemeClr val="tx2"/>
                </a:solidFill>
              </a:rPr>
              <a:t>VS</a:t>
            </a:r>
            <a:r>
              <a:rPr lang="zh-CN" altLang="en-US" sz="2400" dirty="0" smtClean="0">
                <a:solidFill>
                  <a:schemeClr val="tx2"/>
                </a:solidFill>
              </a:rPr>
              <a:t>后再上传</a:t>
            </a:r>
            <a:r>
              <a:rPr lang="en-US" altLang="zh-CN" sz="2400" dirty="0" smtClean="0">
                <a:solidFill>
                  <a:schemeClr val="tx2"/>
                </a:solidFill>
              </a:rPr>
              <a:t> 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为避免误传其它类型的文件，请将“查看”菜单下的“文件扩展名”前的复选框选中，以便可以看到文件扩展名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31" y="3321906"/>
            <a:ext cx="8515350" cy="1190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/>
          <p:cNvSpPr txBox="1">
            <a:spLocks noChangeArrowheads="1"/>
          </p:cNvSpPr>
          <p:nvPr/>
        </p:nvSpPr>
        <p:spPr bwMode="auto">
          <a:xfrm>
            <a:off x="250825" y="620713"/>
            <a:ext cx="889317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题型及题量。具体如下：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单选部分：</a:t>
            </a:r>
            <a:r>
              <a:rPr lang="en-US" altLang="zh-CN" sz="2400"/>
              <a:t>10</a:t>
            </a:r>
            <a:r>
              <a:rPr lang="zh-CN" altLang="en-US" sz="2400"/>
              <a:t>题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程序填充：</a:t>
            </a:r>
            <a:r>
              <a:rPr lang="en-US" altLang="zh-CN" sz="2400"/>
              <a:t>2</a:t>
            </a:r>
            <a:r>
              <a:rPr lang="zh-CN" altLang="en-US" sz="2400"/>
              <a:t>题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编程部分：</a:t>
            </a:r>
            <a:r>
              <a:rPr lang="en-US" altLang="zh-CN" sz="2400"/>
              <a:t>4</a:t>
            </a:r>
            <a:r>
              <a:rPr lang="zh-CN" altLang="en-US" sz="2400"/>
              <a:t>题（其中两个编程题，两个改错题）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   </a:t>
            </a:r>
          </a:p>
        </p:txBody>
      </p:sp>
      <p:sp>
        <p:nvSpPr>
          <p:cNvPr id="3075" name="Text Box 5"/>
          <p:cNvSpPr txBox="1">
            <a:spLocks noChangeArrowheads="1"/>
          </p:cNvSpPr>
          <p:nvPr/>
        </p:nvSpPr>
        <p:spPr bwMode="auto">
          <a:xfrm>
            <a:off x="0" y="0"/>
            <a:ext cx="8748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试题类型：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836613"/>
            <a:ext cx="2035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一、语法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1341438"/>
            <a:ext cx="9144000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 dirty="0"/>
              <a:t>标识符：</a:t>
            </a:r>
          </a:p>
          <a:p>
            <a:pPr eaLnBrk="1" hangingPunct="1">
              <a:buFontTx/>
              <a:buNone/>
            </a:pPr>
            <a:r>
              <a:rPr lang="zh-CN" altLang="en-US" sz="2200" b="1" dirty="0"/>
              <a:t>      由字母、数字和下划线三种字符组成</a:t>
            </a:r>
            <a:r>
              <a:rPr lang="en-US" altLang="zh-CN" sz="2200" b="1" dirty="0"/>
              <a:t>,</a:t>
            </a:r>
            <a:r>
              <a:rPr lang="zh-CN" altLang="en-US" sz="2200" b="1" dirty="0"/>
              <a:t>且必须以字母或下划线开头。</a:t>
            </a:r>
          </a:p>
          <a:p>
            <a:pPr eaLnBrk="1" hangingPunct="1">
              <a:buFontTx/>
              <a:buNone/>
            </a:pPr>
            <a:r>
              <a:rPr lang="zh-CN" altLang="en-US" sz="2200" b="1" dirty="0">
                <a:solidFill>
                  <a:schemeClr val="tx2"/>
                </a:solidFill>
              </a:rPr>
              <a:t>关键字不能作为用户定义的标识符。</a:t>
            </a:r>
          </a:p>
          <a:p>
            <a:pPr eaLnBrk="1" hangingPunct="1">
              <a:buFontTx/>
              <a:buNone/>
            </a:pPr>
            <a:endParaRPr lang="zh-CN" altLang="en-US" sz="2200" b="1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200" b="1" dirty="0"/>
              <a:t>用户定义标识符： 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合法：   </a:t>
            </a:r>
            <a:r>
              <a:rPr lang="en-US" altLang="zh-CN" sz="2400" dirty="0"/>
              <a:t>char2	   _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      a3     P1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不合法：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         p[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     break     3a     </a:t>
            </a:r>
            <a:r>
              <a:rPr lang="en-US" altLang="zh-CN" sz="2400" dirty="0" err="1"/>
              <a:t>a+b</a:t>
            </a:r>
            <a:r>
              <a:rPr lang="en-US" altLang="zh-CN" sz="2400" dirty="0"/>
              <a:t>     class    public</a:t>
            </a:r>
          </a:p>
          <a:p>
            <a:pPr eaLnBrk="1" hangingPunct="1">
              <a:buFontTx/>
              <a:buNone/>
            </a:pPr>
            <a:r>
              <a:rPr lang="zh-CN" altLang="en-US" sz="2200" b="1" dirty="0"/>
              <a:t>常量：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合法： </a:t>
            </a:r>
            <a:r>
              <a:rPr lang="en-US" altLang="zh-CN" sz="2400" dirty="0"/>
              <a:t>'\n'	    '\102 '                      '\t '               '\72' </a:t>
            </a:r>
          </a:p>
          <a:p>
            <a:pPr algn="just" eaLnBrk="1" hangingPunct="1">
              <a:buFontTx/>
              <a:buNone/>
            </a:pPr>
            <a:r>
              <a:rPr lang="zh-CN" altLang="en-US" sz="2400" dirty="0"/>
              <a:t>不合法： </a:t>
            </a:r>
            <a:r>
              <a:rPr lang="en-US" altLang="zh-CN" sz="2400" dirty="0"/>
              <a:t>'ABC'         1.2e0.5        M      '[]' </a:t>
            </a:r>
          </a:p>
          <a:p>
            <a:pPr eaLnBrk="1" hangingPunct="1">
              <a:buFontTx/>
              <a:buNone/>
            </a:pPr>
            <a:endParaRPr lang="en-US" altLang="zh-CN" sz="2400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主要知识点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50825" y="188913"/>
            <a:ext cx="8305800" cy="48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CN" altLang="en-US" sz="2800" b="1" dirty="0">
                <a:solidFill>
                  <a:srgbClr val="00FFFF"/>
                </a:solidFill>
              </a:rPr>
              <a:t>运算符和表达式</a:t>
            </a:r>
            <a:r>
              <a:rPr lang="en-US" altLang="zh-CN" sz="2800" b="1" dirty="0">
                <a:solidFill>
                  <a:srgbClr val="00FFFF"/>
                </a:solidFill>
              </a:rPr>
              <a:t>: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结合性及优先级</a:t>
            </a:r>
            <a:r>
              <a:rPr lang="zh-CN" altLang="en-US" sz="2400" b="1" dirty="0"/>
              <a:t>      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CN" altLang="en-US" sz="2200" b="1" dirty="0"/>
              <a:t>例</a:t>
            </a:r>
            <a:r>
              <a:rPr lang="en-US" altLang="zh-CN" sz="2200" b="1" dirty="0"/>
              <a:t>:  (1)  a+=a*2              a=a+(a*2)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zh-CN" sz="2200" b="1" dirty="0"/>
              <a:t>           </a:t>
            </a:r>
            <a:r>
              <a:rPr lang="zh-CN" altLang="en-US" sz="2200" b="1" dirty="0"/>
              <a:t>若初始情况下</a:t>
            </a:r>
            <a:r>
              <a:rPr lang="en-US" altLang="zh-CN" sz="2200" b="1" dirty="0"/>
              <a:t>a=3,</a:t>
            </a:r>
            <a:r>
              <a:rPr lang="zh-CN" altLang="en-US" sz="2200" b="1" dirty="0"/>
              <a:t>则执行上述运算后</a:t>
            </a:r>
            <a:r>
              <a:rPr lang="en-US" altLang="zh-CN" sz="2200" b="1" dirty="0"/>
              <a:t>a=?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zh-CN" sz="2200" b="1" dirty="0"/>
              <a:t>       (2) x==0?a++:b++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zh-CN" sz="2200" b="1" dirty="0"/>
              <a:t>            </a:t>
            </a:r>
            <a:r>
              <a:rPr lang="zh-CN" altLang="zh-CN" sz="2200" b="1" dirty="0"/>
              <a:t>若已知</a:t>
            </a:r>
            <a:r>
              <a:rPr lang="en-US" altLang="zh-CN" sz="2200" b="1" dirty="0"/>
              <a:t>a=4,b=3,x=5 </a:t>
            </a:r>
            <a:r>
              <a:rPr lang="zh-CN" altLang="zh-CN" sz="2200" b="1" dirty="0"/>
              <a:t>则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b?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endParaRPr lang="en-US" altLang="zh-CN" sz="1000" b="1" dirty="0" smtClean="0"/>
          </a:p>
          <a:p>
            <a:pPr eaLnBrk="1" hangingPunct="1">
              <a:spcBef>
                <a:spcPct val="15000"/>
              </a:spcBef>
              <a:buFontTx/>
              <a:buNone/>
            </a:pPr>
            <a:endParaRPr lang="en-US" altLang="zh-CN" sz="1000" b="1" dirty="0"/>
          </a:p>
          <a:p>
            <a:pPr eaLnBrk="1" hangingPunct="1">
              <a:spcBef>
                <a:spcPct val="1500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对操作数的要求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CN" altLang="en-US" sz="2000" b="1" dirty="0"/>
              <a:t>            </a:t>
            </a:r>
            <a:r>
              <a:rPr lang="en-US" altLang="zh-CN" sz="2200" b="1" dirty="0"/>
              <a:t>(1) (</a:t>
            </a:r>
            <a:r>
              <a:rPr lang="en-US" altLang="zh-CN" sz="2200" b="1" dirty="0" err="1"/>
              <a:t>i+j</a:t>
            </a:r>
            <a:r>
              <a:rPr lang="en-US" altLang="zh-CN" sz="2200" b="1" dirty="0"/>
              <a:t>)++, 3++   (</a:t>
            </a:r>
            <a:r>
              <a:rPr lang="en-US" altLang="zh-CN" sz="1800" b="1" dirty="0">
                <a:latin typeface="宋体" pitchFamily="2" charset="-122"/>
              </a:rPr>
              <a:t>╳</a:t>
            </a:r>
            <a:r>
              <a:rPr lang="en-US" altLang="zh-CN" sz="2200" b="1" dirty="0"/>
              <a:t>)   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zh-CN" sz="2200" b="1" dirty="0"/>
              <a:t>               ++,-- </a:t>
            </a:r>
            <a:r>
              <a:rPr lang="zh-CN" altLang="en-US" sz="2200" b="1" dirty="0"/>
              <a:t>变量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CN" altLang="en-US" sz="2200" b="1" dirty="0"/>
              <a:t>            </a:t>
            </a:r>
            <a:r>
              <a:rPr lang="en-US" altLang="zh-CN" sz="2200" b="1" dirty="0"/>
              <a:t>(2) </a:t>
            </a:r>
            <a:r>
              <a:rPr lang="en-US" altLang="zh-CN" sz="2200" b="1" dirty="0" err="1"/>
              <a:t>a%b</a:t>
            </a:r>
            <a:endParaRPr lang="en-US" altLang="zh-CN" sz="2200" b="1" dirty="0"/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zh-CN" sz="2200" b="1" dirty="0"/>
              <a:t>               </a:t>
            </a:r>
            <a:r>
              <a:rPr lang="en-US" altLang="zh-CN" sz="2200" b="1" dirty="0" err="1"/>
              <a:t>a,b</a:t>
            </a:r>
            <a:r>
              <a:rPr lang="zh-CN" altLang="en-US" sz="2200" b="1" dirty="0"/>
              <a:t>必须为整型          </a:t>
            </a:r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6477000" y="1752600"/>
            <a:ext cx="762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00" b="1">
                <a:solidFill>
                  <a:srgbClr val="00FFFF"/>
                </a:solidFill>
              </a:rPr>
              <a:t>９</a:t>
            </a:r>
          </a:p>
        </p:txBody>
      </p:sp>
      <p:sp>
        <p:nvSpPr>
          <p:cNvPr id="5124" name="AutoShape 5"/>
          <p:cNvSpPr>
            <a:spLocks noChangeArrowheads="1"/>
          </p:cNvSpPr>
          <p:nvPr/>
        </p:nvSpPr>
        <p:spPr bwMode="auto">
          <a:xfrm>
            <a:off x="2555875" y="1268413"/>
            <a:ext cx="685800" cy="152400"/>
          </a:xfrm>
          <a:prstGeom prst="leftRightArrow">
            <a:avLst>
              <a:gd name="adj1" fmla="val 50000"/>
              <a:gd name="adj2" fmla="val 9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95288" y="260350"/>
            <a:ext cx="8610600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结果的类型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    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 </a:t>
            </a:r>
            <a:r>
              <a:rPr lang="en-US" altLang="zh-CN" sz="2400" b="1" dirty="0" err="1"/>
              <a:t>n,s</a:t>
            </a:r>
            <a:r>
              <a:rPr lang="en-US" altLang="zh-CN" sz="2400" b="1" dirty="0"/>
              <a:t>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for(n=1;n&lt;=10;n++)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     s+=1/n;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上述结果为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，若要得到正确结果，应用如下形式：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        </a:t>
            </a:r>
            <a:r>
              <a:rPr lang="en-US" altLang="zh-CN" sz="2400" b="1" dirty="0"/>
              <a:t>s+=1.0/n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或：</a:t>
            </a:r>
            <a:r>
              <a:rPr lang="en-US" altLang="zh-CN" sz="2400" b="1" dirty="0"/>
              <a:t>s+=1/(float)n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用逻辑表达式表达某个命题</a:t>
            </a:r>
            <a:r>
              <a:rPr lang="zh-CN" altLang="en-US" sz="2400" b="1" dirty="0"/>
              <a:t>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   如</a:t>
            </a:r>
            <a:r>
              <a:rPr lang="en-US" altLang="zh-CN" sz="2400" b="1" dirty="0"/>
              <a:t>: </a:t>
            </a:r>
            <a:r>
              <a:rPr lang="en-US" altLang="zh-CN" sz="2400" b="1" dirty="0" err="1"/>
              <a:t>ch</a:t>
            </a:r>
            <a:r>
              <a:rPr lang="en-US" altLang="zh-CN" sz="2400" b="1" dirty="0" smtClean="0"/>
              <a:t>&lt;'0'||</a:t>
            </a:r>
            <a:r>
              <a:rPr lang="en-US" altLang="zh-CN" sz="2400" b="1" dirty="0" err="1"/>
              <a:t>ch</a:t>
            </a:r>
            <a:r>
              <a:rPr lang="en-US" altLang="zh-CN" sz="2400" b="1" dirty="0" smtClean="0"/>
              <a:t>&gt;'9'             </a:t>
            </a:r>
            <a:r>
              <a:rPr lang="en-US" altLang="zh-CN" sz="2400" b="1" dirty="0" err="1"/>
              <a:t>ch</a:t>
            </a:r>
            <a:r>
              <a:rPr lang="zh-CN" altLang="zh-CN" sz="2400" b="1" dirty="0"/>
              <a:t>是非数字字符</a:t>
            </a:r>
            <a:endParaRPr lang="zh-CN" altLang="en-US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x&gt;=0&amp;&amp;x&lt;=200&amp;&amp;x%2==0    x</a:t>
            </a:r>
            <a:r>
              <a:rPr lang="zh-CN" altLang="en-US" sz="2400" b="1" dirty="0"/>
              <a:t>是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200</a:t>
            </a:r>
            <a:r>
              <a:rPr lang="zh-CN" altLang="en-US" sz="2400" b="1" dirty="0"/>
              <a:t>之间的偶数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 用随机函数产生</a:t>
            </a:r>
            <a:r>
              <a:rPr lang="zh-CN" altLang="en-US" sz="2400" b="1" dirty="0">
                <a:solidFill>
                  <a:schemeClr val="tx2"/>
                </a:solidFill>
              </a:rPr>
              <a:t>在某一区间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的数或字符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        </a:t>
            </a:r>
            <a:r>
              <a:rPr lang="en-US" altLang="zh-CN" sz="2400" b="1" dirty="0"/>
              <a:t>rand()%101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rand()%51+50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char x;  x=rand()%26+65;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381000" y="304800"/>
            <a:ext cx="87630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 &amp;&amp;</a:t>
            </a:r>
            <a:r>
              <a:rPr lang="zh-CN" altLang="en-US" sz="2400" b="1">
                <a:solidFill>
                  <a:schemeClr val="tx2"/>
                </a:solidFill>
              </a:rPr>
              <a:t>与</a:t>
            </a:r>
            <a:r>
              <a:rPr lang="en-US" altLang="zh-CN" sz="2400" b="1">
                <a:solidFill>
                  <a:schemeClr val="tx2"/>
                </a:solidFill>
              </a:rPr>
              <a:t>||</a:t>
            </a:r>
            <a:r>
              <a:rPr lang="zh-CN" altLang="en-US" sz="2400" b="1">
                <a:solidFill>
                  <a:schemeClr val="tx2"/>
                </a:solidFill>
              </a:rPr>
              <a:t>运算并结合自增、自减运算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已知 </a:t>
            </a:r>
            <a:r>
              <a:rPr lang="en-US" altLang="zh-CN" sz="2400" b="1"/>
              <a:t>a=b= 1; </a:t>
            </a:r>
            <a:r>
              <a:rPr lang="zh-CN" altLang="en-US" sz="2400" b="1"/>
              <a:t>则执行以下语句 后，各变量的值为</a:t>
            </a:r>
            <a:r>
              <a:rPr lang="en-US" altLang="zh-CN" sz="2400" b="1"/>
              <a:t>?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--a&amp;&amp;++b;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++a||--b;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267200" y="13716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a=0,     b=1 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267200" y="19812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a=2,      b=1 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533400" y="2590800"/>
            <a:ext cx="80010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FFFF"/>
                </a:solidFill>
              </a:rPr>
              <a:t>初始化与赋值</a:t>
            </a:r>
            <a:r>
              <a:rPr lang="en-US" altLang="zh-CN" sz="2800" b="1">
                <a:solidFill>
                  <a:srgbClr val="00FFFF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</a:t>
            </a:r>
            <a:r>
              <a:rPr lang="zh-CN" altLang="en-US" sz="2400" b="1"/>
              <a:t>错误</a:t>
            </a:r>
            <a:r>
              <a:rPr lang="en-US" altLang="zh-CN" sz="2400" b="1"/>
              <a:t>: int  a=b=c=0;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</a:t>
            </a:r>
            <a:r>
              <a:rPr lang="zh-CN" altLang="en-US" sz="2400" b="1"/>
              <a:t>应为</a:t>
            </a:r>
            <a:r>
              <a:rPr lang="en-US" altLang="zh-CN" sz="2400" b="1"/>
              <a:t>: int  a=0,b=0,c=0;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  </a:t>
            </a:r>
            <a:r>
              <a:rPr lang="zh-CN" altLang="en-US" sz="2400" b="1"/>
              <a:t>或：</a:t>
            </a:r>
            <a:r>
              <a:rPr lang="en-US" altLang="zh-CN" sz="2400" b="1"/>
              <a:t>int a(0),b(0),c(0);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   </a:t>
            </a:r>
            <a:r>
              <a:rPr lang="zh-CN" altLang="en-US" sz="2400" b="1"/>
              <a:t>或</a:t>
            </a:r>
            <a:r>
              <a:rPr lang="en-US" altLang="zh-CN" sz="2400" b="1"/>
              <a:t>: int  a,b,c;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         a=b=c=0;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81000" y="304800"/>
            <a:ext cx="82296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FFFF"/>
                </a:solidFill>
              </a:rPr>
              <a:t>输入和输出流 </a:t>
            </a:r>
            <a:r>
              <a:rPr lang="en-US" altLang="zh-CN" sz="2800" b="1">
                <a:solidFill>
                  <a:srgbClr val="00FFFF"/>
                </a:solidFill>
              </a:rPr>
              <a:t>cin,cout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      </a:t>
            </a:r>
            <a:r>
              <a:rPr lang="zh-CN" altLang="en-US" sz="2400" b="1"/>
              <a:t>例</a:t>
            </a:r>
            <a:r>
              <a:rPr lang="en-US" altLang="zh-CN" sz="2400" b="1"/>
              <a:t>:   char c[20];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              cin&gt;&gt;c;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</a:t>
            </a:r>
            <a:r>
              <a:rPr lang="zh-CN" altLang="en-US" sz="2400" b="1"/>
              <a:t>若输入</a:t>
            </a:r>
            <a:r>
              <a:rPr lang="en-US" altLang="zh-CN" sz="2400" b="1"/>
              <a:t>how do you 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</a:t>
            </a:r>
            <a:r>
              <a:rPr lang="zh-CN" altLang="en-US" sz="2400" b="1"/>
              <a:t>则</a:t>
            </a:r>
            <a:r>
              <a:rPr lang="en-US" altLang="zh-CN" sz="2400" b="1"/>
              <a:t>c</a:t>
            </a:r>
            <a:r>
              <a:rPr lang="zh-CN" altLang="en-US" sz="2400" b="1"/>
              <a:t>的值为</a:t>
            </a:r>
            <a:r>
              <a:rPr lang="en-US" altLang="zh-CN" sz="2800" b="1">
                <a:solidFill>
                  <a:srgbClr val="00FFFF"/>
                </a:solidFill>
              </a:rPr>
              <a:t>how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533400" y="457200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500563" y="2420938"/>
            <a:ext cx="295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5257800" y="1295400"/>
            <a:ext cx="3276600" cy="9445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</a:rPr>
              <a:t>gets(c)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</a:rPr>
              <a:t>则</a:t>
            </a:r>
            <a:r>
              <a:rPr lang="en-US" altLang="zh-CN" sz="2000">
                <a:solidFill>
                  <a:srgbClr val="FF0000"/>
                </a:solidFill>
              </a:rPr>
              <a:t>c</a:t>
            </a:r>
            <a:r>
              <a:rPr lang="zh-CN" altLang="en-US" sz="2000">
                <a:solidFill>
                  <a:srgbClr val="FF0000"/>
                </a:solidFill>
              </a:rPr>
              <a:t>的值为：</a:t>
            </a:r>
            <a:r>
              <a:rPr lang="en-US" altLang="zh-CN" sz="2000">
                <a:solidFill>
                  <a:srgbClr val="FF0000"/>
                </a:solidFill>
              </a:rPr>
              <a:t>how do you do</a:t>
            </a:r>
            <a:r>
              <a:rPr lang="en-US" altLang="zh-CN" sz="24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3352800" y="1447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4038600" y="990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改为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762000" y="2566988"/>
            <a:ext cx="8131175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void main()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{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char </a:t>
            </a:r>
            <a:r>
              <a:rPr lang="en-US" altLang="zh-CN" sz="2400" b="1" dirty="0" err="1"/>
              <a:t>ch</a:t>
            </a:r>
            <a:r>
              <a:rPr lang="en-US" altLang="zh-CN" sz="2400" b="1" dirty="0" smtClean="0"/>
              <a:t>='b', </a:t>
            </a:r>
            <a:r>
              <a:rPr lang="en-US" altLang="zh-CN" sz="2400" b="1" dirty="0"/>
              <a:t>s</a:t>
            </a:r>
            <a:r>
              <a:rPr lang="en-US" altLang="zh-CN" sz="2400" b="1" dirty="0" smtClean="0"/>
              <a:t>[]="</a:t>
            </a:r>
            <a:r>
              <a:rPr lang="en-US" altLang="zh-CN" sz="2400" b="1" dirty="0" err="1" smtClean="0"/>
              <a:t>abcde</a:t>
            </a:r>
            <a:r>
              <a:rPr lang="en-US" altLang="zh-CN" sz="2400" b="1" dirty="0" smtClean="0"/>
              <a:t>";</a:t>
            </a:r>
            <a:endParaRPr lang="en-US" altLang="zh-CN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&lt;&lt;ch+2;                    //   </a:t>
            </a:r>
            <a:r>
              <a:rPr lang="zh-CN" altLang="en-US" sz="2400" b="1" dirty="0"/>
              <a:t>输出 </a:t>
            </a:r>
            <a:r>
              <a:rPr lang="en-US" altLang="zh-CN" sz="2400" b="1" dirty="0"/>
              <a:t>100 </a:t>
            </a:r>
            <a:r>
              <a:rPr lang="en-US" altLang="zh-CN" sz="2400" b="1" dirty="0" smtClean="0"/>
              <a:t>('d'</a:t>
            </a:r>
            <a:r>
              <a:rPr lang="zh-CN" altLang="en-US" sz="2400" b="1" dirty="0" smtClean="0"/>
              <a:t>的</a:t>
            </a:r>
            <a:r>
              <a:rPr lang="en-US" altLang="zh-CN" sz="2400" b="1" dirty="0"/>
              <a:t>ASCII</a:t>
            </a:r>
            <a:r>
              <a:rPr lang="zh-CN" altLang="en-US" sz="2400" b="1" dirty="0"/>
              <a:t>码</a:t>
            </a:r>
            <a:r>
              <a:rPr lang="en-US" altLang="zh-CN" sz="2400" b="1" dirty="0"/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ch</a:t>
            </a:r>
            <a:r>
              <a:rPr lang="en-US" altLang="zh-CN" sz="2400" b="1" dirty="0"/>
              <a:t>=ch+2;  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</a:t>
            </a:r>
            <a:r>
              <a:rPr lang="en-US" altLang="zh-CN" sz="2400" b="1" dirty="0" err="1"/>
              <a:t>ch</a:t>
            </a:r>
            <a:r>
              <a:rPr lang="en-US" altLang="zh-CN" sz="2400" b="1" dirty="0"/>
              <a:t>;     //    </a:t>
            </a:r>
            <a:r>
              <a:rPr lang="zh-CN" altLang="en-US" sz="2400" b="1" dirty="0"/>
              <a:t>输出 </a:t>
            </a:r>
            <a:r>
              <a:rPr lang="en-US" altLang="zh-CN" sz="2400" b="1" dirty="0"/>
              <a:t>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&lt;&lt;*(s+2);                 //     </a:t>
            </a:r>
            <a:r>
              <a:rPr lang="zh-CN" altLang="en-US" sz="2400" b="1" dirty="0"/>
              <a:t>输出 </a:t>
            </a:r>
            <a:r>
              <a:rPr lang="en-US" altLang="zh-CN" sz="2400" b="1" dirty="0"/>
              <a:t>c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&lt;&lt;s+2                       //      </a:t>
            </a:r>
            <a:r>
              <a:rPr lang="zh-CN" altLang="en-US" sz="2400" b="1" dirty="0"/>
              <a:t>输出 </a:t>
            </a:r>
            <a:r>
              <a:rPr lang="en-US" altLang="zh-CN" sz="2400" b="1" dirty="0" err="1"/>
              <a:t>cde</a:t>
            </a:r>
            <a:endParaRPr lang="en-US" altLang="zh-CN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}</a:t>
            </a:r>
          </a:p>
        </p:txBody>
      </p:sp>
      <p:sp>
        <p:nvSpPr>
          <p:cNvPr id="8201" name="Oval 9"/>
          <p:cNvSpPr>
            <a:spLocks noChangeArrowheads="1"/>
          </p:cNvSpPr>
          <p:nvPr/>
        </p:nvSpPr>
        <p:spPr bwMode="auto">
          <a:xfrm>
            <a:off x="6156325" y="4941888"/>
            <a:ext cx="320040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/>
              <a:t>cout</a:t>
            </a:r>
            <a:r>
              <a:rPr lang="zh-CN" altLang="en-US" sz="2000" b="1"/>
              <a:t>依据其后表达式类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/>
              <a:t>型决定输出内容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609600" y="588963"/>
            <a:ext cx="8305800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FFFF"/>
                </a:solidFill>
              </a:rPr>
              <a:t>语句</a:t>
            </a:r>
            <a:r>
              <a:rPr lang="en-US" altLang="zh-CN" sz="2800" b="1" dirty="0">
                <a:solidFill>
                  <a:srgbClr val="00FFFF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 b="1" dirty="0"/>
              <a:t>  </a:t>
            </a:r>
            <a:r>
              <a:rPr lang="en-US" altLang="zh-CN" sz="2400" b="1" dirty="0">
                <a:solidFill>
                  <a:schemeClr val="tx2"/>
                </a:solidFill>
              </a:rPr>
              <a:t>if(</a:t>
            </a:r>
            <a:r>
              <a:rPr lang="zh-CN" altLang="en-US" sz="2400" b="1" dirty="0">
                <a:solidFill>
                  <a:schemeClr val="tx2"/>
                </a:solidFill>
              </a:rPr>
              <a:t>条件表达式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</a:t>
            </a:r>
            <a:r>
              <a:rPr lang="zh-CN" altLang="en-US" sz="2400" b="1" dirty="0"/>
              <a:t>几种等价关系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if(x)   </a:t>
            </a:r>
            <a:r>
              <a:rPr lang="zh-CN" altLang="en-US" sz="2400" b="1" dirty="0"/>
              <a:t>依据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的类型不同，分别等价于如下形式：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</a:t>
            </a:r>
            <a:r>
              <a:rPr lang="en-US" altLang="zh-CN" sz="2400" b="1" dirty="0"/>
              <a:t>if(x!=0)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if(x</a:t>
            </a:r>
            <a:r>
              <a:rPr lang="en-US" altLang="zh-CN" sz="2400" b="1" dirty="0" smtClean="0"/>
              <a:t>!='\0')             </a:t>
            </a:r>
            <a:r>
              <a:rPr lang="zh-CN" altLang="en-US" sz="2400" b="1" dirty="0"/>
              <a:t>思考：</a:t>
            </a:r>
            <a:r>
              <a:rPr lang="en-US" altLang="zh-CN" sz="2400" b="1" dirty="0"/>
              <a:t>if(!x)</a:t>
            </a:r>
            <a:r>
              <a:rPr lang="zh-CN" altLang="en-US" sz="2400" b="1" dirty="0"/>
              <a:t>的等价关系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if(x!=NULL)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chemeClr val="tx2"/>
                </a:solidFill>
              </a:rPr>
              <a:t>switch</a:t>
            </a:r>
            <a:r>
              <a:rPr lang="zh-CN" altLang="en-US" sz="2400" b="1" dirty="0">
                <a:solidFill>
                  <a:schemeClr val="tx2"/>
                </a:solidFill>
              </a:rPr>
              <a:t>语句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switch(a%5)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{case 0: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&lt;&lt;a++;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case 1: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&lt;&lt;++a;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case 2: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&lt;&lt;a--;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case 3: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&lt;&lt;--a;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若</a:t>
            </a:r>
            <a:r>
              <a:rPr lang="en-US" altLang="zh-CN" sz="2400" b="1" dirty="0"/>
              <a:t>a=2,</a:t>
            </a:r>
            <a:r>
              <a:rPr lang="zh-CN" altLang="en-US" sz="2400" b="1" dirty="0"/>
              <a:t>则输出：</a:t>
            </a:r>
          </a:p>
        </p:txBody>
      </p:sp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3505200" y="6248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FFFF"/>
                </a:solidFill>
              </a:rPr>
              <a:t>2  0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5105400" y="3844925"/>
            <a:ext cx="42672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char a</a:t>
            </a:r>
            <a:r>
              <a:rPr lang="en-US" altLang="zh-CN" sz="2400" b="1" dirty="0" smtClean="0"/>
              <a:t>='A';</a:t>
            </a:r>
            <a:r>
              <a:rPr lang="en-US" altLang="zh-CN" sz="2400" dirty="0" smtClean="0"/>
              <a:t> 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switch(a)</a:t>
            </a:r>
            <a:endParaRPr lang="en-US" altLang="zh-CN" sz="2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{case </a:t>
            </a:r>
            <a:r>
              <a:rPr lang="en-US" altLang="zh-CN" sz="2400" b="1" dirty="0" smtClean="0"/>
              <a:t>'A':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&lt;&lt;a-1;</a:t>
            </a:r>
            <a:endParaRPr lang="en-US" altLang="zh-CN" sz="2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case </a:t>
            </a:r>
            <a:r>
              <a:rPr lang="en-US" altLang="zh-CN" sz="2400" b="1" dirty="0" smtClean="0"/>
              <a:t>'B':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&lt;&lt;a+1;</a:t>
            </a:r>
            <a:endParaRPr lang="en-US" altLang="zh-CN" sz="2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case </a:t>
            </a:r>
            <a:r>
              <a:rPr lang="en-US" altLang="zh-CN" sz="2400" b="1" dirty="0" smtClean="0"/>
              <a:t>'C':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&lt;&lt;a++;</a:t>
            </a:r>
            <a:endParaRPr lang="en-US" altLang="zh-CN" sz="2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default: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&lt;&lt;--a;</a:t>
            </a:r>
            <a:endParaRPr lang="en-US" altLang="zh-CN" sz="2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}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685800" y="0"/>
            <a:ext cx="6629400" cy="614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循环</a:t>
            </a:r>
            <a:r>
              <a:rPr lang="en-US" altLang="zh-CN" sz="2400" b="1" dirty="0">
                <a:solidFill>
                  <a:schemeClr val="tx2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(1)do _while </a:t>
            </a:r>
            <a:r>
              <a:rPr lang="zh-CN" altLang="en-US" sz="2400" b="1" dirty="0"/>
              <a:t>先执行后判断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至少执行一次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</a:t>
            </a:r>
            <a:r>
              <a:rPr lang="en-US" altLang="zh-CN" sz="2400" b="1" dirty="0"/>
              <a:t>for ,while </a:t>
            </a:r>
            <a:r>
              <a:rPr lang="zh-CN" altLang="en-US" sz="2400" b="1" dirty="0"/>
              <a:t>先判断后执行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可能一次也不执行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</a:t>
            </a:r>
            <a:r>
              <a:rPr lang="en-US" altLang="zh-CN" sz="2400" b="1" dirty="0"/>
              <a:t>for</a:t>
            </a:r>
            <a:r>
              <a:rPr lang="zh-CN" altLang="en-US" sz="2400" b="1" dirty="0"/>
              <a:t>循环条件中常使用逗号表达式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void main()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{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for(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=0;i&lt;5;i+=2)</a:t>
            </a:r>
            <a:r>
              <a:rPr lang="en-US" altLang="zh-CN" sz="2400" b="1" dirty="0">
                <a:solidFill>
                  <a:schemeClr val="tx2"/>
                </a:solidFill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void main()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{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for(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=0;i&lt;5;i+=2)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cout</a:t>
            </a:r>
            <a:r>
              <a:rPr lang="en-US" altLang="zh-CN" sz="2400" b="1" dirty="0"/>
              <a:t>&lt;&lt;</a:t>
            </a:r>
            <a:r>
              <a:rPr lang="en-US" altLang="zh-CN" sz="2400" b="1" dirty="0" err="1"/>
              <a:t>i</a:t>
            </a:r>
            <a:r>
              <a:rPr lang="en-US" altLang="zh-CN" sz="2400" b="1" dirty="0" smtClean="0"/>
              <a:t>&lt;&lt;' ';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}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en-US" altLang="zh-CN" sz="2400" b="1" dirty="0" err="1"/>
              <a:t>int</a:t>
            </a:r>
            <a:r>
              <a:rPr lang="en-US" altLang="zh-CN" sz="2400" b="1" dirty="0"/>
              <a:t> k=0;   while(k=0) k++;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for(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k=1;k==3;k++);</a:t>
            </a:r>
          </a:p>
        </p:txBody>
      </p:sp>
      <p:sp>
        <p:nvSpPr>
          <p:cNvPr id="197635" name="Text Box 3"/>
          <p:cNvSpPr txBox="1">
            <a:spLocks noChangeArrowheads="1"/>
          </p:cNvSpPr>
          <p:nvPr/>
        </p:nvSpPr>
        <p:spPr bwMode="auto">
          <a:xfrm>
            <a:off x="4356100" y="2708275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FFFF"/>
                </a:solidFill>
              </a:rPr>
              <a:t>6</a:t>
            </a:r>
            <a:endParaRPr lang="en-US" altLang="zh-CN" sz="2400" b="1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284663" y="4005263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FFFF"/>
                </a:solidFill>
              </a:rPr>
              <a:t>0 2 4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5148263" y="1700213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注意区分空循环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5076825" y="5373688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执行次数</a:t>
            </a:r>
            <a:r>
              <a:rPr lang="en-US" altLang="zh-CN" sz="2400" b="1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609600" y="457200"/>
            <a:ext cx="61722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/>
              <a:t>(2)break</a:t>
            </a:r>
            <a:r>
              <a:rPr lang="zh-CN" altLang="zh-CN" sz="2600" b="1"/>
              <a:t>语句</a:t>
            </a:r>
            <a:r>
              <a:rPr lang="zh-CN" altLang="en-US" sz="2600" b="1"/>
              <a:t>和</a:t>
            </a:r>
            <a:r>
              <a:rPr lang="en-US" altLang="zh-CN" sz="2600" b="1"/>
              <a:t>continue</a:t>
            </a:r>
            <a:r>
              <a:rPr lang="zh-CN" altLang="en-US" sz="2600" b="1"/>
              <a:t>语句</a:t>
            </a:r>
          </a:p>
          <a:p>
            <a:pPr eaLnBrk="1" hangingPunct="1">
              <a:buFontTx/>
              <a:buNone/>
            </a:pPr>
            <a:r>
              <a:rPr lang="zh-CN" altLang="en-US" sz="2600" b="1"/>
              <a:t>    </a:t>
            </a:r>
            <a:r>
              <a:rPr lang="en-US" altLang="zh-CN" sz="2600" b="1"/>
              <a:t>x=0;</a:t>
            </a:r>
          </a:p>
          <a:p>
            <a:pPr eaLnBrk="1" hangingPunct="1">
              <a:buFontTx/>
              <a:buNone/>
            </a:pPr>
            <a:r>
              <a:rPr lang="en-US" altLang="zh-CN" sz="2600" b="1"/>
              <a:t>    for(j=4;j&lt;=6;j++)</a:t>
            </a:r>
          </a:p>
          <a:p>
            <a:pPr eaLnBrk="1" hangingPunct="1">
              <a:buFontTx/>
              <a:buNone/>
            </a:pPr>
            <a:r>
              <a:rPr lang="en-US" altLang="zh-CN" sz="2600" b="1"/>
              <a:t>        {if(j%2)</a:t>
            </a:r>
          </a:p>
          <a:p>
            <a:pPr eaLnBrk="1" hangingPunct="1">
              <a:buFontTx/>
              <a:buNone/>
            </a:pPr>
            <a:r>
              <a:rPr lang="en-US" altLang="zh-CN" sz="2600" b="1"/>
              <a:t>             break;</a:t>
            </a:r>
          </a:p>
          <a:p>
            <a:pPr eaLnBrk="1" hangingPunct="1">
              <a:buFontTx/>
              <a:buNone/>
            </a:pPr>
            <a:r>
              <a:rPr lang="en-US" altLang="zh-CN" sz="2600" b="1"/>
              <a:t>           x+=j;</a:t>
            </a:r>
          </a:p>
          <a:p>
            <a:pPr eaLnBrk="1" hangingPunct="1">
              <a:buFontTx/>
              <a:buNone/>
            </a:pPr>
            <a:r>
              <a:rPr lang="en-US" altLang="zh-CN" sz="2600" b="1"/>
              <a:t>         }</a:t>
            </a:r>
          </a:p>
          <a:p>
            <a:pPr eaLnBrk="1" hangingPunct="1">
              <a:buFontTx/>
              <a:buNone/>
            </a:pPr>
            <a:r>
              <a:rPr lang="en-US" altLang="zh-CN" sz="2600" b="1"/>
              <a:t>    cout&lt;&lt;x;</a:t>
            </a: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2843213" y="3716338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FFFF"/>
                </a:solidFill>
              </a:rPr>
              <a:t>4</a:t>
            </a:r>
            <a:endParaRPr lang="en-US" altLang="zh-CN" sz="2400"/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4716463" y="1125538"/>
            <a:ext cx="4032250" cy="34655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</a:t>
            </a:r>
            <a:r>
              <a:rPr lang="en-US" altLang="zh-CN" sz="2600" b="1">
                <a:solidFill>
                  <a:schemeClr val="accent2"/>
                </a:solidFill>
              </a:rPr>
              <a:t>x=0;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>
                <a:solidFill>
                  <a:schemeClr val="accent2"/>
                </a:solidFill>
              </a:rPr>
              <a:t>    for(j=4;j&lt;=6;j++)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>
                <a:solidFill>
                  <a:schemeClr val="accent2"/>
                </a:solidFill>
              </a:rPr>
              <a:t>        {if(j%2)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>
                <a:solidFill>
                  <a:schemeClr val="accent2"/>
                </a:solidFill>
              </a:rPr>
              <a:t>            continue;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>
                <a:solidFill>
                  <a:schemeClr val="accent2"/>
                </a:solidFill>
              </a:rPr>
              <a:t>           x+=j;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>
                <a:solidFill>
                  <a:schemeClr val="accent2"/>
                </a:solidFill>
              </a:rPr>
              <a:t> 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>
                <a:solidFill>
                  <a:schemeClr val="accent2"/>
                </a:solidFill>
              </a:rPr>
              <a:t>    cout&lt;&lt;x;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600" b="1">
              <a:solidFill>
                <a:schemeClr val="accent2"/>
              </a:solidFill>
            </a:endParaRP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7524750" y="36449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9"/>
          <p:cNvGrpSpPr>
            <a:grpSpLocks/>
          </p:cNvGrpSpPr>
          <p:nvPr/>
        </p:nvGrpSpPr>
        <p:grpSpPr bwMode="auto">
          <a:xfrm>
            <a:off x="304800" y="228600"/>
            <a:ext cx="8659813" cy="2554288"/>
            <a:chOff x="192" y="144"/>
            <a:chExt cx="5455" cy="1609"/>
          </a:xfrm>
        </p:grpSpPr>
        <p:sp>
          <p:nvSpPr>
            <p:cNvPr id="12293" name="Text Box 2"/>
            <p:cNvSpPr txBox="1">
              <a:spLocks noChangeArrowheads="1"/>
            </p:cNvSpPr>
            <p:nvPr/>
          </p:nvSpPr>
          <p:spPr bwMode="auto">
            <a:xfrm>
              <a:off x="192" y="144"/>
              <a:ext cx="5328" cy="1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20000"/>
                <a:buFont typeface="Symbol" pitchFamily="18" charset="2"/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数组</a:t>
              </a:r>
            </a:p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20000"/>
                <a:buFont typeface="Symbol" pitchFamily="18" charset="2"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</a:rPr>
                <a:t>避免下面错误：</a:t>
              </a:r>
            </a:p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20000"/>
                <a:buFont typeface="Symbol" pitchFamily="18" charset="2"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char s[5</a:t>
              </a:r>
              <a:r>
                <a:rPr lang="en-US" altLang="zh-CN" sz="2400" b="1" dirty="0" smtClean="0">
                  <a:solidFill>
                    <a:schemeClr val="hlink"/>
                  </a:solidFill>
                </a:rPr>
                <a:t>]={"This </a:t>
              </a:r>
              <a:r>
                <a:rPr lang="en-US" altLang="zh-CN" sz="2400" b="1" dirty="0">
                  <a:solidFill>
                    <a:schemeClr val="hlink"/>
                  </a:solidFill>
                </a:rPr>
                <a:t>is a </a:t>
              </a:r>
              <a:r>
                <a:rPr lang="en-US" altLang="zh-CN" sz="2400" b="1" dirty="0" smtClean="0">
                  <a:solidFill>
                    <a:schemeClr val="hlink"/>
                  </a:solidFill>
                </a:rPr>
                <a:t>book"};</a:t>
              </a:r>
              <a:endParaRPr lang="en-US" altLang="zh-CN" sz="2400" b="1" dirty="0">
                <a:solidFill>
                  <a:schemeClr val="hlink"/>
                </a:solidFill>
              </a:endParaRPr>
            </a:p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20000"/>
                <a:buFont typeface="Symbol" pitchFamily="18" charset="2"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char  s[10];</a:t>
              </a:r>
            </a:p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20000"/>
                <a:buFont typeface="Symbol" pitchFamily="18" charset="2"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s = "I am fine";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 err="1">
                  <a:solidFill>
                    <a:schemeClr val="hlink"/>
                  </a:solidFill>
                </a:rPr>
                <a:t>int</a:t>
              </a:r>
              <a:r>
                <a:rPr lang="en-US" altLang="zh-CN" sz="2400" dirty="0">
                  <a:solidFill>
                    <a:schemeClr val="hlink"/>
                  </a:solidFill>
                </a:rPr>
                <a:t> n=10,a[n];</a:t>
              </a:r>
            </a:p>
          </p:txBody>
        </p:sp>
        <p:sp>
          <p:nvSpPr>
            <p:cNvPr id="12294" name="Oval 3"/>
            <p:cNvSpPr>
              <a:spLocks noChangeArrowheads="1"/>
            </p:cNvSpPr>
            <p:nvPr/>
          </p:nvSpPr>
          <p:spPr bwMode="auto">
            <a:xfrm>
              <a:off x="2835" y="432"/>
              <a:ext cx="2812" cy="100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ea typeface="华文新魏" pitchFamily="2" charset="-122"/>
                </a:rPr>
                <a:t>不要越界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ea typeface="华文新魏" pitchFamily="2" charset="-122"/>
                </a:rPr>
                <a:t>数组名是地址常量，不可被赋值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ea typeface="华文新魏" pitchFamily="2" charset="-122"/>
                </a:rPr>
                <a:t>只有字符数组可整体输入输出</a:t>
              </a:r>
            </a:p>
          </p:txBody>
        </p:sp>
      </p:grp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179388" y="4437063"/>
            <a:ext cx="74676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二维数组的输入 、输出、元素的存储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400"/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6443663" y="4652963"/>
            <a:ext cx="23622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AutoNum type="arabicPlain"/>
            </a:pPr>
            <a:r>
              <a:rPr lang="en-US" altLang="zh-CN" sz="2400"/>
              <a:t>2   3 </a:t>
            </a:r>
          </a:p>
          <a:p>
            <a:pPr eaLnBrk="1" hangingPunct="1">
              <a:buFontTx/>
              <a:buAutoNum type="arabicPlain" startAt="4"/>
            </a:pPr>
            <a:r>
              <a:rPr lang="en-US" altLang="zh-CN" sz="2400"/>
              <a:t>5   6</a:t>
            </a:r>
          </a:p>
          <a:p>
            <a:pPr eaLnBrk="1" hangingPunct="1">
              <a:buFontTx/>
              <a:buNone/>
            </a:pPr>
            <a:r>
              <a:rPr lang="en-US" altLang="zh-CN" sz="2400"/>
              <a:t>7    8   9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457200" y="152400"/>
            <a:ext cx="8458200" cy="5664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dirty="0"/>
              <a:t>常用内部函数</a:t>
            </a:r>
            <a:r>
              <a:rPr lang="zh-CN" altLang="en-US" sz="2400" dirty="0" smtClean="0"/>
              <a:t>：</a:t>
            </a:r>
            <a:endParaRPr lang="en-US" altLang="zh-CN" sz="2400" b="1" dirty="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函数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原型说明在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 </a:t>
            </a:r>
            <a:r>
              <a:rPr lang="en-US" altLang="zh-CN" sz="2400" b="1" dirty="0" err="1" smtClean="0">
                <a:solidFill>
                  <a:schemeClr val="tx2"/>
                </a:solidFill>
              </a:rPr>
              <a:t>string.h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中</a:t>
            </a:r>
            <a:r>
              <a:rPr lang="en-US" altLang="zh-CN" sz="2000" dirty="0" smtClean="0">
                <a:solidFill>
                  <a:schemeClr val="tx2"/>
                </a:solidFill>
              </a:rPr>
              <a:t>  </a:t>
            </a:r>
            <a:r>
              <a:rPr lang="en-US" altLang="zh-CN" sz="2000" dirty="0">
                <a:solidFill>
                  <a:schemeClr val="tx2"/>
                </a:solidFill>
              </a:rPr>
              <a:t>(vs2012</a:t>
            </a:r>
            <a:r>
              <a:rPr lang="zh-CN" altLang="en-US" sz="2000" dirty="0">
                <a:solidFill>
                  <a:schemeClr val="tx2"/>
                </a:solidFill>
              </a:rPr>
              <a:t>下可不用该文件包含命令</a:t>
            </a:r>
            <a:r>
              <a:rPr lang="zh-CN" altLang="en-US" sz="2000" dirty="0" smtClean="0">
                <a:solidFill>
                  <a:schemeClr val="tx2"/>
                </a:solidFill>
              </a:rPr>
              <a:t>）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buFont typeface="Wingdings" pitchFamily="2" charset="2"/>
              <a:buChar char="Ø"/>
            </a:pPr>
            <a:r>
              <a:rPr lang="en-US" altLang="zh-CN" sz="2600" b="1" dirty="0" err="1" smtClean="0"/>
              <a:t>strlen</a:t>
            </a:r>
            <a:r>
              <a:rPr lang="en-US" altLang="zh-CN" sz="2600" b="1" dirty="0" smtClean="0"/>
              <a:t>(</a:t>
            </a:r>
            <a:r>
              <a:rPr lang="en-US" altLang="zh-CN" sz="2600" b="1" dirty="0" err="1" smtClean="0"/>
              <a:t>str</a:t>
            </a:r>
            <a:r>
              <a:rPr lang="en-US" altLang="zh-CN" sz="2600" b="1" dirty="0"/>
              <a:t>) </a:t>
            </a:r>
            <a:endParaRPr lang="en-US" altLang="zh-CN" sz="2600" b="1" dirty="0" smtClean="0"/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buFont typeface="Wingdings" pitchFamily="2" charset="2"/>
              <a:buChar char="Ø"/>
            </a:pPr>
            <a:r>
              <a:rPr lang="en-US" altLang="zh-CN" sz="2400" b="1" dirty="0" err="1" smtClean="0"/>
              <a:t>strlwr</a:t>
            </a:r>
            <a:r>
              <a:rPr lang="en-US" altLang="zh-CN" sz="2400" b="1" dirty="0" smtClean="0"/>
              <a:t>(</a:t>
            </a:r>
            <a:r>
              <a:rPr lang="en-US" altLang="zh-CN" sz="2400" b="1" dirty="0" err="1" smtClean="0"/>
              <a:t>str</a:t>
            </a:r>
            <a:r>
              <a:rPr lang="en-US" altLang="zh-CN" sz="2400" b="1" dirty="0"/>
              <a:t>)</a:t>
            </a:r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buFont typeface="Wingdings" pitchFamily="2" charset="2"/>
              <a:buChar char="Ø"/>
            </a:pPr>
            <a:r>
              <a:rPr lang="en-US" altLang="zh-CN" sz="2400" b="1" dirty="0" err="1"/>
              <a:t>strupr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str</a:t>
            </a:r>
            <a:r>
              <a:rPr lang="en-US" altLang="zh-CN" sz="2400" b="1" dirty="0"/>
              <a:t>)</a:t>
            </a:r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buFont typeface="Wingdings" pitchFamily="2" charset="2"/>
              <a:buChar char="Ø"/>
            </a:pPr>
            <a:r>
              <a:rPr lang="en-US" altLang="zh-CN" sz="2400" b="1" dirty="0" err="1"/>
              <a:t>strcpy</a:t>
            </a:r>
            <a:r>
              <a:rPr lang="en-US" altLang="zh-CN" sz="2400" b="1" dirty="0"/>
              <a:t>(str1,str2) </a:t>
            </a:r>
            <a:endParaRPr lang="en-US" altLang="zh-CN" sz="2400" b="1" dirty="0" smtClean="0"/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buFont typeface="Wingdings" pitchFamily="2" charset="2"/>
              <a:buChar char="Ø"/>
            </a:pPr>
            <a:r>
              <a:rPr lang="en-US" altLang="zh-CN" sz="2400" b="1" dirty="0" err="1" smtClean="0"/>
              <a:t>strcat</a:t>
            </a:r>
            <a:r>
              <a:rPr lang="en-US" altLang="zh-CN" sz="2400" b="1" dirty="0" smtClean="0"/>
              <a:t>(str1,str2</a:t>
            </a:r>
            <a:r>
              <a:rPr lang="en-US" altLang="zh-CN" sz="2400" b="1" dirty="0"/>
              <a:t>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b="1" dirty="0" err="1"/>
              <a:t>strcmp</a:t>
            </a:r>
            <a:r>
              <a:rPr lang="en-US" altLang="zh-CN" sz="2400" b="1" dirty="0"/>
              <a:t>(str1,str2)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07504" y="116632"/>
            <a:ext cx="8812088" cy="710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函数原型说明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在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</a:t>
            </a:r>
            <a:r>
              <a:rPr lang="en-US" altLang="zh-CN" sz="2400" b="1" dirty="0" err="1" smtClean="0">
                <a:solidFill>
                  <a:schemeClr val="tx2"/>
                </a:solidFill>
              </a:rPr>
              <a:t>stdio.h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</a:t>
            </a:r>
            <a:r>
              <a:rPr lang="en-US" altLang="zh-CN" sz="2400" dirty="0" smtClean="0">
                <a:solidFill>
                  <a:schemeClr val="tx2"/>
                </a:solidFill>
              </a:rPr>
              <a:t> </a:t>
            </a:r>
            <a:r>
              <a:rPr lang="zh-CN" altLang="en-US" sz="2400" dirty="0" smtClean="0">
                <a:solidFill>
                  <a:schemeClr val="tx2"/>
                </a:solidFill>
              </a:rPr>
              <a:t>中</a:t>
            </a:r>
            <a:r>
              <a:rPr lang="en-US" altLang="zh-CN" sz="2400" dirty="0" smtClean="0">
                <a:solidFill>
                  <a:schemeClr val="tx2"/>
                </a:solidFill>
              </a:rPr>
              <a:t> </a:t>
            </a:r>
            <a:r>
              <a:rPr lang="en-US" altLang="zh-CN" sz="2400" dirty="0" smtClean="0">
                <a:solidFill>
                  <a:schemeClr val="tx2"/>
                </a:solidFill>
              </a:rPr>
              <a:t>(</a:t>
            </a:r>
            <a:r>
              <a:rPr lang="en-US" altLang="zh-CN" sz="2400" dirty="0">
                <a:solidFill>
                  <a:schemeClr val="tx2"/>
                </a:solidFill>
              </a:rPr>
              <a:t>vs2012</a:t>
            </a:r>
            <a:r>
              <a:rPr lang="zh-CN" altLang="en-US" sz="2400" dirty="0">
                <a:solidFill>
                  <a:schemeClr val="tx2"/>
                </a:solidFill>
              </a:rPr>
              <a:t>下可不用该文件包含命令）</a:t>
            </a:r>
            <a:endParaRPr lang="en-US" altLang="zh-CN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 smtClean="0"/>
              <a:t>g</a:t>
            </a:r>
            <a:r>
              <a:rPr lang="en-US" altLang="zh-CN" sz="2400" b="1" dirty="0" smtClean="0"/>
              <a:t>ets(s)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p</a:t>
            </a:r>
            <a:r>
              <a:rPr lang="en-US" altLang="zh-CN" sz="2400" b="1" dirty="0" smtClean="0"/>
              <a:t>uts(s)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 err="1"/>
              <a:t>g</a:t>
            </a:r>
            <a:r>
              <a:rPr lang="en-US" altLang="zh-CN" sz="2400" b="1" dirty="0" err="1" smtClean="0"/>
              <a:t>etchar</a:t>
            </a:r>
            <a:r>
              <a:rPr lang="en-US" altLang="zh-CN" sz="2400" b="1" dirty="0" smtClean="0"/>
              <a:t>( 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 err="1"/>
              <a:t>p</a:t>
            </a:r>
            <a:r>
              <a:rPr lang="en-US" altLang="zh-CN" sz="2400" b="1" dirty="0" err="1" smtClean="0"/>
              <a:t>utchar</a:t>
            </a:r>
            <a:r>
              <a:rPr lang="en-US" altLang="zh-CN" sz="2400" b="1" dirty="0" smtClean="0"/>
              <a:t>( </a:t>
            </a:r>
            <a:r>
              <a:rPr lang="en-US" altLang="zh-CN" sz="2400" b="1" dirty="0" err="1" smtClean="0"/>
              <a:t>ch</a:t>
            </a:r>
            <a:r>
              <a:rPr lang="en-US" altLang="zh-CN" sz="2400" b="1" dirty="0" smtClean="0"/>
              <a:t>)</a:t>
            </a:r>
            <a:endParaRPr lang="en-US" altLang="zh-CN" sz="2400" b="1" dirty="0"/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函数原型说明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在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</a:t>
            </a:r>
            <a:r>
              <a:rPr lang="en-US" altLang="zh-CN" sz="2400" b="1" dirty="0" err="1" smtClean="0">
                <a:solidFill>
                  <a:schemeClr val="tx2"/>
                </a:solidFill>
              </a:rPr>
              <a:t>math.h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</a:t>
            </a:r>
            <a:r>
              <a:rPr lang="en-US" altLang="zh-CN" sz="2400" dirty="0" smtClean="0">
                <a:solidFill>
                  <a:schemeClr val="tx2"/>
                </a:solidFill>
              </a:rPr>
              <a:t> </a:t>
            </a:r>
            <a:r>
              <a:rPr lang="zh-CN" altLang="en-US" sz="2400" dirty="0">
                <a:solidFill>
                  <a:schemeClr val="tx2"/>
                </a:solidFill>
              </a:rPr>
              <a:t>中</a:t>
            </a:r>
            <a:r>
              <a:rPr lang="en-US" altLang="zh-CN" sz="2400" dirty="0" smtClean="0">
                <a:solidFill>
                  <a:schemeClr val="tx2"/>
                </a:solidFill>
              </a:rPr>
              <a:t>(</a:t>
            </a:r>
            <a:r>
              <a:rPr lang="en-US" altLang="zh-CN" sz="2400" dirty="0">
                <a:solidFill>
                  <a:schemeClr val="tx2"/>
                </a:solidFill>
              </a:rPr>
              <a:t>vs2012</a:t>
            </a:r>
            <a:r>
              <a:rPr lang="zh-CN" altLang="en-US" sz="2400" dirty="0">
                <a:solidFill>
                  <a:schemeClr val="tx2"/>
                </a:solidFill>
              </a:rPr>
              <a:t>下可不用该文件包含命令</a:t>
            </a:r>
            <a:r>
              <a:rPr lang="zh-CN" altLang="en-US" sz="2400" dirty="0" smtClean="0">
                <a:solidFill>
                  <a:schemeClr val="tx2"/>
                </a:solidFill>
              </a:rPr>
              <a:t>）</a:t>
            </a:r>
            <a:endParaRPr lang="en-US" altLang="zh-CN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 err="1" smtClean="0"/>
              <a:t>s</a:t>
            </a:r>
            <a:r>
              <a:rPr lang="en-US" altLang="zh-CN" sz="2400" b="1" dirty="0" err="1" smtClean="0"/>
              <a:t>qrt</a:t>
            </a:r>
            <a:r>
              <a:rPr lang="en-US" altLang="zh-CN" sz="2400" b="1" dirty="0" smtClean="0"/>
              <a:t>(x)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 err="1"/>
              <a:t>f</a:t>
            </a:r>
            <a:r>
              <a:rPr lang="en-US" altLang="zh-CN" sz="2400" b="1" dirty="0" err="1" smtClean="0"/>
              <a:t>abs</a:t>
            </a:r>
            <a:r>
              <a:rPr lang="en-US" altLang="zh-CN" sz="2400" b="1" dirty="0" smtClean="0"/>
              <a:t>(x)</a:t>
            </a:r>
            <a:endParaRPr lang="en-US" altLang="zh-CN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函数原型说明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在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</a:t>
            </a:r>
            <a:r>
              <a:rPr lang="en-US" altLang="zh-CN" sz="2400" b="1" dirty="0" err="1" smtClean="0">
                <a:solidFill>
                  <a:schemeClr val="tx2"/>
                </a:solidFill>
              </a:rPr>
              <a:t>stdlib.h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中</a:t>
            </a:r>
            <a:r>
              <a:rPr lang="en-US" altLang="zh-CN" sz="2400" dirty="0" smtClean="0">
                <a:solidFill>
                  <a:schemeClr val="tx2"/>
                </a:solidFill>
              </a:rPr>
              <a:t> </a:t>
            </a:r>
            <a:r>
              <a:rPr lang="en-US" altLang="zh-CN" sz="2400" dirty="0">
                <a:solidFill>
                  <a:schemeClr val="tx2"/>
                </a:solidFill>
              </a:rPr>
              <a:t>(vs2012</a:t>
            </a:r>
            <a:r>
              <a:rPr lang="zh-CN" altLang="en-US" sz="2400" dirty="0">
                <a:solidFill>
                  <a:schemeClr val="tx2"/>
                </a:solidFill>
              </a:rPr>
              <a:t>下可不用该文件包含命令）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r</a:t>
            </a:r>
            <a:r>
              <a:rPr lang="en-US" altLang="zh-CN" sz="2400" b="1" dirty="0" smtClean="0"/>
              <a:t>and</a:t>
            </a:r>
            <a:r>
              <a:rPr lang="en-US" altLang="zh-CN" sz="2400" b="1" dirty="0" smtClean="0"/>
              <a:t>( 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函数原型说明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在</a:t>
            </a:r>
            <a:r>
              <a:rPr lang="en-US" altLang="zh-CN" sz="2400" b="1" dirty="0">
                <a:solidFill>
                  <a:schemeClr val="tx2"/>
                </a:solidFill>
              </a:rPr>
              <a:t>" </a:t>
            </a:r>
            <a:r>
              <a:rPr lang="en-US" altLang="zh-CN" sz="2400" b="1" dirty="0" err="1" smtClean="0">
                <a:solidFill>
                  <a:schemeClr val="tx2"/>
                </a:solidFill>
              </a:rPr>
              <a:t>iomanip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"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中</a:t>
            </a:r>
            <a:endParaRPr lang="en-US" altLang="zh-CN" sz="2400" b="1" dirty="0" smtClean="0">
              <a:solidFill>
                <a:schemeClr val="tx2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 err="1" smtClean="0"/>
              <a:t>setw</a:t>
            </a:r>
            <a:r>
              <a:rPr lang="en-US" altLang="zh-CN" sz="2400" b="1" dirty="0" smtClean="0"/>
              <a:t>(n)</a:t>
            </a:r>
            <a:endParaRPr lang="en-US" altLang="zh-CN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52400" y="0"/>
            <a:ext cx="84582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二、算法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、素数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(1) </a:t>
            </a:r>
            <a:r>
              <a:rPr lang="en-US" altLang="zh-CN" sz="2400" b="1" dirty="0" smtClean="0"/>
              <a:t> ……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     for(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=2;m%i!=0;i++)</a:t>
            </a:r>
            <a:r>
              <a:rPr lang="en-US" altLang="zh-CN" sz="2400" b="1" dirty="0">
                <a:solidFill>
                  <a:schemeClr val="tx2"/>
                </a:solidFill>
              </a:rPr>
              <a:t>;//</a:t>
            </a:r>
            <a:r>
              <a:rPr lang="zh-CN" altLang="en-US" sz="2400" b="1" dirty="0">
                <a:solidFill>
                  <a:schemeClr val="tx2"/>
                </a:solidFill>
              </a:rPr>
              <a:t>注意此处分号不能少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 smtClean="0"/>
              <a:t>if(</a:t>
            </a:r>
            <a:r>
              <a:rPr lang="en-US" altLang="zh-CN" sz="2400" b="1" dirty="0" err="1" smtClean="0"/>
              <a:t>i</a:t>
            </a:r>
            <a:r>
              <a:rPr lang="en-US" altLang="zh-CN" sz="2400" b="1" dirty="0" smtClean="0"/>
              <a:t>==m)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     ……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else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     ……</a:t>
            </a:r>
            <a:endParaRPr lang="en-US" altLang="zh-CN" sz="2400" b="1" dirty="0"/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4724400" y="3114675"/>
            <a:ext cx="4419600" cy="341632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(2)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smtClean="0">
                <a:solidFill>
                  <a:schemeClr val="bg1"/>
                </a:solidFill>
              </a:rPr>
              <a:t>       ........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       k=</a:t>
            </a:r>
            <a:r>
              <a:rPr lang="en-US" altLang="zh-CN" sz="2400" b="1" dirty="0" err="1">
                <a:solidFill>
                  <a:schemeClr val="bg1"/>
                </a:solidFill>
              </a:rPr>
              <a:t>sqrt</a:t>
            </a:r>
            <a:r>
              <a:rPr lang="en-US" altLang="zh-CN" sz="2400" b="1" dirty="0">
                <a:solidFill>
                  <a:schemeClr val="bg1"/>
                </a:solidFill>
              </a:rPr>
              <a:t>(m);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       for(</a:t>
            </a:r>
            <a:r>
              <a:rPr lang="en-US" altLang="zh-CN" sz="2400" b="1" dirty="0" err="1">
                <a:solidFill>
                  <a:schemeClr val="bg1"/>
                </a:solidFill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</a:rPr>
              <a:t>=2;i&lt;=</a:t>
            </a:r>
            <a:r>
              <a:rPr lang="en-US" altLang="zh-CN" sz="2400" b="1" dirty="0" err="1">
                <a:solidFill>
                  <a:schemeClr val="bg1"/>
                </a:solidFill>
              </a:rPr>
              <a:t>k;i</a:t>
            </a:r>
            <a:r>
              <a:rPr lang="en-US" altLang="zh-CN" sz="2400" b="1" dirty="0">
                <a:solidFill>
                  <a:schemeClr val="bg1"/>
                </a:solidFill>
              </a:rPr>
              <a:t>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            if(</a:t>
            </a:r>
            <a:r>
              <a:rPr lang="en-US" altLang="zh-CN" sz="2400" b="1" dirty="0" err="1">
                <a:solidFill>
                  <a:schemeClr val="bg1"/>
                </a:solidFill>
              </a:rPr>
              <a:t>m%i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==</a:t>
            </a:r>
            <a:r>
              <a:rPr lang="en-US" altLang="zh-CN" sz="2400" b="1" dirty="0">
                <a:solidFill>
                  <a:schemeClr val="bg1"/>
                </a:solidFill>
              </a:rPr>
              <a:t>0)break;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       if(</a:t>
            </a:r>
            <a:r>
              <a:rPr lang="en-US" altLang="zh-CN" sz="2400" b="1" dirty="0" err="1">
                <a:solidFill>
                  <a:schemeClr val="bg1"/>
                </a:solidFill>
              </a:rPr>
              <a:t>i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==</a:t>
            </a:r>
            <a:r>
              <a:rPr lang="en-US" altLang="zh-CN" sz="2400" b="1" dirty="0">
                <a:solidFill>
                  <a:schemeClr val="bg1"/>
                </a:solidFill>
              </a:rPr>
              <a:t>k+1)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                 ......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     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                 ......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533400" y="371475"/>
            <a:ext cx="76962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最大公约数和最小公倍数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err="1"/>
              <a:t>i</a:t>
            </a:r>
            <a:r>
              <a:rPr lang="en-US" altLang="zh-CN" sz="2400" b="1" dirty="0" err="1" smtClean="0"/>
              <a:t>nt</a:t>
            </a:r>
            <a:r>
              <a:rPr lang="en-US" altLang="zh-CN" sz="2400" b="1" dirty="0" smtClean="0"/>
              <a:t> main( )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smtClean="0"/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r;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while(r=</a:t>
            </a:r>
            <a:r>
              <a:rPr lang="en-US" altLang="zh-CN" sz="2400" b="1" dirty="0" err="1" smtClean="0"/>
              <a:t>m%n</a:t>
            </a:r>
            <a:r>
              <a:rPr lang="en-US" altLang="zh-CN" sz="2400" b="1" dirty="0"/>
              <a:t>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{</a:t>
            </a:r>
            <a:r>
              <a:rPr lang="en-US" altLang="zh-CN" sz="2400" b="1" dirty="0" smtClean="0"/>
              <a:t>m=</a:t>
            </a:r>
            <a:r>
              <a:rPr lang="en-US" altLang="zh-CN" sz="2400" b="1" dirty="0" err="1" smtClean="0"/>
              <a:t>n;n</a:t>
            </a:r>
            <a:r>
              <a:rPr lang="en-US" altLang="zh-CN" sz="2400" b="1" dirty="0" smtClean="0"/>
              <a:t>=r;}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system(</a:t>
            </a:r>
            <a:r>
              <a:rPr lang="en-US" altLang="zh-CN" sz="2400" b="1" dirty="0"/>
              <a:t>"</a:t>
            </a:r>
            <a:r>
              <a:rPr lang="en-US" altLang="zh-CN" sz="2400" b="1" dirty="0" smtClean="0"/>
              <a:t>pause</a:t>
            </a:r>
            <a:r>
              <a:rPr lang="en-US" altLang="zh-CN" sz="2400" b="1" dirty="0"/>
              <a:t>"</a:t>
            </a:r>
            <a:r>
              <a:rPr lang="en-US" altLang="zh-CN" sz="2400" b="1" dirty="0" smtClean="0"/>
              <a:t>);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return </a:t>
            </a:r>
            <a:r>
              <a:rPr lang="en-US" altLang="zh-CN" sz="2400" b="1" dirty="0" smtClean="0"/>
              <a:t>(0);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也可以从定义出发求解最大公约数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程序略</a:t>
            </a:r>
            <a:r>
              <a:rPr lang="en-US" altLang="zh-CN" sz="2400" b="1" dirty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还可以用辗转相减的方法求解最大公约数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程序略</a:t>
            </a:r>
            <a:r>
              <a:rPr lang="en-US" altLang="zh-CN" sz="2400" b="1" dirty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533400" y="9906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400"/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838200" y="533400"/>
            <a:ext cx="4495800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  </a:t>
            </a:r>
            <a:r>
              <a:rPr lang="en-US" altLang="zh-CN" sz="2400" dirty="0"/>
              <a:t>main()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{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=0,c1;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&gt;&gt;a;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c1=a;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while(a!=0)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{b=a%10;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c=c*10+b;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a/=10;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if(c1==c)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cout</a:t>
            </a:r>
            <a:r>
              <a:rPr lang="en-US" altLang="zh-CN" sz="2400" b="1" dirty="0" smtClean="0"/>
              <a:t>&lt;&lt;"yes";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cout</a:t>
            </a:r>
            <a:r>
              <a:rPr lang="en-US" altLang="zh-CN" sz="2400" b="1" dirty="0" smtClean="0"/>
              <a:t>&lt;&lt;"no";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r</a:t>
            </a:r>
            <a:r>
              <a:rPr lang="en-US" altLang="zh-CN" sz="2400" b="1" dirty="0" smtClean="0"/>
              <a:t>eturn 0;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684213" y="2276475"/>
            <a:ext cx="2303462" cy="18002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2987675" y="2924175"/>
            <a:ext cx="5762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3708400" y="2636838"/>
            <a:ext cx="2303463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构造</a:t>
            </a:r>
            <a:r>
              <a:rPr lang="en-US" altLang="zh-CN" sz="2400"/>
              <a:t>a</a:t>
            </a:r>
            <a:r>
              <a:rPr lang="zh-CN" altLang="en-US" sz="2400"/>
              <a:t>的逆序数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a:123	    c:321</a:t>
            </a:r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4500563" y="342900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323850" y="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3. </a:t>
            </a:r>
            <a:r>
              <a:rPr lang="zh-CN" altLang="en-US" sz="2400" b="1"/>
              <a:t>判断回文数和回文串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250824" y="260350"/>
            <a:ext cx="5257279" cy="60016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……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 smtClean="0"/>
              <a:t> char s[100], t[100</a:t>
            </a:r>
            <a:r>
              <a:rPr lang="en-US" altLang="zh-CN" sz="2400" dirty="0"/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/>
              <a:t>strcpy</a:t>
            </a:r>
            <a:r>
              <a:rPr lang="en-US" altLang="zh-CN" sz="2400" dirty="0"/>
              <a:t>(</a:t>
            </a:r>
            <a:r>
              <a:rPr lang="en-US" altLang="zh-CN" sz="2400" dirty="0" err="1"/>
              <a:t>t,s</a:t>
            </a:r>
            <a:r>
              <a:rPr lang="en-US" altLang="zh-CN" sz="2400" dirty="0"/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=</a:t>
            </a:r>
            <a:r>
              <a:rPr lang="en-US" altLang="zh-CN" sz="2400" dirty="0" err="1"/>
              <a:t>strlen</a:t>
            </a:r>
            <a:r>
              <a:rPr lang="en-US" altLang="zh-CN" sz="2400" dirty="0"/>
              <a:t>(s);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=0;i&lt;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/2;i++)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char c=s[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s[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]=s[len-1-i];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s[len-1-i]=c;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if(</a:t>
            </a:r>
            <a:r>
              <a:rPr lang="en-US" altLang="zh-CN" sz="2400" dirty="0" err="1"/>
              <a:t>strcmp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s,t</a:t>
            </a:r>
            <a:r>
              <a:rPr lang="en-US" altLang="zh-CN" sz="2400" dirty="0"/>
              <a:t>)==0)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&lt;&lt;"</a:t>
            </a:r>
            <a:r>
              <a:rPr lang="zh-CN" altLang="en-US" sz="2400" dirty="0" smtClean="0"/>
              <a:t>是回文串</a:t>
            </a:r>
            <a:r>
              <a:rPr lang="en-US" altLang="zh-CN" sz="2400" dirty="0" smtClean="0"/>
              <a:t>"&lt;&lt;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 </a:t>
            </a:r>
            <a:r>
              <a:rPr lang="en-US" altLang="zh-CN" sz="2400" dirty="0" err="1"/>
              <a:t>cout</a:t>
            </a:r>
            <a:r>
              <a:rPr lang="en-US" altLang="zh-CN" sz="2400" dirty="0" smtClean="0"/>
              <a:t>&lt;&lt;"</a:t>
            </a:r>
            <a:r>
              <a:rPr lang="zh-CN" altLang="en-US" sz="2400" dirty="0" smtClean="0"/>
              <a:t>不是</a:t>
            </a:r>
            <a:r>
              <a:rPr lang="zh-CN" altLang="en-US" sz="2400" dirty="0"/>
              <a:t>回文</a:t>
            </a:r>
            <a:r>
              <a:rPr lang="zh-CN" altLang="en-US" sz="2400" dirty="0" smtClean="0"/>
              <a:t>串</a:t>
            </a:r>
            <a:r>
              <a:rPr lang="en-US" altLang="zh-CN" sz="2400" dirty="0" smtClean="0"/>
              <a:t>"&lt;&lt;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323528" y="332656"/>
            <a:ext cx="80645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、求</a:t>
            </a:r>
            <a:r>
              <a:rPr lang="zh-CN" altLang="en-US" sz="2400" dirty="0" smtClean="0"/>
              <a:t>级数部分和</a:t>
            </a:r>
            <a:endParaRPr lang="en-US" altLang="zh-CN" sz="2400" dirty="0" smtClean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/>
              <a:t>5</a:t>
            </a:r>
            <a:r>
              <a:rPr lang="zh-CN" altLang="en-US" sz="2400" dirty="0" smtClean="0"/>
              <a:t>、打印</a:t>
            </a:r>
            <a:r>
              <a:rPr lang="zh-CN" altLang="en-US" sz="2400" dirty="0" smtClean="0"/>
              <a:t>图形</a:t>
            </a:r>
            <a:endParaRPr lang="en-US" altLang="zh-CN" sz="2400" dirty="0" smtClean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/>
              <a:t>6</a:t>
            </a:r>
            <a:r>
              <a:rPr lang="zh-CN" altLang="en-US" sz="2400" dirty="0" smtClean="0"/>
              <a:t>、迭代法</a:t>
            </a:r>
            <a:endParaRPr lang="en-US" altLang="zh-CN" sz="2400" dirty="0" smtClean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/>
              <a:t>7</a:t>
            </a:r>
            <a:r>
              <a:rPr lang="zh-CN" altLang="en-US" sz="2400" dirty="0" smtClean="0"/>
              <a:t>、穷举法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48744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304800" y="304800"/>
            <a:ext cx="8686800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 smtClean="0"/>
              <a:t>8.</a:t>
            </a:r>
            <a:r>
              <a:rPr lang="zh-CN" altLang="en-US" sz="2600" b="1" dirty="0"/>
              <a:t>数组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(1)</a:t>
            </a:r>
            <a:r>
              <a:rPr lang="zh-CN" altLang="en-US" sz="2600" b="1" dirty="0"/>
              <a:t>求极值</a:t>
            </a:r>
            <a:r>
              <a:rPr lang="en-US" altLang="zh-CN" sz="2600" b="1" dirty="0"/>
              <a:t>(</a:t>
            </a:r>
            <a:r>
              <a:rPr lang="zh-CN" altLang="en-US" sz="2600" b="1" dirty="0"/>
              <a:t>包括最大最小值及其下标</a:t>
            </a:r>
            <a:r>
              <a:rPr lang="en-US" altLang="zh-CN" sz="2600" b="1" dirty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1" dirty="0"/>
              <a:t>求最大元素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max=a[0];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 for(k=1;k&lt;</a:t>
            </a:r>
            <a:r>
              <a:rPr lang="en-US" altLang="zh-CN" sz="2600" b="1" dirty="0" err="1"/>
              <a:t>N;k</a:t>
            </a:r>
            <a:r>
              <a:rPr lang="en-US" altLang="zh-CN" sz="2600" b="1" dirty="0"/>
              <a:t>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    if(a[k]&gt;max)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	max=a[k];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1" dirty="0"/>
              <a:t>求最大元素的位置</a:t>
            </a:r>
            <a:r>
              <a:rPr lang="en-US" altLang="zh-CN" sz="2600" b="1" dirty="0"/>
              <a:t>(</a:t>
            </a:r>
            <a:r>
              <a:rPr lang="zh-CN" altLang="en-US" sz="2600" b="1" dirty="0"/>
              <a:t>即下标</a:t>
            </a:r>
            <a:r>
              <a:rPr lang="en-US" altLang="zh-CN" sz="2600" b="1" dirty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 </a:t>
            </a:r>
            <a:r>
              <a:rPr lang="en-US" altLang="zh-CN" sz="2600" b="1" dirty="0" err="1"/>
              <a:t>int</a:t>
            </a:r>
            <a:r>
              <a:rPr lang="en-US" altLang="zh-CN" sz="2600" b="1" dirty="0"/>
              <a:t> </a:t>
            </a:r>
            <a:r>
              <a:rPr lang="en-US" altLang="zh-CN" sz="2600" b="1" dirty="0" err="1"/>
              <a:t>imax,k</a:t>
            </a:r>
            <a:r>
              <a:rPr lang="en-US" altLang="zh-CN" sz="2600" b="1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 </a:t>
            </a:r>
            <a:r>
              <a:rPr lang="en-US" altLang="zh-CN" sz="2600" b="1" dirty="0" err="1"/>
              <a:t>imax</a:t>
            </a:r>
            <a:r>
              <a:rPr lang="en-US" altLang="zh-CN" sz="2600" b="1" dirty="0"/>
              <a:t>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 for(k=1;k&lt;</a:t>
            </a:r>
            <a:r>
              <a:rPr lang="en-US" altLang="zh-CN" sz="2600" b="1" dirty="0" err="1"/>
              <a:t>n;k</a:t>
            </a:r>
            <a:r>
              <a:rPr lang="en-US" altLang="zh-CN" sz="2600" b="1" dirty="0"/>
              <a:t>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	if(a[k]&gt;a[</a:t>
            </a:r>
            <a:r>
              <a:rPr lang="en-US" altLang="zh-CN" sz="2600" b="1" dirty="0" err="1"/>
              <a:t>imax</a:t>
            </a:r>
            <a:r>
              <a:rPr lang="en-US" altLang="zh-CN" sz="2600" b="1" dirty="0"/>
              <a:t>])</a:t>
            </a:r>
            <a:r>
              <a:rPr lang="en-US" altLang="zh-CN" sz="2400" b="1" dirty="0">
                <a:solidFill>
                  <a:schemeClr val="tx2"/>
                </a:solidFill>
              </a:rPr>
              <a:t>//</a:t>
            </a:r>
            <a:r>
              <a:rPr lang="zh-CN" altLang="en-US" sz="2400" b="1" dirty="0">
                <a:solidFill>
                  <a:schemeClr val="tx2"/>
                </a:solidFill>
              </a:rPr>
              <a:t>注意是元素之间比较</a:t>
            </a:r>
            <a:r>
              <a:rPr lang="en-US" altLang="zh-CN" sz="2400" b="1" dirty="0">
                <a:solidFill>
                  <a:schemeClr val="tx2"/>
                </a:solidFill>
              </a:rPr>
              <a:t>,</a:t>
            </a:r>
            <a:r>
              <a:rPr lang="en-US" altLang="zh-CN" sz="2400" b="1" dirty="0" err="1">
                <a:solidFill>
                  <a:schemeClr val="tx2"/>
                </a:solidFill>
              </a:rPr>
              <a:t>imax</a:t>
            </a:r>
            <a:r>
              <a:rPr lang="zh-CN" altLang="en-US" sz="2400" b="1" dirty="0">
                <a:solidFill>
                  <a:schemeClr val="tx2"/>
                </a:solidFill>
              </a:rPr>
              <a:t>为最大下标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1" dirty="0"/>
              <a:t>		</a:t>
            </a:r>
            <a:r>
              <a:rPr lang="en-US" altLang="zh-CN" sz="2600" b="1" dirty="0" err="1"/>
              <a:t>imax</a:t>
            </a:r>
            <a:r>
              <a:rPr lang="en-US" altLang="zh-CN" sz="2600" b="1" dirty="0"/>
              <a:t>=k;  </a:t>
            </a:r>
            <a:r>
              <a:rPr lang="en-US" altLang="zh-CN" sz="2600" b="1" dirty="0">
                <a:solidFill>
                  <a:schemeClr val="tx2"/>
                </a:solidFill>
              </a:rPr>
              <a:t>//</a:t>
            </a:r>
            <a:r>
              <a:rPr lang="zh-CN" altLang="en-US" sz="2600" b="1" dirty="0">
                <a:solidFill>
                  <a:schemeClr val="tx2"/>
                </a:solidFill>
              </a:rPr>
              <a:t>注意替换的是最大下标</a:t>
            </a:r>
            <a:r>
              <a:rPr lang="en-US" altLang="zh-CN" sz="2600" b="1" dirty="0">
                <a:solidFill>
                  <a:schemeClr val="tx2"/>
                </a:solidFill>
              </a:rPr>
              <a:t>,</a:t>
            </a:r>
            <a:r>
              <a:rPr lang="zh-CN" altLang="en-US" sz="2600" b="1" dirty="0">
                <a:solidFill>
                  <a:schemeClr val="tx2"/>
                </a:solidFill>
              </a:rPr>
              <a:t>而不是元素</a:t>
            </a:r>
            <a:endParaRPr lang="zh-CN" altLang="en-US" sz="26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1" dirty="0"/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7086600" cy="517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9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/>
              <a:t>(2)</a:t>
            </a:r>
            <a:r>
              <a:rPr lang="zh-CN" altLang="en-US" sz="2600" b="1"/>
              <a:t>排序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9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冒泡法</a:t>
            </a:r>
            <a:r>
              <a:rPr lang="en-US" altLang="zh-CN" sz="2400" b="1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      for(i=0;i&lt;n-1;i++)		</a:t>
            </a:r>
            <a:r>
              <a:rPr lang="en-US" altLang="zh-CN" sz="2000" b="1"/>
              <a:t>/*</a:t>
            </a:r>
            <a:r>
              <a:rPr lang="zh-CN" altLang="en-US" sz="2000" b="1"/>
              <a:t>从小到大排序*</a:t>
            </a:r>
            <a:r>
              <a:rPr lang="en-US" altLang="zh-CN" sz="2000" b="1"/>
              <a:t>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	for(j=0;j&lt;n-1-i;j++)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	  if(a[j]&gt;a[j+1])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		 {temp=a[j];a[j]=a[j+1];a[j+1]=temp;}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选择法</a:t>
            </a:r>
            <a:r>
              <a:rPr lang="en-US" altLang="zh-CN" sz="2400" b="1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        for(i=0;i&lt;n-1;i++)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           {k=i;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	for(j=i;j&lt;n;j++)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	    if(a[k]&lt;a[j])k=j;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	 if(i!=k){w=a[i];a[i]=a[k];a[k]=w;}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b="1"/>
              <a:t>            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250825" y="188913"/>
            <a:ext cx="860425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）插入、</a:t>
            </a:r>
            <a:r>
              <a:rPr lang="zh-CN" altLang="en-US" sz="2400" b="1" dirty="0" smtClean="0"/>
              <a:t>删除、平移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注意数组不同移动方向情况下循环控制变量的变化情况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插入</a:t>
            </a:r>
            <a:r>
              <a:rPr lang="en-US" altLang="zh-CN" sz="2400" b="1" dirty="0">
                <a:solidFill>
                  <a:schemeClr val="tx2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for(k=0;k&lt;9;k++) if (x&lt;a[k]) break;    // </a:t>
            </a:r>
            <a:r>
              <a:rPr lang="zh-CN" altLang="en-US" sz="2400" b="1" dirty="0"/>
              <a:t>找到插入的位置下标为</a:t>
            </a:r>
            <a:r>
              <a:rPr lang="en-US" altLang="zh-CN" sz="2400" b="1" dirty="0"/>
              <a:t>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for(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=8;i&gt;=</a:t>
            </a:r>
            <a:r>
              <a:rPr lang="en-US" altLang="zh-CN" sz="2400" b="1" dirty="0" err="1"/>
              <a:t>k;i</a:t>
            </a:r>
            <a:r>
              <a:rPr lang="en-US" altLang="zh-CN" sz="2400" b="1" dirty="0"/>
              <a:t>--) 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+ 1] = 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];       //</a:t>
            </a:r>
            <a:r>
              <a:rPr lang="zh-CN" altLang="en-US" sz="2400" b="1" dirty="0">
                <a:solidFill>
                  <a:schemeClr val="tx2"/>
                </a:solidFill>
              </a:rPr>
              <a:t>从最后元素开始、往后移</a:t>
            </a:r>
            <a:r>
              <a:rPr lang="zh-CN" altLang="en-US" sz="2400" b="1" dirty="0"/>
              <a:t>    </a:t>
            </a:r>
            <a:r>
              <a:rPr lang="en-US" altLang="zh-CN" sz="2400" b="1" dirty="0"/>
              <a:t>a[k] = x;   //</a:t>
            </a:r>
            <a:r>
              <a:rPr lang="zh-CN" altLang="en-US" sz="2400" b="1" dirty="0"/>
              <a:t>插入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删除</a:t>
            </a:r>
            <a:r>
              <a:rPr lang="en-US" altLang="zh-CN" sz="2400" b="1" dirty="0">
                <a:solidFill>
                  <a:schemeClr val="tx2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for(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=0;i&lt;10;i++)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if(key==a[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])break;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for(j=</a:t>
            </a:r>
            <a:r>
              <a:rPr lang="en-US" altLang="zh-CN" sz="2400" b="1" dirty="0" err="1"/>
              <a:t>i;j</a:t>
            </a:r>
            <a:r>
              <a:rPr lang="en-US" altLang="zh-CN" sz="2400" b="1" dirty="0"/>
              <a:t>&lt;10;j++)  //</a:t>
            </a:r>
            <a:r>
              <a:rPr lang="zh-CN" altLang="en-US" sz="2400" b="1" dirty="0">
                <a:solidFill>
                  <a:schemeClr val="tx2"/>
                </a:solidFill>
              </a:rPr>
              <a:t>从待删位置开始、向前移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a[j]=a[j+1];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8991600" cy="111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4</a:t>
            </a:r>
            <a:r>
              <a:rPr lang="zh-CN" altLang="en-US" sz="2400" b="1"/>
              <a:t>）二分法查找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/>
              <a:t>在由小到大排列的</a:t>
            </a:r>
            <a:r>
              <a:rPr lang="en-US" altLang="zh-CN" sz="2400" b="1"/>
              <a:t>N</a:t>
            </a:r>
            <a:r>
              <a:rPr lang="zh-CN" altLang="en-US" sz="2400" b="1"/>
              <a:t>个元素组成的数组中查找</a:t>
            </a:r>
            <a:r>
              <a:rPr lang="en-US" altLang="zh-CN" sz="2400" b="1"/>
              <a:t>x,</a:t>
            </a:r>
            <a:r>
              <a:rPr lang="zh-CN" altLang="en-US" sz="2400" b="1"/>
              <a:t>主要实现部分如下</a:t>
            </a:r>
            <a:r>
              <a:rPr lang="en-US" altLang="zh-CN" sz="2400" b="1"/>
              <a:t>: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990600" y="809625"/>
            <a:ext cx="26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cs typeface="Times New Roman" pitchFamily="18" charset="0"/>
              </a:rPr>
              <a:t> </a:t>
            </a:r>
            <a:endParaRPr lang="en-US" altLang="zh-CN" sz="2400" b="1"/>
          </a:p>
        </p:txBody>
      </p:sp>
      <p:sp>
        <p:nvSpPr>
          <p:cNvPr id="25604" name="Text Box 7"/>
          <p:cNvSpPr txBox="1">
            <a:spLocks noChangeArrowheads="1"/>
          </p:cNvSpPr>
          <p:nvPr/>
        </p:nvSpPr>
        <p:spPr bwMode="auto">
          <a:xfrm>
            <a:off x="304800" y="990600"/>
            <a:ext cx="86868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......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bot=0;top=N-1;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mid=(</a:t>
            </a:r>
            <a:r>
              <a:rPr lang="en-US" altLang="zh-CN" sz="2400" dirty="0" err="1"/>
              <a:t>bot+top</a:t>
            </a:r>
            <a:r>
              <a:rPr lang="en-US" altLang="zh-CN" sz="2400" dirty="0"/>
              <a:t>)/2;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while(bot&lt;=top&amp;&amp;a[mid]!=x)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{if(x&gt;a[mid])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   bot=mid+1;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   top=mid-1;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mid=(</a:t>
            </a:r>
            <a:r>
              <a:rPr lang="en-US" altLang="zh-CN" sz="2400" dirty="0" err="1"/>
              <a:t>bot+top</a:t>
            </a:r>
            <a:r>
              <a:rPr lang="en-US" altLang="zh-CN" sz="2400" dirty="0"/>
              <a:t>)/2;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if( bot&gt;top  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	 </a:t>
            </a:r>
            <a:r>
              <a:rPr lang="en-US" altLang="zh-CN" sz="2400" dirty="0" err="1"/>
              <a:t>cout</a:t>
            </a:r>
            <a:r>
              <a:rPr lang="en-US" altLang="zh-CN" sz="2400" dirty="0" smtClean="0"/>
              <a:t>&lt;&lt;"not </a:t>
            </a:r>
            <a:r>
              <a:rPr lang="en-US" altLang="zh-CN" sz="2400" dirty="0"/>
              <a:t>found.\n";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	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&lt;&lt;"a["&lt;&lt;mid&lt;&lt;"]="&lt;&lt;a[mid]&lt;&lt;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......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304800" y="0"/>
            <a:ext cx="8458200" cy="603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</a:t>
            </a:r>
            <a:endParaRPr lang="en-US" altLang="zh-CN" sz="9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 smtClean="0"/>
              <a:t>9. </a:t>
            </a:r>
            <a:r>
              <a:rPr lang="zh-CN" altLang="en-US" sz="2600" b="1" dirty="0"/>
              <a:t>字符串处理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(1) </a:t>
            </a:r>
            <a:r>
              <a:rPr lang="zh-CN" altLang="en-US" sz="2400" b="1" dirty="0"/>
              <a:t>求长度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	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 while(s[</a:t>
            </a:r>
            <a:r>
              <a:rPr lang="en-US" altLang="zh-CN" sz="2400" b="1" dirty="0" err="1"/>
              <a:t>i</a:t>
            </a:r>
            <a:r>
              <a:rPr lang="en-US" altLang="zh-CN" sz="2400" b="1" dirty="0" smtClean="0"/>
              <a:t>]!='\</a:t>
            </a:r>
            <a:r>
              <a:rPr lang="en-US" altLang="zh-CN" sz="2400" b="1" dirty="0"/>
              <a:t>0')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     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(2) </a:t>
            </a:r>
            <a:r>
              <a:rPr lang="zh-CN" altLang="en-US" sz="2400" b="1" dirty="0"/>
              <a:t>复制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 smtClean="0"/>
              <a:t>          完全</a:t>
            </a:r>
            <a:r>
              <a:rPr lang="zh-CN" altLang="en-US" sz="2400" b="1" dirty="0"/>
              <a:t>复制</a:t>
            </a:r>
            <a:r>
              <a:rPr lang="en-US" altLang="zh-CN" sz="2400" b="1" dirty="0" smtClean="0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smtClean="0"/>
              <a:t>       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 smtClean="0"/>
              <a:t>while(from[</a:t>
            </a:r>
            <a:r>
              <a:rPr lang="en-US" altLang="zh-CN" sz="2400" b="1" dirty="0" err="1" smtClean="0"/>
              <a:t>i</a:t>
            </a:r>
            <a:r>
              <a:rPr lang="en-US" altLang="zh-CN" sz="2400" b="1" dirty="0" smtClean="0"/>
              <a:t>]!='\</a:t>
            </a:r>
            <a:r>
              <a:rPr lang="en-US" altLang="zh-CN" sz="2400" b="1" dirty="0"/>
              <a:t>0')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{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      to[</a:t>
            </a:r>
            <a:r>
              <a:rPr lang="en-US" altLang="zh-CN" sz="2400" b="1" dirty="0" err="1" smtClean="0"/>
              <a:t>i</a:t>
            </a:r>
            <a:r>
              <a:rPr lang="en-US" altLang="zh-CN" sz="2400" b="1" dirty="0" smtClean="0"/>
              <a:t>]=from[</a:t>
            </a:r>
            <a:r>
              <a:rPr lang="en-US" altLang="zh-CN" sz="2400" b="1" dirty="0" err="1" smtClean="0"/>
              <a:t>i</a:t>
            </a:r>
            <a:r>
              <a:rPr lang="en-US" altLang="zh-CN" sz="2400" b="1" dirty="0" smtClean="0"/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      </a:t>
            </a:r>
            <a:r>
              <a:rPr lang="en-US" altLang="zh-CN" sz="2400" b="1" dirty="0" err="1" smtClean="0"/>
              <a:t>i</a:t>
            </a:r>
            <a:r>
              <a:rPr lang="en-US" altLang="zh-CN" sz="2400" b="1" dirty="0" smtClean="0"/>
              <a:t>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 }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to[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]='\0';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457200" y="0"/>
            <a:ext cx="6705600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3810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 </a:t>
            </a:r>
            <a:r>
              <a:rPr lang="zh-CN" altLang="en-US" b="1" dirty="0"/>
              <a:t>复制前</a:t>
            </a:r>
            <a:r>
              <a:rPr lang="en-US" altLang="zh-CN" b="1" dirty="0"/>
              <a:t>n</a:t>
            </a:r>
            <a:r>
              <a:rPr lang="zh-CN" altLang="en-US" b="1" dirty="0"/>
              <a:t>个字符组成的子串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 </a:t>
            </a:r>
            <a:r>
              <a:rPr lang="en-US" altLang="zh-CN" b="1" dirty="0"/>
              <a:t>for(k=0;k&lt;</a:t>
            </a:r>
            <a:r>
              <a:rPr lang="en-US" altLang="zh-CN" b="1" dirty="0" err="1"/>
              <a:t>n;k</a:t>
            </a:r>
            <a:r>
              <a:rPr lang="en-US" altLang="zh-CN" b="1" dirty="0"/>
              <a:t>++)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	to[k]=from[k];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 to[k</a:t>
            </a:r>
            <a:r>
              <a:rPr lang="en-US" altLang="zh-CN" b="1" dirty="0" smtClean="0"/>
              <a:t>]='\0';</a:t>
            </a:r>
            <a:endParaRPr lang="en-US" altLang="zh-CN" b="1" dirty="0"/>
          </a:p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zh-CN" b="1" dirty="0"/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复制从第</a:t>
            </a:r>
            <a:r>
              <a:rPr lang="en-US" altLang="zh-CN" b="1" dirty="0"/>
              <a:t>n</a:t>
            </a:r>
            <a:r>
              <a:rPr lang="zh-CN" altLang="en-US" b="1" dirty="0"/>
              <a:t>个字符开始的子串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 </a:t>
            </a:r>
            <a:r>
              <a:rPr lang="en-US" altLang="zh-CN" b="1" dirty="0"/>
              <a:t>for(k=0,j=</a:t>
            </a:r>
            <a:r>
              <a:rPr lang="en-US" altLang="zh-CN" b="1" dirty="0" err="1"/>
              <a:t>n;from</a:t>
            </a:r>
            <a:r>
              <a:rPr lang="en-US" altLang="zh-CN" b="1" dirty="0"/>
              <a:t>[j</a:t>
            </a:r>
            <a:r>
              <a:rPr lang="en-US" altLang="zh-CN" b="1" dirty="0" smtClean="0"/>
              <a:t>]!='\0';</a:t>
            </a:r>
            <a:r>
              <a:rPr lang="en-US" altLang="zh-CN" b="1" dirty="0"/>
              <a:t>k++,</a:t>
            </a:r>
            <a:r>
              <a:rPr lang="en-US" altLang="zh-CN" b="1" dirty="0" err="1"/>
              <a:t>j++</a:t>
            </a:r>
            <a:r>
              <a:rPr lang="en-US" altLang="zh-CN" b="1" dirty="0"/>
              <a:t>)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	to[k]=from[j];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 to[k</a:t>
            </a:r>
            <a:r>
              <a:rPr lang="en-US" altLang="zh-CN" b="1" dirty="0" smtClean="0"/>
              <a:t>]='\0';</a:t>
            </a:r>
            <a:endParaRPr lang="en-US" altLang="zh-CN" b="1" dirty="0"/>
          </a:p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zh-CN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323850" y="476250"/>
            <a:ext cx="8424863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(4)</a:t>
            </a:r>
            <a:r>
              <a:rPr lang="zh-CN" altLang="en-US" b="1" dirty="0"/>
              <a:t>连接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endParaRPr lang="zh-CN" altLang="en-US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	假设有定义</a:t>
            </a:r>
            <a:r>
              <a:rPr lang="en-US" altLang="zh-CN" sz="2400" b="1" dirty="0"/>
              <a:t>:char  s1[80],s2[20];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	……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	while(s1[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]!='\0')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		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++;      //</a:t>
            </a:r>
            <a:r>
              <a:rPr lang="zh-CN" altLang="en-US" sz="2400" dirty="0"/>
              <a:t>找到第一个串的末尾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      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j=0;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	while(s2[j</a:t>
            </a:r>
            <a:r>
              <a:rPr lang="en-US" altLang="zh-CN" sz="2400" dirty="0" smtClean="0"/>
              <a:t>]='\0' </a:t>
            </a:r>
            <a:r>
              <a:rPr lang="en-US" altLang="zh-CN" sz="2400" dirty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	  { s1[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]=s2[j];	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++;	</a:t>
            </a:r>
            <a:r>
              <a:rPr lang="en-US" altLang="zh-CN" sz="2400" dirty="0" err="1"/>
              <a:t>j++</a:t>
            </a:r>
            <a:r>
              <a:rPr lang="en-US" altLang="zh-CN" sz="2400" dirty="0"/>
              <a:t>;}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       s1[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]='\0';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457200" y="465138"/>
            <a:ext cx="6705600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1" dirty="0"/>
              <a:t>(5)</a:t>
            </a:r>
            <a:r>
              <a:rPr lang="zh-CN" altLang="en-US" sz="2600" b="1" dirty="0"/>
              <a:t>比较字符串</a:t>
            </a:r>
            <a:endParaRPr lang="zh-CN" altLang="en-US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=0,r;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 while(s1[</a:t>
            </a:r>
            <a:r>
              <a:rPr lang="en-US" altLang="zh-CN" sz="2400" b="1" dirty="0" err="1"/>
              <a:t>i</a:t>
            </a:r>
            <a:r>
              <a:rPr lang="en-US" altLang="zh-CN" sz="2400" b="1" dirty="0" smtClean="0"/>
              <a:t>]==</a:t>
            </a:r>
            <a:r>
              <a:rPr lang="en-US" altLang="zh-CN" sz="2400" b="1" dirty="0"/>
              <a:t>s2[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]&amp;&amp;s1[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]!='\0')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     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 if(s1[</a:t>
            </a:r>
            <a:r>
              <a:rPr lang="en-US" altLang="zh-CN" sz="2400" b="1" dirty="0" err="1"/>
              <a:t>i</a:t>
            </a:r>
            <a:r>
              <a:rPr lang="en-US" altLang="zh-CN" sz="2400" b="1" dirty="0" smtClean="0"/>
              <a:t>]=='\</a:t>
            </a:r>
            <a:r>
              <a:rPr lang="en-US" altLang="zh-CN" sz="2400" b="1" dirty="0"/>
              <a:t>0'&amp;&amp;s2[</a:t>
            </a:r>
            <a:r>
              <a:rPr lang="en-US" altLang="zh-CN" sz="2400" b="1" dirty="0" err="1"/>
              <a:t>i</a:t>
            </a:r>
            <a:r>
              <a:rPr lang="en-US" altLang="zh-CN" sz="2400" b="1" dirty="0" smtClean="0"/>
              <a:t>]=='\</a:t>
            </a:r>
            <a:r>
              <a:rPr lang="en-US" altLang="zh-CN" sz="2400" b="1" dirty="0"/>
              <a:t>0')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	    r=0;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	 else  if(s1[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]&gt;s2[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    r=1;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else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    r= 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381000" y="533400"/>
            <a:ext cx="81534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(6)</a:t>
            </a:r>
            <a:r>
              <a:rPr lang="zh-CN" altLang="en-US" sz="2400" dirty="0"/>
              <a:t>字符转换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大写转小写</a:t>
            </a:r>
            <a:r>
              <a:rPr lang="en-US" altLang="zh-CN" sz="2400" dirty="0"/>
              <a:t>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k=0;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 while(s[k</a:t>
            </a:r>
            <a:r>
              <a:rPr lang="en-US" altLang="zh-CN" sz="2400" dirty="0" smtClean="0"/>
              <a:t>]!='\0')</a:t>
            </a:r>
            <a:endParaRPr lang="en-US" altLang="zh-CN" sz="24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{      if(s[k</a:t>
            </a:r>
            <a:r>
              <a:rPr lang="en-US" altLang="zh-CN" sz="2400" dirty="0" smtClean="0"/>
              <a:t>]&gt;='A'&amp;&amp;</a:t>
            </a:r>
            <a:r>
              <a:rPr lang="en-US" altLang="zh-CN" sz="2400" dirty="0"/>
              <a:t>s[k</a:t>
            </a:r>
            <a:r>
              <a:rPr lang="en-US" altLang="zh-CN" sz="2400" dirty="0" smtClean="0"/>
              <a:t>]&lt;='Z')</a:t>
            </a:r>
            <a:endParaRPr lang="en-US" altLang="zh-CN" sz="24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	s[k]=s[k]+32;//</a:t>
            </a:r>
            <a:r>
              <a:rPr lang="zh-CN" altLang="en-US" sz="2400" dirty="0"/>
              <a:t>小写字母比相应大写字母大</a:t>
            </a:r>
            <a:r>
              <a:rPr lang="en-US" altLang="zh-CN" sz="2400" dirty="0"/>
              <a:t>32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   k++;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小写转大写、加密（程序略）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468313" y="765175"/>
            <a:ext cx="80645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/>
              <a:t>(7) </a:t>
            </a:r>
            <a:r>
              <a:rPr lang="zh-CN" altLang="en-US" sz="2400" dirty="0"/>
              <a:t>字符串中字符出现频率的统计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……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p[26]={0};   //</a:t>
            </a:r>
            <a:r>
              <a:rPr lang="zh-CN" altLang="en-US" sz="2400" dirty="0"/>
              <a:t>初始化</a:t>
            </a:r>
            <a:r>
              <a:rPr lang="en-US" altLang="zh-CN" sz="2400" dirty="0"/>
              <a:t>26</a:t>
            </a:r>
            <a:r>
              <a:rPr lang="zh-CN" altLang="en-US" sz="2400" dirty="0"/>
              <a:t>个字母的频率皆为</a:t>
            </a:r>
            <a:r>
              <a:rPr lang="en-US" altLang="zh-CN" sz="2400" dirty="0"/>
              <a:t>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char  s[100];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gets(s);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 s[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]!='\0';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     if(s[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]&gt;='a'&amp;&amp;</a:t>
            </a:r>
            <a:r>
              <a:rPr lang="en-US" altLang="zh-CN" sz="2400" dirty="0"/>
              <a:t>s[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]&lt;='z')</a:t>
            </a:r>
            <a:endParaRPr lang="en-US" altLang="zh-CN" sz="24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           p[s[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]-'a']++;  </a:t>
            </a:r>
            <a:r>
              <a:rPr lang="en-US" altLang="zh-CN" sz="2400" dirty="0"/>
              <a:t>// s[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]-'a'</a:t>
            </a:r>
            <a:r>
              <a:rPr lang="zh-CN" altLang="en-US" sz="2400" dirty="0" smtClean="0"/>
              <a:t>代表</a:t>
            </a:r>
            <a:r>
              <a:rPr lang="en-US" altLang="zh-CN" sz="2400" dirty="0"/>
              <a:t>s[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</a:t>
            </a:r>
            <a:r>
              <a:rPr lang="zh-CN" altLang="en-US" sz="2400" dirty="0" smtClean="0"/>
              <a:t>是</a:t>
            </a:r>
            <a:r>
              <a:rPr lang="en-US" altLang="zh-CN" sz="2400" dirty="0" smtClean="0"/>
              <a:t>'a'</a:t>
            </a:r>
            <a:r>
              <a:rPr lang="zh-CN" altLang="en-US" sz="2400" dirty="0" smtClean="0"/>
              <a:t>后面</a:t>
            </a:r>
            <a:r>
              <a:rPr lang="zh-CN" altLang="en-US" sz="2400" dirty="0"/>
              <a:t>第几个字母，该字母的频率就加</a:t>
            </a:r>
            <a:r>
              <a:rPr lang="en-US" altLang="zh-CN" sz="2400" dirty="0"/>
              <a:t>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……</a:t>
            </a:r>
            <a:endParaRPr lang="zh-CN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808080"/>
      </a:dk1>
      <a:lt1>
        <a:srgbClr val="FFFFFF"/>
      </a:lt1>
      <a:dk2>
        <a:srgbClr val="003366"/>
      </a:dk2>
      <a:lt2>
        <a:srgbClr val="FFFF00"/>
      </a:lt2>
      <a:accent1>
        <a:srgbClr val="00CC99"/>
      </a:accent1>
      <a:accent2>
        <a:srgbClr val="3333CC"/>
      </a:accent2>
      <a:accent3>
        <a:srgbClr val="AAADB8"/>
      </a:accent3>
      <a:accent4>
        <a:srgbClr val="DADADA"/>
      </a:accent4>
      <a:accent5>
        <a:srgbClr val="AAE2CA"/>
      </a:accent5>
      <a:accent6>
        <a:srgbClr val="2D2DB9"/>
      </a:accent6>
      <a:hlink>
        <a:srgbClr val="FFFFFF"/>
      </a:hlink>
      <a:folHlink>
        <a:srgbClr val="C0C0C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4839</TotalTime>
  <Words>1628</Words>
  <Application>Microsoft Office PowerPoint</Application>
  <PresentationFormat>全屏显示(4:3)</PresentationFormat>
  <Paragraphs>379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华文新魏</vt:lpstr>
      <vt:lpstr>宋体</vt:lpstr>
      <vt:lpstr>Arial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  结构体 </dc:title>
  <dc:creator>xulanlan</dc:creator>
  <cp:lastModifiedBy>Tianyz99</cp:lastModifiedBy>
  <cp:revision>290</cp:revision>
  <dcterms:created xsi:type="dcterms:W3CDTF">2000-08-18T13:59:42Z</dcterms:created>
  <dcterms:modified xsi:type="dcterms:W3CDTF">2025-04-11T13:50:29Z</dcterms:modified>
</cp:coreProperties>
</file>