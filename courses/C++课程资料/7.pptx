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680" r:id="rId2"/>
    <p:sldId id="1065" r:id="rId3"/>
    <p:sldId id="1081" r:id="rId4"/>
    <p:sldId id="1042" r:id="rId5"/>
    <p:sldId id="1043" r:id="rId6"/>
    <p:sldId id="1044" r:id="rId7"/>
    <p:sldId id="1046" r:id="rId8"/>
    <p:sldId id="1045" r:id="rId9"/>
    <p:sldId id="1086" r:id="rId10"/>
    <p:sldId id="1069" r:id="rId11"/>
    <p:sldId id="1083" r:id="rId12"/>
    <p:sldId id="1084" r:id="rId13"/>
    <p:sldId id="1092" r:id="rId14"/>
    <p:sldId id="511" r:id="rId15"/>
    <p:sldId id="1047" r:id="rId16"/>
    <p:sldId id="1080" r:id="rId17"/>
    <p:sldId id="1071" r:id="rId18"/>
    <p:sldId id="1072" r:id="rId19"/>
    <p:sldId id="543" r:id="rId20"/>
    <p:sldId id="1049" r:id="rId21"/>
    <p:sldId id="1073" r:id="rId22"/>
    <p:sldId id="700" r:id="rId23"/>
    <p:sldId id="1050" r:id="rId24"/>
    <p:sldId id="1051" r:id="rId25"/>
    <p:sldId id="1053" r:id="rId26"/>
    <p:sldId id="1054" r:id="rId27"/>
    <p:sldId id="701" r:id="rId28"/>
    <p:sldId id="520" r:id="rId29"/>
    <p:sldId id="521" r:id="rId30"/>
    <p:sldId id="1082" r:id="rId31"/>
    <p:sldId id="702" r:id="rId32"/>
    <p:sldId id="704" r:id="rId33"/>
    <p:sldId id="703" r:id="rId34"/>
    <p:sldId id="524" r:id="rId35"/>
    <p:sldId id="526" r:id="rId36"/>
    <p:sldId id="1060" r:id="rId37"/>
    <p:sldId id="1078" r:id="rId38"/>
    <p:sldId id="525" r:id="rId39"/>
    <p:sldId id="1059" r:id="rId40"/>
    <p:sldId id="1079" r:id="rId41"/>
    <p:sldId id="1087" r:id="rId42"/>
    <p:sldId id="1088" r:id="rId43"/>
    <p:sldId id="1089" r:id="rId44"/>
    <p:sldId id="1090" r:id="rId45"/>
    <p:sldId id="1091" r:id="rId46"/>
    <p:sldId id="1074" r:id="rId47"/>
    <p:sldId id="1076" r:id="rId48"/>
    <p:sldId id="1077" r:id="rId49"/>
  </p:sldIdLst>
  <p:sldSz cx="12192000" cy="6858000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仿宋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仿宋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仿宋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仿宋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仿宋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仿宋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仿宋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仿宋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仿宋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CCCCFF"/>
    <a:srgbClr val="FFCCFF"/>
    <a:srgbClr val="003366"/>
    <a:srgbClr val="003399"/>
    <a:srgbClr val="66CCFF"/>
    <a:srgbClr val="3399FF"/>
    <a:srgbClr val="0066FF"/>
    <a:srgbClr val="00FF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40"/>
    <p:restoredTop sz="94590"/>
  </p:normalViewPr>
  <p:slideViewPr>
    <p:cSldViewPr showGuides="1">
      <p:cViewPr varScale="1">
        <p:scale>
          <a:sx n="89" d="100"/>
          <a:sy n="89" d="100"/>
        </p:scale>
        <p:origin x="907" y="67"/>
      </p:cViewPr>
      <p:guideLst>
        <p:guide orient="horz" pos="2170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-33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9443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9444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9445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C63A7B-92B0-4DDC-87D6-672F748EDEA8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0766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5891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1028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65893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65894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589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DA196B3-86AE-4C40-AD8D-DA75E35F8E65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2181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1703070" y="692785"/>
            <a:ext cx="7772400" cy="9144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</a:t>
            </a:r>
            <a:r>
              <a:rPr lang="en-US" altLang="zh-CN" sz="40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7</a:t>
            </a:r>
            <a:r>
              <a:rPr lang="zh-CN" altLang="en-US" sz="40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章  </a:t>
            </a:r>
            <a:r>
              <a:rPr lang="zh-CN" altLang="en-US" sz="40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结构和链表</a:t>
            </a:r>
            <a:r>
              <a:rPr lang="zh-CN" altLang="en-US" sz="6000" b="1" dirty="0">
                <a:solidFill>
                  <a:schemeClr val="tx1"/>
                </a:solidFill>
              </a:rPr>
              <a:t/>
            </a:r>
            <a:br>
              <a:rPr lang="zh-CN" altLang="en-US" sz="6000" b="1" dirty="0">
                <a:solidFill>
                  <a:schemeClr val="tx1"/>
                </a:solidFill>
              </a:rPr>
            </a:br>
            <a:endParaRPr lang="zh-CN" altLang="en-US" sz="6000" b="1" dirty="0">
              <a:solidFill>
                <a:schemeClr val="tx1"/>
              </a:solidFill>
            </a:endParaRPr>
          </a:p>
        </p:txBody>
      </p:sp>
      <p:sp>
        <p:nvSpPr>
          <p:cNvPr id="4099" name="Text Box 4"/>
          <p:cNvSpPr txBox="1">
            <a:spLocks noGrp="1"/>
          </p:cNvSpPr>
          <p:nvPr>
            <p:ph idx="1"/>
          </p:nvPr>
        </p:nvSpPr>
        <p:spPr>
          <a:xfrm>
            <a:off x="3431704" y="1916832"/>
            <a:ext cx="4968453" cy="41148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kumimoji="1" lang="en-US" altLang="zh-CN" b="1" dirty="0" smtClean="0">
                <a:solidFill>
                  <a:srgbClr val="000000"/>
                </a:solidFill>
              </a:rPr>
              <a:t>7.1  </a:t>
            </a:r>
            <a:r>
              <a:rPr kumimoji="1" lang="zh-CN" altLang="en-US" b="1" kern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</a:t>
            </a:r>
            <a:r>
              <a:rPr kumimoji="1" lang="zh-CN" altLang="en-US" b="1" kern="1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类型与结构变量</a:t>
            </a:r>
            <a:endParaRPr kumimoji="1" lang="zh-CN" altLang="en-US" b="1" kern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kumimoji="1" lang="en-US" altLang="zh-CN" b="1" dirty="0" smtClean="0">
                <a:solidFill>
                  <a:srgbClr val="000000"/>
                </a:solidFill>
              </a:rPr>
              <a:t>7.2  </a:t>
            </a:r>
            <a:r>
              <a:rPr kumimoji="1" lang="zh-CN" altLang="en-US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结构数组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kumimoji="1" lang="en-US" altLang="zh-CN" b="1" dirty="0" smtClean="0">
                <a:solidFill>
                  <a:srgbClr val="000000"/>
                </a:solidFill>
              </a:rPr>
              <a:t>7.3  </a:t>
            </a:r>
            <a:r>
              <a:rPr kumimoji="1" lang="zh-CN" altLang="en-US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结构</a:t>
            </a:r>
            <a:r>
              <a:rPr kumimoji="1" lang="zh-CN" altLang="en-US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1" lang="zh-CN" altLang="en-US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应用</a:t>
            </a:r>
            <a:r>
              <a:rPr kumimoji="1" lang="en-US" altLang="zh-CN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kumimoji="1" lang="zh-CN" altLang="en-US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链表</a:t>
            </a:r>
            <a:endParaRPr kumimoji="1" lang="en-US" altLang="zh-CN" b="1" kern="120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kumimoji="1" lang="en-US" altLang="zh-CN" b="1" dirty="0" smtClean="0">
                <a:solidFill>
                  <a:srgbClr val="000000"/>
                </a:solidFill>
              </a:rPr>
              <a:t>7.4</a:t>
            </a:r>
            <a:r>
              <a:rPr kumimoji="1" lang="en-US" altLang="zh-CN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zh-CN" altLang="en-US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综合应用</a:t>
            </a:r>
            <a:endParaRPr kumimoji="1" lang="en-US" altLang="zh-CN" b="1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None/>
            </a:pPr>
            <a:endParaRPr kumimoji="1" lang="zh-CN" altLang="en-US" b="1" kern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/>
          <p:nvPr/>
        </p:nvSpPr>
        <p:spPr>
          <a:xfrm>
            <a:off x="263352" y="1268760"/>
            <a:ext cx="10729192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eaLnBrk="1" hangingPunct="1"/>
            <a:r>
              <a:rPr lang="en-US" altLang="zh-CN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[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例</a:t>
            </a:r>
            <a:r>
              <a:rPr lang="en-US" altLang="zh-CN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7.1]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输入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个学生的信息，要求将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这些信息按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平均分由低到高排序并输出。</a:t>
            </a:r>
          </a:p>
        </p:txBody>
      </p:sp>
      <p:graphicFrame>
        <p:nvGraphicFramePr>
          <p:cNvPr id="934971" name="Group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773140"/>
              </p:ext>
            </p:extLst>
          </p:nvPr>
        </p:nvGraphicFramePr>
        <p:xfrm>
          <a:off x="250128" y="2636912"/>
          <a:ext cx="5897880" cy="4064002"/>
        </p:xfrm>
        <a:graphic>
          <a:graphicData uri="http://schemas.openxmlformats.org/drawingml/2006/table">
            <a:tbl>
              <a:tblPr/>
              <a:tblGrid>
                <a:gridCol w="1116330"/>
                <a:gridCol w="900430"/>
                <a:gridCol w="1198880"/>
                <a:gridCol w="862330"/>
                <a:gridCol w="1157605"/>
                <a:gridCol w="662305"/>
              </a:tblGrid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Chinese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math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English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avg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090901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Jane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090902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Tom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090903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Mike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090904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Lily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090905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Jack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 Box 4"/>
          <p:cNvSpPr txBox="1"/>
          <p:nvPr/>
        </p:nvSpPr>
        <p:spPr>
          <a:xfrm>
            <a:off x="6744072" y="2660719"/>
            <a:ext cx="5354144" cy="1200329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lang="en-US" altLang="zh-CN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普通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数组，需要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定义多个数组，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分别用于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存放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个学生的姓名、学号及成绩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 Box 5"/>
          <p:cNvSpPr txBox="1"/>
          <p:nvPr/>
        </p:nvSpPr>
        <p:spPr>
          <a:xfrm>
            <a:off x="6744072" y="4063712"/>
            <a:ext cx="5372957" cy="2677656"/>
          </a:xfrm>
          <a:prstGeom prst="rect">
            <a:avLst/>
          </a:prstGeom>
          <a:solidFill>
            <a:srgbClr val="EAEAEA"/>
          </a:solidFill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eaLnBrk="1" hangingPunct="1">
              <a:spcBef>
                <a:spcPts val="0"/>
              </a:spcBef>
            </a:pP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lang="en-US" altLang="zh-CN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使用结构体数组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zh-CN" dirty="0" err="1" smtClean="0">
                <a:latin typeface="Times New Roman" panose="02020603050405020304" pitchFamily="18" charset="0"/>
              </a:rPr>
              <a:t>struct</a:t>
            </a:r>
            <a:r>
              <a:rPr lang="en-US" altLang="zh-CN" dirty="0" smtClean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Student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char name[20];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char no[7];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double Chinese,English,math,ave;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} s[5];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Text Box 3"/>
          <p:cNvSpPr txBox="1"/>
          <p:nvPr/>
        </p:nvSpPr>
        <p:spPr>
          <a:xfrm>
            <a:off x="155531" y="0"/>
            <a:ext cx="6172200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.1 </a:t>
            </a:r>
            <a:r>
              <a:rPr lang="zh-CN" altLang="en-US" sz="3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</a:t>
            </a:r>
            <a:r>
              <a:rPr lang="zh-CN" altLang="en-US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类型和结构变量</a:t>
            </a:r>
            <a:endParaRPr lang="zh-CN" altLang="en-US" sz="3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 Box 2"/>
          <p:cNvSpPr txBox="1"/>
          <p:nvPr/>
        </p:nvSpPr>
        <p:spPr>
          <a:xfrm>
            <a:off x="155531" y="741749"/>
            <a:ext cx="83058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.1.1 </a:t>
            </a:r>
            <a:r>
              <a:rPr lang="zh-CN" altLang="en-US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引例</a:t>
            </a: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学生成绩处理</a:t>
            </a:r>
            <a:endParaRPr lang="zh-CN" altLang="en-US" sz="28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9336" y="49476"/>
            <a:ext cx="5112568" cy="492442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若定义几个通常的相互独立的数组：</a:t>
            </a:r>
            <a:endParaRPr lang="en-US" altLang="zh-CN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char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name[N][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20];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char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num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[N][8];  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score[N][3] ;   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double 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avg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];  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且已定义过如下变量：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kern="1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temps;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ouble </a:t>
            </a:r>
            <a:r>
              <a:rPr lang="en-US" altLang="zh-CN" kern="1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tempa</a:t>
            </a:r>
            <a:r>
              <a:rPr lang="zh-CN" altLang="en-US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kern="1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char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tempnu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[8];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char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tempna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[20];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zh-CN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75920" y="44624"/>
            <a:ext cx="6048672" cy="675877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则排序过程需如下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实现：</a:t>
            </a:r>
            <a:endParaRPr lang="en-US" altLang="zh-CN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for(</a:t>
            </a:r>
            <a:r>
              <a:rPr lang="en-US" altLang="zh-CN" kern="1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&lt;N-1;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++)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for(j=0; j&lt;N-1-i;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j++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         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if(</a:t>
            </a:r>
            <a:r>
              <a:rPr lang="en-US" altLang="zh-CN" kern="1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avg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[j]&gt;</a:t>
            </a:r>
            <a:r>
              <a:rPr lang="en-US" altLang="zh-CN" kern="1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avg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[j+1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])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{ 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kern="1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tempa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avg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[j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];            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avg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j]=score[j+1];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avg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j+1]=temps;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strcpy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tempnu,num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[j]); </a:t>
            </a:r>
            <a:endParaRPr lang="en-US" altLang="zh-CN" kern="1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kern="1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strcpy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kern="1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num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[j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],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num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[j+1]);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strcpy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num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[j+1],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tempnu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strcpy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tempna,name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[j]);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strcpy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(name[j],name[j+1]);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strcpy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(name[j+1],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tempna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);  </a:t>
            </a:r>
            <a:endParaRPr lang="en-US" altLang="zh-CN" kern="1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    for(k=0;k&lt;3;k++)</a:t>
            </a: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     {    temps=score[j][k] ;</a:t>
            </a: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score[j][k]=score[j+1][k];</a:t>
            </a: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score[j+1][k]=temps;</a:t>
            </a: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      }  </a:t>
            </a:r>
          </a:p>
          <a:p>
            <a:pPr indent="228600" algn="just">
              <a:lnSpc>
                <a:spcPct val="95000"/>
              </a:lnSpc>
              <a:spcAft>
                <a:spcPts val="0"/>
              </a:spcAft>
            </a:pPr>
            <a:r>
              <a:rPr lang="en-US" altLang="zh-CN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} 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云形标注 3"/>
          <p:cNvSpPr/>
          <p:nvPr/>
        </p:nvSpPr>
        <p:spPr bwMode="auto">
          <a:xfrm>
            <a:off x="1149631" y="4581128"/>
            <a:ext cx="4658337" cy="890674"/>
          </a:xfrm>
          <a:prstGeom prst="cloudCallout">
            <a:avLst>
              <a:gd name="adj1" fmla="val 57736"/>
              <a:gd name="adj2" fmla="val -334455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eaLnBrk="1" hangingPunct="1"/>
            <a:r>
              <a:rPr lang="zh-CN" altLang="en-US" sz="22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缺陷：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多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个数组间缺乏内在联系，处理不方便</a:t>
            </a:r>
          </a:p>
        </p:txBody>
      </p:sp>
      <p:sp>
        <p:nvSpPr>
          <p:cNvPr id="5" name="云形标注 4"/>
          <p:cNvSpPr/>
          <p:nvPr/>
        </p:nvSpPr>
        <p:spPr bwMode="auto">
          <a:xfrm>
            <a:off x="8760296" y="620688"/>
            <a:ext cx="2520280" cy="890674"/>
          </a:xfrm>
          <a:prstGeom prst="cloudCallout">
            <a:avLst>
              <a:gd name="adj1" fmla="val -33165"/>
              <a:gd name="adj2" fmla="val 104288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eaLnBrk="1" hangingPunct="1"/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需要一一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交换各项数据</a:t>
            </a:r>
          </a:p>
        </p:txBody>
      </p:sp>
      <p:sp>
        <p:nvSpPr>
          <p:cNvPr id="7" name="动作按钮: 前进或下一项 6">
            <a:hlinkClick r:id="rId2" action="ppaction://hlinksldjump" highlightClick="1"/>
          </p:cNvPr>
          <p:cNvSpPr/>
          <p:nvPr/>
        </p:nvSpPr>
        <p:spPr bwMode="auto">
          <a:xfrm>
            <a:off x="10776520" y="6525344"/>
            <a:ext cx="432048" cy="278053"/>
          </a:xfrm>
          <a:prstGeom prst="actionButtonForwardNex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673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5"/>
          <p:cNvSpPr txBox="1"/>
          <p:nvPr/>
        </p:nvSpPr>
        <p:spPr>
          <a:xfrm>
            <a:off x="119336" y="2669366"/>
            <a:ext cx="82296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2" charset="-122"/>
              </a:rPr>
              <a:t>7</a:t>
            </a:r>
            <a:r>
              <a:rPr lang="en-US" altLang="zh-CN" sz="2800" dirty="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.1.2 </a:t>
            </a:r>
            <a:r>
              <a:rPr lang="zh-CN" altLang="en-US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结构类型声明</a:t>
            </a:r>
          </a:p>
        </p:txBody>
      </p:sp>
      <p:sp>
        <p:nvSpPr>
          <p:cNvPr id="7172" name="Text Box 6"/>
          <p:cNvSpPr txBox="1"/>
          <p:nvPr/>
        </p:nvSpPr>
        <p:spPr>
          <a:xfrm>
            <a:off x="177895" y="3429000"/>
            <a:ext cx="4195762" cy="289179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>
            <a:spAutoFit/>
          </a:bodyPr>
          <a:lstStyle/>
          <a:p>
            <a:pPr algn="just" eaLnBrk="1" hangingPunct="1"/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struct</a:t>
            </a:r>
            <a:r>
              <a:rPr lang="en-US" altLang="zh-CN" sz="2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结构类型标识符</a:t>
            </a:r>
          </a:p>
          <a:p>
            <a:pPr algn="just" eaLnBrk="1" hangingPunct="1"/>
            <a:r>
              <a:rPr lang="en-US" altLang="zh-CN" sz="2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{</a:t>
            </a:r>
          </a:p>
          <a:p>
            <a:pPr algn="just" eaLnBrk="1" hangingPunct="1"/>
            <a:r>
              <a:rPr lang="en-US" altLang="zh-CN" sz="2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结构成员</a:t>
            </a:r>
            <a:r>
              <a:rPr lang="en-US" altLang="zh-CN" sz="2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1;</a:t>
            </a:r>
          </a:p>
          <a:p>
            <a:pPr algn="just" eaLnBrk="1" hangingPunct="1"/>
            <a:r>
              <a:rPr lang="en-US" altLang="zh-CN" sz="2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	</a:t>
            </a:r>
            <a:r>
              <a:rPr lang="zh-CN" altLang="en-US" sz="2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结构成员</a:t>
            </a:r>
            <a:r>
              <a:rPr lang="en-US" altLang="zh-CN" sz="2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2;</a:t>
            </a:r>
          </a:p>
          <a:p>
            <a:pPr algn="just" eaLnBrk="1" hangingPunct="1"/>
            <a:r>
              <a:rPr lang="en-US" altLang="zh-CN" sz="2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┆</a:t>
            </a:r>
          </a:p>
          <a:p>
            <a:pPr algn="just" eaLnBrk="1" hangingPunct="1"/>
            <a:r>
              <a:rPr lang="en-US" altLang="zh-CN" sz="2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结构成员</a:t>
            </a:r>
            <a:r>
              <a:rPr lang="en-US" altLang="zh-CN" sz="2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n;</a:t>
            </a:r>
          </a:p>
          <a:p>
            <a:pPr algn="just" eaLnBrk="1" hangingPunct="1"/>
            <a:r>
              <a:rPr lang="en-US" altLang="zh-CN" sz="2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}</a:t>
            </a:r>
            <a:r>
              <a:rPr lang="en-US" altLang="zh-CN" sz="26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</p:txBody>
      </p:sp>
      <p:sp>
        <p:nvSpPr>
          <p:cNvPr id="7173" name="Text Box 11"/>
          <p:cNvSpPr txBox="1"/>
          <p:nvPr/>
        </p:nvSpPr>
        <p:spPr>
          <a:xfrm>
            <a:off x="4727848" y="3429000"/>
            <a:ext cx="6624736" cy="2123658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说明：</a:t>
            </a:r>
          </a:p>
          <a:p>
            <a:pPr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struct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为说明结构类型的关键字</a:t>
            </a:r>
          </a:p>
          <a:p>
            <a:pPr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成员类型可为除自身结构类型之外的任意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类型</a:t>
            </a: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结构类型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可嵌套定义</a:t>
            </a:r>
            <a:endParaRPr lang="zh-CN" altLang="en-US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174" name="Rectangle 13"/>
          <p:cNvSpPr/>
          <p:nvPr/>
        </p:nvSpPr>
        <p:spPr>
          <a:xfrm>
            <a:off x="-96688" y="188640"/>
            <a:ext cx="10476973" cy="225389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eaLnBrk="1" hangingPunct="1">
              <a:spcBef>
                <a:spcPts val="900"/>
              </a:spcBef>
              <a:spcAft>
                <a:spcPts val="300"/>
              </a:spcAft>
            </a:pP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结构体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是将不同类型的数据组合成一个有机整体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以便于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引用，需要从以下几方面加以考虑。</a:t>
            </a:r>
          </a:p>
          <a:p>
            <a:pPr marL="1143000" lvl="2" indent="-228600" eaLnBrk="1" hangingPunct="1">
              <a:spcBef>
                <a:spcPts val="9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结构类型的声明</a:t>
            </a:r>
          </a:p>
          <a:p>
            <a:pPr marL="1143000" lvl="2" indent="-228600" eaLnBrk="1" hangingPunct="1">
              <a:spcBef>
                <a:spcPts val="9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结构变量的定义</a:t>
            </a:r>
          </a:p>
          <a:p>
            <a:pPr marL="1143000" lvl="2" indent="-228600" eaLnBrk="1" hangingPunct="1">
              <a:spcBef>
                <a:spcPts val="9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结构变量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的访问</a:t>
            </a:r>
            <a:endParaRPr lang="zh-CN" altLang="en-US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  <p:bldP spid="717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 descr="蓝色砂纸"/>
          <p:cNvSpPr txBox="1"/>
          <p:nvPr/>
        </p:nvSpPr>
        <p:spPr>
          <a:xfrm>
            <a:off x="119336" y="980728"/>
            <a:ext cx="2362200" cy="2676525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>
            <a:spAutoFit/>
          </a:bodyPr>
          <a:lstStyle/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struct date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int  month;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int  day;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int  year;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};</a:t>
            </a:r>
          </a:p>
          <a:p>
            <a:pPr algn="just" eaLnBrk="1" hangingPunct="1"/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5" name="Text Box 3" descr="蓝色砂纸"/>
          <p:cNvSpPr txBox="1"/>
          <p:nvPr/>
        </p:nvSpPr>
        <p:spPr>
          <a:xfrm>
            <a:off x="6744072" y="1000956"/>
            <a:ext cx="4248472" cy="2707005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struct 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person</a:t>
            </a: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{</a:t>
            </a: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char  name[15];</a:t>
            </a: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char  sex;</a:t>
            </a: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int  age;</a:t>
            </a: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struct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date 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birthday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};</a:t>
            </a:r>
          </a:p>
        </p:txBody>
      </p:sp>
      <p:sp>
        <p:nvSpPr>
          <p:cNvPr id="8196" name="Text Box 4"/>
          <p:cNvSpPr txBox="1"/>
          <p:nvPr/>
        </p:nvSpPr>
        <p:spPr>
          <a:xfrm>
            <a:off x="119336" y="171872"/>
            <a:ext cx="817245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如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声明一个日期结构类型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date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，含三个整型成员：</a:t>
            </a:r>
          </a:p>
        </p:txBody>
      </p:sp>
      <p:sp>
        <p:nvSpPr>
          <p:cNvPr id="8197" name="Text Box 5"/>
          <p:cNvSpPr txBox="1"/>
          <p:nvPr/>
        </p:nvSpPr>
        <p:spPr>
          <a:xfrm>
            <a:off x="2782844" y="1269653"/>
            <a:ext cx="3601188" cy="120032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在此基础上，又可声明另一个关于人的信息的结构类型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person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24" name="Rectangle 132"/>
          <p:cNvSpPr/>
          <p:nvPr/>
        </p:nvSpPr>
        <p:spPr>
          <a:xfrm>
            <a:off x="3452451" y="4562128"/>
            <a:ext cx="1134110" cy="292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algn="ctr" eaLnBrk="1" hangingPunct="1"/>
            <a:r>
              <a:rPr lang="en-US" altLang="zh-CN" sz="1900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struct man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25" name="Rectangle 133"/>
          <p:cNvSpPr/>
          <p:nvPr/>
        </p:nvSpPr>
        <p:spPr>
          <a:xfrm>
            <a:off x="4970419" y="4568478"/>
            <a:ext cx="965200" cy="292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algn="ctr" eaLnBrk="1" hangingPunct="1"/>
            <a:r>
              <a:rPr lang="zh-CN" altLang="en-US" sz="1900" b="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结构类型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5" name="云形标注 134"/>
          <p:cNvSpPr/>
          <p:nvPr/>
        </p:nvSpPr>
        <p:spPr bwMode="auto">
          <a:xfrm>
            <a:off x="2762369" y="4377014"/>
            <a:ext cx="4802354" cy="1104025"/>
          </a:xfrm>
          <a:prstGeom prst="cloudCallout">
            <a:avLst>
              <a:gd name="adj1" fmla="val 39477"/>
              <a:gd name="adj2" fmla="val -156589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一个结构类型的变量可以作为另外一个结构类型的成员。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nimBg="1"/>
      <p:bldP spid="8195" grpId="0" animBg="1"/>
      <p:bldP spid="1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/>
          <p:nvPr/>
        </p:nvSpPr>
        <p:spPr>
          <a:xfrm>
            <a:off x="166464" y="-27384"/>
            <a:ext cx="83058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.1.3 </a:t>
            </a:r>
            <a:r>
              <a:rPr lang="zh-CN" altLang="en-US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</a:t>
            </a:r>
            <a:r>
              <a:rPr lang="zh-CN" altLang="en-US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变量的定义和初始化</a:t>
            </a:r>
            <a:endParaRPr lang="zh-CN" altLang="en-US" sz="28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219" name="Text Box 3"/>
          <p:cNvSpPr txBox="1"/>
          <p:nvPr/>
        </p:nvSpPr>
        <p:spPr>
          <a:xfrm>
            <a:off x="101824" y="1556792"/>
            <a:ext cx="5472608" cy="5447645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先声明结构类型再定义结构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C00000"/>
              </a:buClr>
            </a:pPr>
            <a:r>
              <a:rPr lang="en-US" altLang="zh-CN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C++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中定义变量时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还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可以省略</a:t>
            </a:r>
            <a:r>
              <a:rPr lang="en-US" altLang="zh-CN" dirty="0" err="1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struct</a:t>
            </a: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C00000"/>
              </a:buClr>
            </a:pP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声明结构类型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的同时定义结构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C00000"/>
              </a:buClr>
            </a:pP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C00000"/>
              </a:buClr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C00000"/>
              </a:buClr>
            </a:pP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C00000"/>
              </a:buClr>
            </a:pP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220" name="Oval 4"/>
          <p:cNvSpPr/>
          <p:nvPr/>
        </p:nvSpPr>
        <p:spPr>
          <a:xfrm>
            <a:off x="335360" y="1916832"/>
            <a:ext cx="4495800" cy="762000"/>
          </a:xfrm>
          <a:prstGeom prst="ellipse">
            <a:avLst/>
          </a:prstGeom>
          <a:noFill/>
          <a:ln w="12700" cap="flat" cmpd="sng">
            <a:noFill/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struct person p1, p2;</a:t>
            </a:r>
          </a:p>
        </p:txBody>
      </p:sp>
      <p:sp>
        <p:nvSpPr>
          <p:cNvPr id="9221" name="Rectangle 13"/>
          <p:cNvSpPr/>
          <p:nvPr/>
        </p:nvSpPr>
        <p:spPr>
          <a:xfrm>
            <a:off x="166464" y="548680"/>
            <a:ext cx="9961984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系统不会为结构类型分配内存空间，只有在定义了结构体变量后，系统才会为之分配内存单元。可以采取以下三种方法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结构体类型变量：</a:t>
            </a:r>
          </a:p>
        </p:txBody>
      </p:sp>
      <p:sp>
        <p:nvSpPr>
          <p:cNvPr id="7" name="Oval 5"/>
          <p:cNvSpPr/>
          <p:nvPr/>
        </p:nvSpPr>
        <p:spPr>
          <a:xfrm>
            <a:off x="623392" y="3937882"/>
            <a:ext cx="4176464" cy="2947502"/>
          </a:xfrm>
          <a:prstGeom prst="ellipse">
            <a:avLst/>
          </a:prstGeom>
          <a:noFill/>
          <a:ln w="12700" cap="flat" cmpd="sng">
            <a:noFill/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struct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person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{ char  name[15];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char  sex;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int  age;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struct date  birthday;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} p1, p2;</a:t>
            </a:r>
          </a:p>
          <a:p>
            <a:pPr eaLnBrk="1" hangingPunct="1"/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Text Box 3"/>
          <p:cNvSpPr txBox="1"/>
          <p:nvPr/>
        </p:nvSpPr>
        <p:spPr>
          <a:xfrm>
            <a:off x="5951984" y="1556792"/>
            <a:ext cx="6048672" cy="2677656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省略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结构标识符直接定义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结构变量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C00000"/>
              </a:buClr>
            </a:pP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C00000"/>
              </a:buClr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C00000"/>
              </a:buClr>
            </a:pP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C00000"/>
              </a:buClr>
            </a:pPr>
            <a:endParaRPr lang="zh-CN" altLang="en-US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Oval 6"/>
          <p:cNvSpPr/>
          <p:nvPr/>
        </p:nvSpPr>
        <p:spPr>
          <a:xfrm>
            <a:off x="5817355" y="1901552"/>
            <a:ext cx="4065270" cy="2679576"/>
          </a:xfrm>
          <a:prstGeom prst="ellipse">
            <a:avLst/>
          </a:prstGeom>
          <a:noFill/>
          <a:ln w="12700" cap="flat" cmpd="sng">
            <a:noFill/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struct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{ char  name[15];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char  sex;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int  age;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struct date  birthday;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} p1, p2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eaLnBrk="1" hangingPunct="1"/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4" descr="蓝色面巾纸"/>
          <p:cNvSpPr>
            <a:spLocks noChangeArrowheads="1"/>
          </p:cNvSpPr>
          <p:nvPr/>
        </p:nvSpPr>
        <p:spPr bwMode="auto">
          <a:xfrm>
            <a:off x="5492205" y="4326687"/>
            <a:ext cx="6696744" cy="244792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说明：</a:t>
            </a:r>
          </a:p>
          <a:p>
            <a:pPr marL="285750" indent="-285750" eaLnBrk="1" hangingPunct="1"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结构体中的成员可以相当于普通变量一样使用。</a:t>
            </a:r>
          </a:p>
          <a:p>
            <a:pPr marL="285750" indent="-285750" eaLnBrk="1" hangingPunct="1"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成员也可以是一个结构体变量。</a:t>
            </a:r>
          </a:p>
          <a:p>
            <a:pPr marL="285750" indent="-285750" eaLnBrk="1" hangingPunct="1"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成员名可以与程序中的变量名相同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,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二者不代表同一个对象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1" name="云形标注 10"/>
          <p:cNvSpPr/>
          <p:nvPr/>
        </p:nvSpPr>
        <p:spPr bwMode="auto">
          <a:xfrm>
            <a:off x="8761532" y="3898482"/>
            <a:ext cx="2735068" cy="680726"/>
          </a:xfrm>
          <a:prstGeom prst="cloudCallout">
            <a:avLst>
              <a:gd name="adj1" fmla="val -85921"/>
              <a:gd name="adj2" fmla="val -34603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无类型名变量</a:t>
            </a:r>
          </a:p>
        </p:txBody>
      </p:sp>
      <p:sp>
        <p:nvSpPr>
          <p:cNvPr id="12" name="Oval 4"/>
          <p:cNvSpPr/>
          <p:nvPr/>
        </p:nvSpPr>
        <p:spPr>
          <a:xfrm>
            <a:off x="-56922" y="3018800"/>
            <a:ext cx="4495800" cy="762000"/>
          </a:xfrm>
          <a:prstGeom prst="ellipse">
            <a:avLst/>
          </a:prstGeom>
          <a:noFill/>
          <a:ln w="12700" cap="flat" cmpd="sng">
            <a:noFill/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person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p1, p2;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7" grpId="0"/>
      <p:bldP spid="9" grpId="0"/>
      <p:bldP spid="10" grpId="0" bldLvl="0" animBg="1"/>
      <p:bldP spid="11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5"/>
          <p:cNvSpPr txBox="1"/>
          <p:nvPr/>
        </p:nvSpPr>
        <p:spPr>
          <a:xfrm>
            <a:off x="191344" y="260350"/>
            <a:ext cx="792003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初始化：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各成员的</a:t>
            </a:r>
            <a:r>
              <a:rPr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初值按定义的顺序组织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在一对花括号中</a:t>
            </a:r>
          </a:p>
        </p:txBody>
      </p:sp>
      <p:sp>
        <p:nvSpPr>
          <p:cNvPr id="11269" name="Rectangle 9"/>
          <p:cNvSpPr/>
          <p:nvPr/>
        </p:nvSpPr>
        <p:spPr>
          <a:xfrm>
            <a:off x="191345" y="832644"/>
            <a:ext cx="3744416" cy="26930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struct person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 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char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name[15];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char  sex;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int  age;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}                                    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 Box 2"/>
          <p:cNvSpPr txBox="1"/>
          <p:nvPr/>
        </p:nvSpPr>
        <p:spPr>
          <a:xfrm>
            <a:off x="191344" y="3717032"/>
            <a:ext cx="83058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.1.4 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指向结构变量的指针</a:t>
            </a:r>
            <a:endParaRPr lang="zh-CN" altLang="en-US" sz="28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 Box 5"/>
          <p:cNvSpPr txBox="1"/>
          <p:nvPr/>
        </p:nvSpPr>
        <p:spPr>
          <a:xfrm>
            <a:off x="119336" y="4387715"/>
            <a:ext cx="8568952" cy="193899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指向结构变量的指针指向的是结构变量的整体，而不是其中的某个</a:t>
            </a:r>
            <a:r>
              <a:rPr lang="zh-CN" altLang="zh-CN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成员</a:t>
            </a:r>
            <a:r>
              <a:rPr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指针中存放的是其所指向</a:t>
            </a:r>
            <a:r>
              <a:rPr lang="zh-CN" altLang="zh-CN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的结构</a:t>
            </a:r>
            <a:r>
              <a:rPr lang="zh-CN" altLang="zh-CN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变量所占内存空间的</a:t>
            </a:r>
            <a:r>
              <a:rPr lang="zh-CN" altLang="zh-CN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首</a:t>
            </a:r>
            <a:r>
              <a:rPr lang="zh-CN" altLang="zh-CN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r>
              <a:rPr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如：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struct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person p1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={"Tom",'F',18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lang="en-US" altLang="zh-CN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,*p=&amp;p1;</a:t>
            </a:r>
            <a:endParaRPr lang="zh-CN" altLang="en-US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0344472" y="4239002"/>
            <a:ext cx="1656184" cy="48614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仿宋_GB2312" pitchFamily="49" charset="-122"/>
              </a:rPr>
              <a:t>Tom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0344472" y="4725144"/>
            <a:ext cx="1656184" cy="48614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仿宋_GB2312" pitchFamily="49" charset="-122"/>
              </a:rPr>
              <a:t>F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0341697" y="5211286"/>
            <a:ext cx="1656184" cy="48614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仿宋_GB2312" pitchFamily="49" charset="-122"/>
              </a:rPr>
              <a:t>18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仿宋_GB2312" pitchFamily="49" charset="-122"/>
            </a:endParaRPr>
          </a:p>
        </p:txBody>
      </p:sp>
      <p:cxnSp>
        <p:nvCxnSpPr>
          <p:cNvPr id="6" name="直接箭头连接符 5"/>
          <p:cNvCxnSpPr/>
          <p:nvPr/>
        </p:nvCxnSpPr>
        <p:spPr bwMode="auto">
          <a:xfrm>
            <a:off x="9264352" y="4365104"/>
            <a:ext cx="107734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8" name="文本框 7"/>
          <p:cNvSpPr txBox="1"/>
          <p:nvPr/>
        </p:nvSpPr>
        <p:spPr>
          <a:xfrm>
            <a:off x="8832304" y="4077072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9788097" y="3903439"/>
            <a:ext cx="55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p1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79376" y="3068960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p1 ={</a:t>
            </a:r>
            <a:r>
              <a:rPr lang="en-US" altLang="zh-CN" dirty="0"/>
              <a:t>"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Tom",'F',18}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/>
          <p:nvPr/>
        </p:nvSpPr>
        <p:spPr>
          <a:xfrm>
            <a:off x="191344" y="44624"/>
            <a:ext cx="77724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.1.5 </a:t>
            </a:r>
            <a:r>
              <a:rPr lang="zh-CN" altLang="en-US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结构变量</a:t>
            </a:r>
            <a:r>
              <a:rPr lang="zh-CN" altLang="en-US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的访问</a:t>
            </a:r>
            <a:endParaRPr lang="zh-CN" altLang="en-US" sz="28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317" name="Text Box 5"/>
          <p:cNvSpPr txBox="1"/>
          <p:nvPr/>
        </p:nvSpPr>
        <p:spPr>
          <a:xfrm>
            <a:off x="263352" y="1315931"/>
            <a:ext cx="3240360" cy="476669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/>
          <a:lstStyle>
            <a:defPPr>
              <a:defRPr lang="zh-CN"/>
            </a:defPPr>
            <a:lvl1pPr marL="342900" marR="0" indent="-342900" eaLnBrk="1" hangingPunct="1">
              <a:lnSpc>
                <a:spcPct val="120000"/>
              </a:lnSpc>
              <a:spcBef>
                <a:spcPct val="5000"/>
              </a:spcBef>
              <a:buClrTx/>
              <a:buSzTx/>
              <a:buFontTx/>
              <a:defRPr kumimoji="1" strike="noStrike" cap="none" spc="0" normalizeH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algn="ctr"/>
            <a:r>
              <a:rPr lang="zh-CN" altLang="en-US" dirty="0">
                <a:solidFill>
                  <a:schemeClr val="tx1"/>
                </a:solidFill>
              </a:rPr>
              <a:t>结构变量名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  <a:r>
              <a:rPr lang="zh-CN" altLang="en-US" dirty="0">
                <a:solidFill>
                  <a:schemeClr val="tx1"/>
                </a:solidFill>
              </a:rPr>
              <a:t>成员名</a:t>
            </a:r>
          </a:p>
        </p:txBody>
      </p:sp>
      <p:sp>
        <p:nvSpPr>
          <p:cNvPr id="13318" name="Text Box 9"/>
          <p:cNvSpPr txBox="1"/>
          <p:nvPr/>
        </p:nvSpPr>
        <p:spPr>
          <a:xfrm>
            <a:off x="5663952" y="662880"/>
            <a:ext cx="3744416" cy="4616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ea typeface="楷体" panose="02010609060101010101" pitchFamily="49" charset="-122"/>
              </a:rPr>
              <a:t>对</a:t>
            </a:r>
            <a:r>
              <a:rPr lang="zh-CN" altLang="en-US" dirty="0">
                <a:ea typeface="楷体" panose="02010609060101010101" pitchFamily="49" charset="-122"/>
              </a:rPr>
              <a:t>结构指针的成员访问：</a:t>
            </a:r>
          </a:p>
        </p:txBody>
      </p:sp>
      <p:sp>
        <p:nvSpPr>
          <p:cNvPr id="13319" name="Rectangle 21"/>
          <p:cNvSpPr/>
          <p:nvPr/>
        </p:nvSpPr>
        <p:spPr>
          <a:xfrm>
            <a:off x="5663952" y="1313212"/>
            <a:ext cx="3989746" cy="1035668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5000"/>
              </a:spcBef>
            </a:pPr>
            <a:r>
              <a:rPr kumimoji="1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(*</a:t>
            </a:r>
            <a:r>
              <a:rPr kumimoji="1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指向结构的指针</a:t>
            </a:r>
            <a:r>
              <a:rPr kumimoji="1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).</a:t>
            </a:r>
            <a:r>
              <a:rPr kumimoji="1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成员名</a:t>
            </a:r>
          </a:p>
          <a:p>
            <a:pPr marL="342900" indent="-342900" eaLnBrk="1" hangingPunct="1">
              <a:lnSpc>
                <a:spcPct val="120000"/>
              </a:lnSpc>
              <a:spcBef>
                <a:spcPct val="5000"/>
              </a:spcBef>
            </a:pPr>
            <a:r>
              <a:rPr kumimoji="1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指向结构的指针</a:t>
            </a:r>
            <a:r>
              <a:rPr kumimoji="1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-&gt;</a:t>
            </a:r>
            <a:r>
              <a:rPr kumimoji="1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成员名</a:t>
            </a:r>
          </a:p>
        </p:txBody>
      </p:sp>
      <p:sp>
        <p:nvSpPr>
          <p:cNvPr id="13320" name="Rectangle 22"/>
          <p:cNvSpPr/>
          <p:nvPr/>
        </p:nvSpPr>
        <p:spPr>
          <a:xfrm>
            <a:off x="191344" y="692696"/>
            <a:ext cx="3934090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ea typeface="楷体" panose="02010609060101010101" pitchFamily="49" charset="-122"/>
              </a:rPr>
              <a:t>对</a:t>
            </a:r>
            <a:r>
              <a:rPr lang="zh-CN" altLang="en-US" dirty="0" smtClean="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结构变量的成员访问：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50613" y="1783444"/>
            <a:ext cx="5860697" cy="905799"/>
            <a:chOff x="5750613" y="1783444"/>
            <a:chExt cx="5860697" cy="905799"/>
          </a:xfrm>
        </p:grpSpPr>
        <p:sp>
          <p:nvSpPr>
            <p:cNvPr id="3" name="椭圆 2"/>
            <p:cNvSpPr/>
            <p:nvPr/>
          </p:nvSpPr>
          <p:spPr bwMode="auto">
            <a:xfrm>
              <a:off x="5750613" y="1783444"/>
              <a:ext cx="3816424" cy="556280"/>
            </a:xfrm>
            <a:prstGeom prst="ellips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1" name="云形标注 20"/>
            <p:cNvSpPr/>
            <p:nvPr/>
          </p:nvSpPr>
          <p:spPr bwMode="auto">
            <a:xfrm>
              <a:off x="9984432" y="2008517"/>
              <a:ext cx="1626878" cy="680726"/>
            </a:xfrm>
            <a:prstGeom prst="cloudCallout">
              <a:avLst>
                <a:gd name="adj1" fmla="val -80478"/>
                <a:gd name="adj2" fmla="val -34603"/>
              </a:avLst>
            </a:prstGeom>
            <a:solidFill>
              <a:srgbClr val="CCFFFF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2000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常用</a:t>
              </a:r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22" name="矩形 21"/>
          <p:cNvSpPr/>
          <p:nvPr/>
        </p:nvSpPr>
        <p:spPr bwMode="auto">
          <a:xfrm>
            <a:off x="6456040" y="3806954"/>
            <a:ext cx="1656184" cy="48614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仿宋_GB2312" pitchFamily="49" charset="-122"/>
              </a:rPr>
              <a:t>Tom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456040" y="4293096"/>
            <a:ext cx="1656184" cy="48614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仿宋_GB2312" pitchFamily="49" charset="-122"/>
              </a:rPr>
              <a:t>F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6453265" y="4779238"/>
            <a:ext cx="1656184" cy="48614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仿宋_GB2312" pitchFamily="49" charset="-122"/>
              </a:rPr>
              <a:t>18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仿宋_GB2312" pitchFamily="49" charset="-122"/>
            </a:endParaRPr>
          </a:p>
        </p:txBody>
      </p:sp>
      <p:cxnSp>
        <p:nvCxnSpPr>
          <p:cNvPr id="25" name="直接箭头连接符 24"/>
          <p:cNvCxnSpPr/>
          <p:nvPr/>
        </p:nvCxnSpPr>
        <p:spPr bwMode="auto">
          <a:xfrm>
            <a:off x="5375920" y="3933056"/>
            <a:ext cx="107734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26" name="文本框 25"/>
          <p:cNvSpPr txBox="1"/>
          <p:nvPr/>
        </p:nvSpPr>
        <p:spPr>
          <a:xfrm>
            <a:off x="4943872" y="3645024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5899665" y="3471391"/>
            <a:ext cx="55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p1</a:t>
            </a:r>
            <a:endParaRPr lang="zh-CN" altLang="en-US" dirty="0"/>
          </a:p>
        </p:txBody>
      </p:sp>
      <p:sp>
        <p:nvSpPr>
          <p:cNvPr id="28" name="Rectangle 9"/>
          <p:cNvSpPr/>
          <p:nvPr/>
        </p:nvSpPr>
        <p:spPr>
          <a:xfrm>
            <a:off x="375685" y="2946573"/>
            <a:ext cx="4620506" cy="26930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struct person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 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char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name[15];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char  sex;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int  age;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}p1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={</a:t>
            </a:r>
            <a:r>
              <a:rPr lang="en-US" altLang="zh-CN" dirty="0">
                <a:latin typeface="Arial" panose="020B0604020202020204" pitchFamily="34" charset="0"/>
              </a:rPr>
              <a:t>"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Tom",'F',18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},*p=&amp;p1;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184232" y="3806954"/>
            <a:ext cx="3283062" cy="1402450"/>
            <a:chOff x="8184232" y="3806954"/>
            <a:chExt cx="3283062" cy="1402450"/>
          </a:xfrm>
        </p:grpSpPr>
        <p:sp>
          <p:nvSpPr>
            <p:cNvPr id="4" name="文本框 3"/>
            <p:cNvSpPr txBox="1"/>
            <p:nvPr/>
          </p:nvSpPr>
          <p:spPr>
            <a:xfrm>
              <a:off x="8184232" y="3806954"/>
              <a:ext cx="32830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0" dirty="0" smtClean="0"/>
                <a:t>p1.name</a:t>
              </a:r>
              <a:r>
                <a:rPr lang="zh-CN" altLang="en-US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或</a:t>
              </a:r>
              <a:r>
                <a:rPr lang="en-US" altLang="zh-CN" b="0" dirty="0" smtClean="0"/>
                <a:t>p-&gt;name</a:t>
              </a:r>
              <a:endParaRPr lang="zh-CN" altLang="en-US" b="0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184232" y="4293095"/>
              <a:ext cx="32830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0" dirty="0" smtClean="0"/>
                <a:t>p1.sex</a:t>
              </a:r>
              <a:r>
                <a:rPr lang="zh-CN" altLang="en-US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或</a:t>
              </a:r>
              <a:r>
                <a:rPr lang="en-US" altLang="zh-CN" b="0" dirty="0" smtClean="0"/>
                <a:t>p-&gt;sex</a:t>
              </a:r>
              <a:endParaRPr lang="zh-CN" altLang="en-US" b="0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184232" y="4747739"/>
              <a:ext cx="32830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0" dirty="0" smtClean="0"/>
                <a:t>p1.age</a:t>
              </a:r>
              <a:r>
                <a:rPr lang="zh-CN" altLang="en-US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或</a:t>
              </a:r>
              <a:r>
                <a:rPr lang="en-US" altLang="zh-CN" b="0" dirty="0" smtClean="0"/>
                <a:t>p-&gt;age</a:t>
              </a:r>
              <a:endParaRPr lang="zh-CN" altLang="en-US" b="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  <p:bldP spid="133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4"/>
          <p:cNvSpPr txBox="1"/>
          <p:nvPr/>
        </p:nvSpPr>
        <p:spPr>
          <a:xfrm>
            <a:off x="191344" y="44624"/>
            <a:ext cx="3862082" cy="492443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又</a:t>
            </a:r>
            <a:r>
              <a:rPr lang="zh-CN" altLang="en-US" sz="2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，假设有</a:t>
            </a:r>
            <a:r>
              <a:rPr lang="zh-CN" altLang="en-US" sz="2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定义：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Text Box 7"/>
          <p:cNvSpPr txBox="1"/>
          <p:nvPr/>
        </p:nvSpPr>
        <p:spPr>
          <a:xfrm>
            <a:off x="4367808" y="3613378"/>
            <a:ext cx="5327650" cy="101473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strcpy (p1.name, "Fang Min");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p-&gt;birthday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month = 8;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8" name="云形标注 17"/>
          <p:cNvSpPr/>
          <p:nvPr/>
        </p:nvSpPr>
        <p:spPr bwMode="auto">
          <a:xfrm>
            <a:off x="6023992" y="2336744"/>
            <a:ext cx="5622886" cy="680726"/>
          </a:xfrm>
          <a:prstGeom prst="cloudCallout">
            <a:avLst>
              <a:gd name="adj1" fmla="val -42830"/>
              <a:gd name="adj2" fmla="val 15928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可以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p1.name=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"Fang Min";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吗？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云形标注 18"/>
          <p:cNvSpPr/>
          <p:nvPr/>
        </p:nvSpPr>
        <p:spPr bwMode="auto">
          <a:xfrm>
            <a:off x="4799856" y="4883653"/>
            <a:ext cx="6048672" cy="680726"/>
          </a:xfrm>
          <a:prstGeom prst="cloudCallout">
            <a:avLst>
              <a:gd name="adj1" fmla="val -44706"/>
              <a:gd name="adj2" fmla="val -7008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为何不是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p-&gt;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birthday-&gt;month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= 8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;?</a:t>
            </a:r>
            <a:r>
              <a:rPr lang="en-US" altLang="zh-CN" sz="2000" dirty="0" smtClean="0"/>
              <a:t> </a:t>
            </a:r>
            <a:endParaRPr lang="en-US" altLang="zh-CN" sz="2000" dirty="0"/>
          </a:p>
          <a:p>
            <a:pPr algn="ctr" eaLnBrk="1" hangingPunct="1">
              <a:spcBef>
                <a:spcPct val="50000"/>
              </a:spcBef>
            </a:pP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Oval 5"/>
          <p:cNvSpPr/>
          <p:nvPr/>
        </p:nvSpPr>
        <p:spPr>
          <a:xfrm>
            <a:off x="-602103" y="2132856"/>
            <a:ext cx="3901623" cy="2947502"/>
          </a:xfrm>
          <a:prstGeom prst="ellipse">
            <a:avLst/>
          </a:prstGeom>
          <a:noFill/>
          <a:ln w="12700" cap="flat" cmpd="sng">
            <a:noFill/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struct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person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{ char  name[15];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char  sex;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int  age;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struct date  birthday;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}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p1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,*p=&amp;p1;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67544" y="436403"/>
            <a:ext cx="283197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struct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date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month;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day;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year;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};</a:t>
            </a:r>
          </a:p>
        </p:txBody>
      </p:sp>
      <p:sp>
        <p:nvSpPr>
          <p:cNvPr id="14" name="云形标注 13"/>
          <p:cNvSpPr/>
          <p:nvPr/>
        </p:nvSpPr>
        <p:spPr bwMode="auto">
          <a:xfrm>
            <a:off x="3863752" y="1321867"/>
            <a:ext cx="7656966" cy="810989"/>
          </a:xfrm>
          <a:prstGeom prst="cloudCallout">
            <a:avLst>
              <a:gd name="adj1" fmla="val -71606"/>
              <a:gd name="adj2" fmla="val 36299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/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如何让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p1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name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"Fang Min" 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 eaLnBrk="1" hangingPunct="1"/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如何使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指向的对象的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birthday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month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926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5"/>
          <p:cNvSpPr txBox="1"/>
          <p:nvPr/>
        </p:nvSpPr>
        <p:spPr>
          <a:xfrm>
            <a:off x="263352" y="1011266"/>
            <a:ext cx="10657184" cy="45243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algn="just" eaLnBrk="1" hangingPunct="1">
              <a:lnSpc>
                <a:spcPct val="12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结构变量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不能整体输入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、输出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。如果成员本身又是另一个结构类型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则要逐级找到最低一级成员。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只能对最低级的成员进行输入输出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rgbClr val="C00000"/>
              </a:buClr>
            </a:pP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如，假设有定义  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person p; 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则以下表达皆不允许：</a:t>
            </a:r>
          </a:p>
          <a:p>
            <a:pPr eaLnBrk="1" hangingPunct="1">
              <a:buClr>
                <a:srgbClr val="C00000"/>
              </a:buClr>
            </a:pP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Clr>
                <a:srgbClr val="C00000"/>
              </a:buClr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err="1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cin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&gt;&gt;p</a:t>
            </a:r>
            <a:r>
              <a:rPr lang="en-US" altLang="zh-CN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 eaLnBrk="1" hangingPunct="1">
              <a:buClr>
                <a:srgbClr val="C00000"/>
              </a:buClr>
            </a:pPr>
            <a:r>
              <a:rPr lang="en-US" altLang="zh-CN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Clr>
                <a:srgbClr val="C00000"/>
              </a:buClr>
            </a:pPr>
            <a:r>
              <a:rPr lang="en-US" altLang="zh-CN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dirty="0" err="1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cout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&lt;&lt;p;</a:t>
            </a:r>
          </a:p>
          <a:p>
            <a:pPr marL="342900" indent="-342900" algn="just" eaLnBrk="1" hangingPunct="1">
              <a:lnSpc>
                <a:spcPct val="12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 eaLnBrk="1" hangingPunct="1">
              <a:lnSpc>
                <a:spcPct val="12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结构体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变量的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成员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遵循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同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类型普通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变量的操作要求。</a:t>
            </a:r>
            <a:endParaRPr lang="zh-CN" altLang="en-US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 eaLnBrk="1" hangingPunct="1">
              <a:lnSpc>
                <a:spcPct val="12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结构体变量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允许整体赋值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以及做函数参数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42086" name="Text Box 6"/>
          <p:cNvSpPr txBox="1"/>
          <p:nvPr/>
        </p:nvSpPr>
        <p:spPr>
          <a:xfrm>
            <a:off x="3143672" y="2780928"/>
            <a:ext cx="1711863" cy="1323340"/>
          </a:xfrm>
          <a:prstGeom prst="rect">
            <a:avLst/>
          </a:prstGeom>
          <a:noFill/>
          <a:ln w="12700">
            <a:noFill/>
          </a:ln>
        </p:spPr>
        <p:txBody>
          <a:bodyPr wrap="square" lIns="90000" tIns="46800" rIns="90000" bIns="46800" anchor="ctr" anchorCtr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arlett" pitchFamily="2" charset="2"/>
              </a:rPr>
              <a:t></a:t>
            </a:r>
            <a:endParaRPr lang="en-US" altLang="zh-CN" sz="8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sym typeface="Marlett" pitchFamily="2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3352" y="33265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说明：</a:t>
            </a:r>
            <a:endParaRPr lang="zh-CN" altLang="en-US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94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08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/>
          <p:nvPr/>
        </p:nvSpPr>
        <p:spPr>
          <a:xfrm>
            <a:off x="160436" y="1463386"/>
            <a:ext cx="10184036" cy="34470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定义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zh-CN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结构类型名 结构数组名</a:t>
            </a: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zh-CN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整型常量表达式</a:t>
            </a: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]</a:t>
            </a:r>
            <a:endParaRPr lang="zh-CN" altLang="zh-CN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说明：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数组元素是结构类型；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输入输出时需逐元素逐成员进行；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其它要求同普通数组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 Box 3"/>
          <p:cNvSpPr txBox="1"/>
          <p:nvPr/>
        </p:nvSpPr>
        <p:spPr>
          <a:xfrm>
            <a:off x="155531" y="0"/>
            <a:ext cx="6172200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.2 </a:t>
            </a:r>
            <a:r>
              <a:rPr lang="zh-CN" altLang="en-US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结构数组</a:t>
            </a:r>
            <a:endParaRPr lang="zh-CN" altLang="en-US" sz="3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 Box 2"/>
          <p:cNvSpPr txBox="1"/>
          <p:nvPr/>
        </p:nvSpPr>
        <p:spPr>
          <a:xfrm>
            <a:off x="155531" y="741749"/>
            <a:ext cx="83058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.2.1 </a:t>
            </a:r>
            <a:r>
              <a:rPr lang="zh-CN" altLang="en-US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结构数组的定义及初始化</a:t>
            </a:r>
            <a:endParaRPr lang="zh-CN" altLang="en-US" sz="28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383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5"/>
          <p:cNvSpPr txBox="1"/>
          <p:nvPr/>
        </p:nvSpPr>
        <p:spPr>
          <a:xfrm>
            <a:off x="191344" y="260350"/>
            <a:ext cx="1728192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2.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初始化：</a:t>
            </a:r>
            <a:endParaRPr lang="zh-CN" altLang="en-US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268" name="Rectangle 6"/>
          <p:cNvSpPr/>
          <p:nvPr/>
        </p:nvSpPr>
        <p:spPr>
          <a:xfrm>
            <a:off x="140405" y="2351297"/>
            <a:ext cx="8066087" cy="230832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struct person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 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char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name[15];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char  sex;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int  age;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}p[10] ={{"Fang Min",'F' ,24}, {"Fang Hua",'M',35}};</a:t>
            </a:r>
          </a:p>
        </p:txBody>
      </p:sp>
      <p:sp>
        <p:nvSpPr>
          <p:cNvPr id="11271" name="Text Box 12" descr="蓝色砂纸"/>
          <p:cNvSpPr txBox="1"/>
          <p:nvPr/>
        </p:nvSpPr>
        <p:spPr>
          <a:xfrm>
            <a:off x="154534" y="871547"/>
            <a:ext cx="8173714" cy="1277273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42900" indent="-342900" algn="just" eaLnBrk="1" hangingPunct="1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  <a:r>
              <a:rPr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初始化按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数组初始化原则所有元素组织在一对花括号中，元素间逗号</a:t>
            </a:r>
            <a:r>
              <a:rPr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分隔；</a:t>
            </a:r>
            <a:endParaRPr lang="en-US" altLang="zh-CN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 eaLnBrk="1" hangingPunct="1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每个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元素又按结构变量初始化方法组织在一对花括号</a:t>
            </a:r>
            <a:r>
              <a:rPr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中； </a:t>
            </a:r>
            <a:endParaRPr lang="zh-CN" altLang="en-US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0" name="Group 26"/>
          <p:cNvGrpSpPr/>
          <p:nvPr/>
        </p:nvGrpSpPr>
        <p:grpSpPr>
          <a:xfrm>
            <a:off x="8606134" y="2060401"/>
            <a:ext cx="3538538" cy="4752975"/>
            <a:chOff x="1195" y="164"/>
            <a:chExt cx="2229" cy="2994"/>
          </a:xfrm>
        </p:grpSpPr>
        <p:sp>
          <p:nvSpPr>
            <p:cNvPr id="31" name="AutoShape 5"/>
            <p:cNvSpPr/>
            <p:nvPr/>
          </p:nvSpPr>
          <p:spPr>
            <a:xfrm>
              <a:off x="1837" y="164"/>
              <a:ext cx="1587" cy="2994"/>
            </a:xfrm>
            <a:prstGeom prst="flowChartDocumen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342900" indent="-342900" eaLnBrk="1" hangingPunct="1">
                <a:lnSpc>
                  <a:spcPct val="120000"/>
                </a:lnSpc>
                <a:spcBef>
                  <a:spcPct val="5000"/>
                </a:spcBef>
              </a:pPr>
              <a:endParaRPr kumimoji="1"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2" name="Line 7"/>
            <p:cNvSpPr/>
            <p:nvPr/>
          </p:nvSpPr>
          <p:spPr>
            <a:xfrm>
              <a:off x="1837" y="436"/>
              <a:ext cx="15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" name="Line 8"/>
            <p:cNvSpPr/>
            <p:nvPr/>
          </p:nvSpPr>
          <p:spPr>
            <a:xfrm>
              <a:off x="1837" y="709"/>
              <a:ext cx="15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" name="Line 9"/>
            <p:cNvSpPr/>
            <p:nvPr/>
          </p:nvSpPr>
          <p:spPr>
            <a:xfrm>
              <a:off x="1837" y="1026"/>
              <a:ext cx="15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" name="Text Box 10"/>
            <p:cNvSpPr txBox="1"/>
            <p:nvPr/>
          </p:nvSpPr>
          <p:spPr>
            <a:xfrm>
              <a:off x="1973" y="164"/>
              <a:ext cx="131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"Fang Min"</a:t>
              </a:r>
            </a:p>
          </p:txBody>
        </p:sp>
        <p:sp>
          <p:nvSpPr>
            <p:cNvPr id="36" name="Text Box 11"/>
            <p:cNvSpPr txBox="1"/>
            <p:nvPr/>
          </p:nvSpPr>
          <p:spPr>
            <a:xfrm>
              <a:off x="2154" y="482"/>
              <a:ext cx="77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'F'</a:t>
              </a:r>
            </a:p>
          </p:txBody>
        </p:sp>
        <p:sp>
          <p:nvSpPr>
            <p:cNvPr id="37" name="Text Box 12"/>
            <p:cNvSpPr txBox="1"/>
            <p:nvPr/>
          </p:nvSpPr>
          <p:spPr>
            <a:xfrm>
              <a:off x="2109" y="754"/>
              <a:ext cx="72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24</a:t>
              </a:r>
            </a:p>
          </p:txBody>
        </p:sp>
        <p:sp>
          <p:nvSpPr>
            <p:cNvPr id="38" name="AutoShape 13"/>
            <p:cNvSpPr/>
            <p:nvPr/>
          </p:nvSpPr>
          <p:spPr>
            <a:xfrm>
              <a:off x="1701" y="164"/>
              <a:ext cx="136" cy="862"/>
            </a:xfrm>
            <a:prstGeom prst="leftBrace">
              <a:avLst>
                <a:gd name="adj1" fmla="val 52818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" name="Text Box 14"/>
            <p:cNvSpPr txBox="1"/>
            <p:nvPr/>
          </p:nvSpPr>
          <p:spPr>
            <a:xfrm>
              <a:off x="1199" y="504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P[0]</a:t>
              </a:r>
            </a:p>
          </p:txBody>
        </p:sp>
        <p:sp>
          <p:nvSpPr>
            <p:cNvPr id="40" name="Line 15"/>
            <p:cNvSpPr/>
            <p:nvPr/>
          </p:nvSpPr>
          <p:spPr>
            <a:xfrm>
              <a:off x="1837" y="1298"/>
              <a:ext cx="15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" name="Line 16"/>
            <p:cNvSpPr/>
            <p:nvPr/>
          </p:nvSpPr>
          <p:spPr>
            <a:xfrm>
              <a:off x="1837" y="1571"/>
              <a:ext cx="15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" name="Line 17"/>
            <p:cNvSpPr/>
            <p:nvPr/>
          </p:nvSpPr>
          <p:spPr>
            <a:xfrm>
              <a:off x="1837" y="1888"/>
              <a:ext cx="15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" name="Text Box 18"/>
            <p:cNvSpPr txBox="1"/>
            <p:nvPr/>
          </p:nvSpPr>
          <p:spPr>
            <a:xfrm>
              <a:off x="1973" y="1026"/>
              <a:ext cx="131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" Fang Hua "</a:t>
              </a:r>
            </a:p>
          </p:txBody>
        </p:sp>
        <p:sp>
          <p:nvSpPr>
            <p:cNvPr id="44" name="Text Box 19"/>
            <p:cNvSpPr txBox="1"/>
            <p:nvPr/>
          </p:nvSpPr>
          <p:spPr>
            <a:xfrm>
              <a:off x="2154" y="1344"/>
              <a:ext cx="77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'M'</a:t>
              </a:r>
            </a:p>
          </p:txBody>
        </p:sp>
        <p:sp>
          <p:nvSpPr>
            <p:cNvPr id="45" name="Text Box 20"/>
            <p:cNvSpPr txBox="1"/>
            <p:nvPr/>
          </p:nvSpPr>
          <p:spPr>
            <a:xfrm>
              <a:off x="2109" y="1616"/>
              <a:ext cx="72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35</a:t>
              </a:r>
            </a:p>
          </p:txBody>
        </p:sp>
        <p:sp>
          <p:nvSpPr>
            <p:cNvPr id="46" name="AutoShape 21"/>
            <p:cNvSpPr/>
            <p:nvPr/>
          </p:nvSpPr>
          <p:spPr>
            <a:xfrm>
              <a:off x="1701" y="1026"/>
              <a:ext cx="136" cy="862"/>
            </a:xfrm>
            <a:prstGeom prst="leftBrace">
              <a:avLst>
                <a:gd name="adj1" fmla="val 52818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" name="Text Box 22"/>
            <p:cNvSpPr txBox="1"/>
            <p:nvPr/>
          </p:nvSpPr>
          <p:spPr>
            <a:xfrm>
              <a:off x="1199" y="1350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P[1]</a:t>
              </a:r>
            </a:p>
          </p:txBody>
        </p:sp>
        <p:sp>
          <p:nvSpPr>
            <p:cNvPr id="48" name="Text Box 23"/>
            <p:cNvSpPr txBox="1"/>
            <p:nvPr/>
          </p:nvSpPr>
          <p:spPr>
            <a:xfrm>
              <a:off x="2288" y="2115"/>
              <a:ext cx="348" cy="90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……</a:t>
              </a:r>
            </a:p>
          </p:txBody>
        </p:sp>
        <p:sp>
          <p:nvSpPr>
            <p:cNvPr id="49" name="Text Box 24"/>
            <p:cNvSpPr txBox="1"/>
            <p:nvPr/>
          </p:nvSpPr>
          <p:spPr>
            <a:xfrm>
              <a:off x="1195" y="2001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P[2]</a:t>
              </a:r>
            </a:p>
          </p:txBody>
        </p:sp>
        <p:sp>
          <p:nvSpPr>
            <p:cNvPr id="50" name="Text Box 25"/>
            <p:cNvSpPr txBox="1"/>
            <p:nvPr/>
          </p:nvSpPr>
          <p:spPr>
            <a:xfrm>
              <a:off x="1308" y="2432"/>
              <a:ext cx="348" cy="54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……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1127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/>
          <p:nvPr/>
        </p:nvSpPr>
        <p:spPr>
          <a:xfrm>
            <a:off x="119336" y="764704"/>
            <a:ext cx="11048132" cy="32316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访问方式：</a:t>
            </a:r>
          </a:p>
          <a:p>
            <a:pPr marL="342900" indent="-342900"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作</a:t>
            </a:r>
            <a:r>
              <a:rPr lang="zh-CN" altLang="zh-CN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函数参数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，可以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以数组名的形式</a:t>
            </a:r>
            <a:r>
              <a:rPr lang="zh-CN" altLang="zh-CN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整体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引用；</a:t>
            </a:r>
          </a:p>
          <a:p>
            <a:pPr marL="342900" indent="-342900"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不同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元素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之间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赋值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可以以元素的形式</a:t>
            </a:r>
            <a:r>
              <a:rPr lang="zh-CN" altLang="zh-CN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整体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引用；</a:t>
            </a:r>
          </a:p>
          <a:p>
            <a:pPr marL="342900" indent="-342900"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其余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情况下需要访问到数组元素的每个成员，形式如下：</a:t>
            </a:r>
          </a:p>
          <a:p>
            <a:pPr lvl="3" eaLnBrk="1" hangingPunct="1">
              <a:spcBef>
                <a:spcPts val="1200"/>
              </a:spcBef>
              <a:spcAft>
                <a:spcPts val="1200"/>
              </a:spcAft>
              <a:buClr>
                <a:srgbClr val="C00000"/>
              </a:buClr>
            </a:pPr>
            <a:r>
              <a:rPr lang="zh-CN" altLang="zh-CN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结构数组名</a:t>
            </a: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zh-CN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下标</a:t>
            </a: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].</a:t>
            </a:r>
            <a:r>
              <a:rPr lang="zh-CN" altLang="zh-CN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结构成员名</a:t>
            </a:r>
          </a:p>
          <a:p>
            <a:pPr marL="342900" indent="-342900"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 Box 2"/>
          <p:cNvSpPr txBox="1"/>
          <p:nvPr/>
        </p:nvSpPr>
        <p:spPr>
          <a:xfrm>
            <a:off x="119336" y="116632"/>
            <a:ext cx="83058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.2.2 </a:t>
            </a:r>
            <a:r>
              <a:rPr lang="zh-CN" altLang="en-US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结构数组的访问</a:t>
            </a:r>
            <a:endParaRPr lang="zh-CN" altLang="en-US" sz="28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700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3"/>
          <p:cNvSpPr txBox="1"/>
          <p:nvPr/>
        </p:nvSpPr>
        <p:spPr>
          <a:xfrm>
            <a:off x="191344" y="-27305"/>
            <a:ext cx="8584599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 smtClean="0">
                <a:latin typeface="Arial" panose="020B0604020202020204" pitchFamily="34" charset="0"/>
                <a:ea typeface="楷体" panose="02010609060101010101" pitchFamily="49" charset="-122"/>
              </a:rPr>
              <a:t>例</a:t>
            </a:r>
            <a:r>
              <a:rPr lang="en-US" altLang="zh-CN" dirty="0" smtClean="0">
                <a:latin typeface="Arial" panose="020B0604020202020204" pitchFamily="34" charset="0"/>
                <a:ea typeface="楷体" panose="02010609060101010101" pitchFamily="49" charset="-122"/>
              </a:rPr>
              <a:t>7.1</a:t>
            </a:r>
            <a:r>
              <a:rPr lang="zh-CN" altLang="en-US" dirty="0" smtClean="0">
                <a:latin typeface="Arial" panose="020B0604020202020204" pitchFamily="34" charset="0"/>
                <a:ea typeface="楷体" panose="02010609060101010101" pitchFamily="49" charset="-122"/>
              </a:rPr>
              <a:t>的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</a:rPr>
              <a:t>程序实现：</a:t>
            </a:r>
          </a:p>
        </p:txBody>
      </p:sp>
      <p:sp>
        <p:nvSpPr>
          <p:cNvPr id="16387" name="Text Box 4"/>
          <p:cNvSpPr txBox="1"/>
          <p:nvPr/>
        </p:nvSpPr>
        <p:spPr>
          <a:xfrm>
            <a:off x="191344" y="464165"/>
            <a:ext cx="9721080" cy="6370975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……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#define N 5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struct Student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{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     char </a:t>
            </a:r>
            <a:r>
              <a:rPr lang="en-US" altLang="zh-CN" dirty="0">
                <a:latin typeface="Times New Roman" panose="02020603050405020304" pitchFamily="18" charset="0"/>
              </a:rPr>
              <a:t>name[20];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     char </a:t>
            </a:r>
            <a:r>
              <a:rPr lang="en-US" altLang="zh-CN" dirty="0">
                <a:latin typeface="Times New Roman" panose="02020603050405020304" pitchFamily="18" charset="0"/>
              </a:rPr>
              <a:t>no[7];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     double </a:t>
            </a:r>
            <a:r>
              <a:rPr lang="en-US" altLang="zh-CN" dirty="0">
                <a:latin typeface="Times New Roman" panose="02020603050405020304" pitchFamily="18" charset="0"/>
              </a:rPr>
              <a:t>Chinese, English, math, avg;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};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int  main()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{	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dirty="0" smtClean="0"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</a:rPr>
              <a:t>int i,j;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en-US" altLang="zh-CN" dirty="0" smtClean="0">
                <a:latin typeface="Times New Roman" panose="02020603050405020304" pitchFamily="18" charset="0"/>
              </a:rPr>
              <a:t>   Student </a:t>
            </a:r>
            <a:r>
              <a:rPr lang="en-US" altLang="zh-CN" dirty="0">
                <a:latin typeface="Times New Roman" panose="02020603050405020304" pitchFamily="18" charset="0"/>
              </a:rPr>
              <a:t>s[N],t;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dirty="0" smtClean="0">
                <a:latin typeface="Times New Roman" panose="02020603050405020304" pitchFamily="18" charset="0"/>
              </a:rPr>
              <a:t> for(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</a:rPr>
              <a:t>=0;i&lt;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</a:rPr>
              <a:t>++)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{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en-US" altLang="zh-CN" dirty="0" smtClean="0">
                <a:latin typeface="Times New Roman" panose="02020603050405020304" pitchFamily="18" charset="0"/>
              </a:rPr>
              <a:t>   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cin</a:t>
            </a:r>
            <a:r>
              <a:rPr lang="en-US" altLang="zh-CN" dirty="0">
                <a:latin typeface="Times New Roman" panose="02020603050405020304" pitchFamily="18" charset="0"/>
              </a:rPr>
              <a:t>&gt;&gt;s[i].name&gt;&gt;s[i].no&gt;&gt;s[i].Chinese&gt;&gt;s[i].English&gt;&gt;s[i].math;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en-US" altLang="zh-CN" dirty="0" smtClean="0">
                <a:latin typeface="Times New Roman" panose="02020603050405020304" pitchFamily="18" charset="0"/>
              </a:rPr>
              <a:t>   s[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].avg=(s[i].Chinese+s[i].English+s[i].math)/3;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dirty="0" smtClean="0">
                <a:latin typeface="Times New Roman" panose="02020603050405020304" pitchFamily="18" charset="0"/>
              </a:rPr>
              <a:t>}</a:t>
            </a:r>
            <a:r>
              <a:rPr lang="en-US" altLang="zh-CN" dirty="0"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4" name="云形标注 3"/>
          <p:cNvSpPr/>
          <p:nvPr/>
        </p:nvSpPr>
        <p:spPr bwMode="auto">
          <a:xfrm>
            <a:off x="3863752" y="3933056"/>
            <a:ext cx="4088809" cy="680726"/>
          </a:xfrm>
          <a:prstGeom prst="cloudCallout">
            <a:avLst>
              <a:gd name="adj1" fmla="val -63152"/>
              <a:gd name="adj2" fmla="val 197219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结构变量不能整体输入，要逐成员输入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0"/>
          <p:cNvSpPr txBox="1"/>
          <p:nvPr/>
        </p:nvSpPr>
        <p:spPr>
          <a:xfrm>
            <a:off x="407368" y="332105"/>
            <a:ext cx="10419018" cy="6001643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/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for(i=0;i&lt;N-1;i++)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for(j=0;j&lt;N-1-i;j++)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	 if(                                      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	{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		t=s[j];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		s[j]=s[j+1];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		s[j+1]=t;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	}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for(i=0;i&lt;N;i++)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{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  cout&lt;&lt;s[i].name&lt;&lt; </a:t>
            </a:r>
            <a:r>
              <a:rPr lang="en-US" altLang="zh-CN" dirty="0"/>
              <a:t>"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/>
              <a:t>" </a:t>
            </a:r>
            <a:r>
              <a:rPr lang="en-US" altLang="zh-CN" dirty="0">
                <a:latin typeface="Times New Roman" panose="02020603050405020304" pitchFamily="18" charset="0"/>
              </a:rPr>
              <a:t>&lt;&lt;s[i].no&lt;&lt; </a:t>
            </a:r>
            <a:r>
              <a:rPr lang="en-US" altLang="zh-CN" dirty="0"/>
              <a:t>"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/>
              <a:t>" </a:t>
            </a:r>
            <a:r>
              <a:rPr lang="en-US" altLang="zh-CN" dirty="0">
                <a:latin typeface="Times New Roman" panose="02020603050405020304" pitchFamily="18" charset="0"/>
              </a:rPr>
              <a:t>&lt;&lt;s[i].Chinese;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  cout&lt;&lt;" "&lt;&lt;s[i].English&lt;&lt;" "&lt;&lt;s[i].math&lt;&lt;" "&lt;&lt;s[i].avg&lt;&lt;endl;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dirty="0" smtClean="0">
                <a:latin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/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system("pause");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return 0;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75792" y="1052513"/>
            <a:ext cx="295205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s[j].avg&gt;s[j+1].avg</a:t>
            </a:r>
            <a:endParaRPr lang="zh-CN" altLang="en-US" dirty="0"/>
          </a:p>
        </p:txBody>
      </p:sp>
      <p:sp>
        <p:nvSpPr>
          <p:cNvPr id="4" name="云形标注 3"/>
          <p:cNvSpPr/>
          <p:nvPr/>
        </p:nvSpPr>
        <p:spPr bwMode="auto">
          <a:xfrm>
            <a:off x="4655840" y="1700808"/>
            <a:ext cx="6624736" cy="680726"/>
          </a:xfrm>
          <a:prstGeom prst="cloudCallout">
            <a:avLst>
              <a:gd name="adj1" fmla="val -65813"/>
              <a:gd name="adj2" fmla="val 9751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结构变量允许整体赋值，使结构数组的排序如同普通数组排序一样简单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24192" y="2708920"/>
            <a:ext cx="2808312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hlinkClick r:id="rId2" action="ppaction://hlinksldjump"/>
              </a:rPr>
              <a:t>与未使用结构数组比较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4"/>
          <p:cNvSpPr txBox="1"/>
          <p:nvPr/>
        </p:nvSpPr>
        <p:spPr>
          <a:xfrm>
            <a:off x="191344" y="116632"/>
            <a:ext cx="9721080" cy="6740307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……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#define N 5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struct Student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{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     char </a:t>
            </a:r>
            <a:r>
              <a:rPr lang="en-US" altLang="zh-CN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*name</a:t>
            </a:r>
            <a:r>
              <a:rPr lang="en-US" altLang="zh-CN" dirty="0" smtClean="0">
                <a:latin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     char </a:t>
            </a:r>
            <a:r>
              <a:rPr lang="en-US" altLang="zh-CN" dirty="0">
                <a:latin typeface="Times New Roman" panose="02020603050405020304" pitchFamily="18" charset="0"/>
              </a:rPr>
              <a:t>no[7];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     double </a:t>
            </a:r>
            <a:r>
              <a:rPr lang="en-US" altLang="zh-CN" dirty="0">
                <a:latin typeface="Times New Roman" panose="02020603050405020304" pitchFamily="18" charset="0"/>
              </a:rPr>
              <a:t>Chinese, English, math, avg;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};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int  main()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{	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dirty="0" smtClean="0"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</a:rPr>
              <a:t>int i,j;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en-US" altLang="zh-CN" dirty="0" smtClean="0">
                <a:latin typeface="Times New Roman" panose="02020603050405020304" pitchFamily="18" charset="0"/>
              </a:rPr>
              <a:t>   Student </a:t>
            </a:r>
            <a:r>
              <a:rPr lang="en-US" altLang="zh-CN" dirty="0">
                <a:latin typeface="Times New Roman" panose="02020603050405020304" pitchFamily="18" charset="0"/>
              </a:rPr>
              <a:t>s[N],t;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dirty="0" smtClean="0">
                <a:latin typeface="Times New Roman" panose="02020603050405020304" pitchFamily="18" charset="0"/>
              </a:rPr>
              <a:t> for(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</a:rPr>
              <a:t>=0;i&lt;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</a:rPr>
              <a:t>++)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dirty="0" smtClean="0">
                <a:latin typeface="Times New Roman" panose="02020603050405020304" pitchFamily="18" charset="0"/>
              </a:rPr>
              <a:t>{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        </a:t>
            </a:r>
            <a:r>
              <a:rPr lang="en-US" altLang="zh-CN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s[</a:t>
            </a:r>
            <a:r>
              <a:rPr lang="en-US" altLang="zh-CN" dirty="0" err="1" smtClean="0">
                <a:solidFill>
                  <a:srgbClr val="C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].name=new char[20];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en-US" altLang="zh-CN" dirty="0" smtClean="0">
                <a:latin typeface="Times New Roman" panose="02020603050405020304" pitchFamily="18" charset="0"/>
              </a:rPr>
              <a:t>   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cin</a:t>
            </a:r>
            <a:r>
              <a:rPr lang="en-US" altLang="zh-CN" dirty="0">
                <a:latin typeface="Times New Roman" panose="02020603050405020304" pitchFamily="18" charset="0"/>
              </a:rPr>
              <a:t>&gt;&gt;s[i].name&gt;&gt;s[i].no&gt;&gt;s[i].Chinese&gt;&gt;s[i].English&gt;&gt;s[i].math;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en-US" altLang="zh-CN" dirty="0" smtClean="0">
                <a:latin typeface="Times New Roman" panose="02020603050405020304" pitchFamily="18" charset="0"/>
              </a:rPr>
              <a:t>   s[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].avg=(s[i].Chinese+s[i].English+s[i].math)/3;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dirty="0" smtClean="0">
                <a:latin typeface="Times New Roman" panose="02020603050405020304" pitchFamily="18" charset="0"/>
              </a:rPr>
              <a:t>}</a:t>
            </a:r>
            <a:r>
              <a:rPr lang="en-US" altLang="zh-CN" dirty="0"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4" name="云形标注 3"/>
          <p:cNvSpPr/>
          <p:nvPr/>
        </p:nvSpPr>
        <p:spPr bwMode="auto">
          <a:xfrm>
            <a:off x="2423592" y="548680"/>
            <a:ext cx="5040560" cy="810989"/>
          </a:xfrm>
          <a:prstGeom prst="cloudCallout">
            <a:avLst>
              <a:gd name="adj1" fmla="val -67363"/>
              <a:gd name="adj2" fmla="val 9494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/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思考：若将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name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定义为：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char *name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；程序如何修改？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云形标注 4"/>
          <p:cNvSpPr/>
          <p:nvPr/>
        </p:nvSpPr>
        <p:spPr bwMode="auto">
          <a:xfrm>
            <a:off x="4367808" y="3501008"/>
            <a:ext cx="5616624" cy="1459061"/>
          </a:xfrm>
          <a:prstGeom prst="cloudCallout">
            <a:avLst>
              <a:gd name="adj1" fmla="val -68899"/>
              <a:gd name="adj2" fmla="val 75433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/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、需为每个学生的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name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成员申请内存，使指针有确定指向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/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、结构成员的操作遵循所属类型数据的操作要求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76652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"/>
          <p:cNvSpPr txBox="1"/>
          <p:nvPr/>
        </p:nvSpPr>
        <p:spPr>
          <a:xfrm>
            <a:off x="201900" y="188595"/>
            <a:ext cx="10574620" cy="618630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【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例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7.2】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编程统计候选人得票数。假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设有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个候选人，每次输入一个得票的候选人的名字，要求最后输出各人得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的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结果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分析：根据题意，若将候选人姓名和得票数关联在一起，需声明一个如下结构类型：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struct person</a:t>
            </a:r>
            <a:b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</a:t>
            </a:r>
            <a:b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char name[20];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int count;</a:t>
            </a:r>
            <a:b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然后定义一个长度为3的结构数组对三个候选人统一处理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  <a:cs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struct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person p[3];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C++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中还可以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person p[3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];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4"/>
          <p:cNvSpPr txBox="1"/>
          <p:nvPr/>
        </p:nvSpPr>
        <p:spPr>
          <a:xfrm>
            <a:off x="263352" y="-27940"/>
            <a:ext cx="7705725" cy="70662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 &lt;iostream&gt;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N 10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person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	char name[20];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count;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	char pname[20];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person p[3]={                                                       };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i,j;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for(i=0;i&lt;N;i++)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	cin&gt;&gt;pname;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for(j=0;j&lt;3;j++)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if(                                                       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p[j].count++;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for(i=0;i&lt;3;i++)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cout&lt;&lt;p[i].name&lt;&lt;":"&lt;&lt;p[i].count&lt;&lt;endl;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system("pause");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return 0;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9459" name="Oval 5"/>
          <p:cNvSpPr/>
          <p:nvPr/>
        </p:nvSpPr>
        <p:spPr>
          <a:xfrm>
            <a:off x="2941465" y="2500313"/>
            <a:ext cx="3887787" cy="6477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6183" name="Text Box 7"/>
          <p:cNvSpPr txBox="1"/>
          <p:nvPr/>
        </p:nvSpPr>
        <p:spPr>
          <a:xfrm>
            <a:off x="3431050" y="4220845"/>
            <a:ext cx="42481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strcmp(pname,p[j].name)==0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939680" y="2592993"/>
            <a:ext cx="42481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{"zhao",0},{"qian",0},{"sun",0}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云形标注 6"/>
          <p:cNvSpPr/>
          <p:nvPr/>
        </p:nvSpPr>
        <p:spPr bwMode="auto">
          <a:xfrm>
            <a:off x="4583832" y="1052736"/>
            <a:ext cx="5040560" cy="810989"/>
          </a:xfrm>
          <a:prstGeom prst="cloudCallout">
            <a:avLst>
              <a:gd name="adj1" fmla="val -40836"/>
              <a:gd name="adj2" fmla="val 142810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/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将候选人“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zhao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qian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sun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”的得票数初始化为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500"/>
                                        <p:tgtEl>
                                          <p:spTgt spid="946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500"/>
                                        <p:tgtEl>
                                          <p:spTgt spid="9461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500"/>
                                        <p:tgtEl>
                                          <p:spTgt spid="9461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45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6183" grpId="0"/>
      <p:bldP spid="2" grpId="0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"/>
          <p:cNvSpPr txBox="1"/>
          <p:nvPr/>
        </p:nvSpPr>
        <p:spPr>
          <a:xfrm>
            <a:off x="119336" y="548680"/>
            <a:ext cx="10441160" cy="201285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链表是一种常见的重要的数据结构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动态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地进行存储分配的一种结构。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组成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</a:p>
          <a:p>
            <a:pPr eaLnBrk="1" hangingPunct="1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头指针：存放一个地址，该地址指向一个元素 </a:t>
            </a:r>
          </a:p>
          <a:p>
            <a:pPr eaLnBrk="1" hangingPunct="1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结  点：由需要处理的实际数据和链接下一结点的指	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针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组成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483" name="Rectangle 5"/>
          <p:cNvSpPr>
            <a:spLocks noGrp="1"/>
          </p:cNvSpPr>
          <p:nvPr>
            <p:ph type="title"/>
          </p:nvPr>
        </p:nvSpPr>
        <p:spPr>
          <a:xfrm>
            <a:off x="119336" y="-171400"/>
            <a:ext cx="7772400" cy="914400"/>
          </a:xfrm>
          <a:noFill/>
          <a:ln>
            <a:noFill/>
          </a:ln>
        </p:spPr>
        <p:txBody>
          <a:bodyPr anchor="ctr" anchorCtr="0"/>
          <a:lstStyle/>
          <a:p>
            <a:pPr algn="l" eaLnBrk="1" hangingPunct="1"/>
            <a:r>
              <a:rPr lang="en-US" altLang="zh-CN" sz="32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7.3 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结构的应用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—</a:t>
            </a:r>
            <a:r>
              <a:rPr lang="zh-CN" altLang="en-US" sz="32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链表</a:t>
            </a:r>
            <a:endParaRPr lang="zh-CN" altLang="en-US" sz="32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Rectangle 47"/>
          <p:cNvSpPr>
            <a:spLocks noChangeArrowheads="1"/>
          </p:cNvSpPr>
          <p:nvPr/>
        </p:nvSpPr>
        <p:spPr bwMode="auto">
          <a:xfrm>
            <a:off x="119336" y="2561538"/>
            <a:ext cx="11881320" cy="42964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R="0" lvl="0" eaLnBrk="1" hangingPunct="1">
              <a:lnSpc>
                <a:spcPct val="130000"/>
              </a:lnSpc>
              <a:buClr>
                <a:schemeClr val="tx2"/>
              </a:buClr>
              <a:buSzPct val="55000"/>
              <a:defRPr/>
            </a:pP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特点：</a:t>
            </a:r>
            <a:endParaRPr lang="en-US" altLang="zh-CN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R="0" lvl="0" eaLnBrk="1" hangingPunct="1">
              <a:lnSpc>
                <a:spcPct val="130000"/>
              </a:lnSpc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每个元素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结点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是一个结构类型的数据，由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域（数据成员）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data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和指针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域（指针成员）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next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构成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其中指针域指向下一个元素的首地址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最后一个元素的指针为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NULL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R="0" lvl="0" eaLnBrk="1" hangingPunct="1">
              <a:lnSpc>
                <a:spcPct val="130000"/>
              </a:lnSpc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R="0" lvl="0" eaLnBrk="1" hangingPunct="1">
              <a:lnSpc>
                <a:spcPct val="130000"/>
              </a:lnSpc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R="0" lvl="0" eaLnBrk="1" hangingPunct="1">
              <a:lnSpc>
                <a:spcPct val="130000"/>
              </a:lnSpc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结点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之间可以连续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，也可以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不连续存储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 marR="0" lvl="0" eaLnBrk="1" hangingPunct="1">
              <a:lnSpc>
                <a:spcPct val="130000"/>
              </a:lnSpc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结点的逻辑顺序与物理顺序可以不一致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 marR="0" lvl="0" eaLnBrk="1" hangingPunct="1">
              <a:lnSpc>
                <a:spcPct val="130000"/>
              </a:lnSpc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链表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可根据需要动态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扩充；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R="0" lvl="0" eaLnBrk="1" hangingPunct="1">
              <a:lnSpc>
                <a:spcPct val="130000"/>
              </a:lnSpc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插入删除数据无需像数组那样移动若干元素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5" name="Group 48"/>
          <p:cNvGrpSpPr/>
          <p:nvPr/>
        </p:nvGrpSpPr>
        <p:grpSpPr>
          <a:xfrm>
            <a:off x="1415480" y="4180856"/>
            <a:ext cx="3930328" cy="615949"/>
            <a:chOff x="1536" y="1533"/>
            <a:chExt cx="1824" cy="388"/>
          </a:xfrm>
          <a:noFill/>
        </p:grpSpPr>
        <p:sp>
          <p:nvSpPr>
            <p:cNvPr id="6" name="Rectangle 49"/>
            <p:cNvSpPr/>
            <p:nvPr/>
          </p:nvSpPr>
          <p:spPr>
            <a:xfrm>
              <a:off x="1536" y="1536"/>
              <a:ext cx="1824" cy="384"/>
            </a:xfrm>
            <a:prstGeom prst="rect">
              <a:avLst/>
            </a:prstGeom>
            <a:grpFill/>
            <a:ln w="28575" cap="flat" cmpd="sng">
              <a:solidFill>
                <a:srgbClr val="C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" name="Text Box 50"/>
            <p:cNvSpPr txBox="1"/>
            <p:nvPr/>
          </p:nvSpPr>
          <p:spPr>
            <a:xfrm>
              <a:off x="1692" y="1533"/>
              <a:ext cx="1396" cy="388"/>
            </a:xfrm>
            <a:prstGeom prst="rect">
              <a:avLst/>
            </a:prstGeom>
            <a:grp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4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data    </a:t>
              </a:r>
              <a:r>
                <a:rPr lang="en-US" altLang="zh-CN" sz="3400" dirty="0" smtClean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next</a:t>
              </a:r>
              <a:endParaRPr lang="en-US" altLang="zh-CN" sz="3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Line 51"/>
            <p:cNvSpPr/>
            <p:nvPr/>
          </p:nvSpPr>
          <p:spPr>
            <a:xfrm>
              <a:off x="2448" y="1536"/>
              <a:ext cx="0" cy="384"/>
            </a:xfrm>
            <a:prstGeom prst="line">
              <a:avLst/>
            </a:prstGeom>
            <a:grpFill/>
            <a:ln w="3810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" name="云形标注 8"/>
          <p:cNvSpPr/>
          <p:nvPr/>
        </p:nvSpPr>
        <p:spPr bwMode="auto">
          <a:xfrm>
            <a:off x="7305698" y="4234035"/>
            <a:ext cx="2735068" cy="680726"/>
          </a:xfrm>
          <a:prstGeom prst="cloudCallout">
            <a:avLst>
              <a:gd name="adj1" fmla="val 19739"/>
              <a:gd name="adj2" fmla="val -161326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数据成员可以不止一个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90"/>
          <p:cNvGrpSpPr/>
          <p:nvPr/>
        </p:nvGrpSpPr>
        <p:grpSpPr>
          <a:xfrm>
            <a:off x="214713" y="1031717"/>
            <a:ext cx="8079937" cy="2232025"/>
            <a:chOff x="307" y="2568"/>
            <a:chExt cx="5068" cy="1406"/>
          </a:xfrm>
        </p:grpSpPr>
        <p:sp>
          <p:nvSpPr>
            <p:cNvPr id="22563" name="Rectangle 91"/>
            <p:cNvSpPr/>
            <p:nvPr/>
          </p:nvSpPr>
          <p:spPr>
            <a:xfrm>
              <a:off x="476" y="2568"/>
              <a:ext cx="4899" cy="140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har char="•"/>
              </a:pPr>
              <a:endParaRPr lang="en-US" altLang="zh-CN" sz="1800" b="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marL="342900" indent="-342900" eaLnBrk="1" hangingPunct="1">
                <a:spcBef>
                  <a:spcPct val="20000"/>
                </a:spcBef>
                <a:buChar char="•"/>
              </a:pPr>
              <a:endParaRPr lang="en-US" altLang="zh-CN" sz="1800" b="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marL="342900" indent="-342900" eaLnBrk="1" hangingPunct="1">
                <a:spcBef>
                  <a:spcPct val="20000"/>
                </a:spcBef>
                <a:buChar char="•"/>
              </a:pPr>
              <a:endParaRPr lang="en-US" altLang="zh-CN" sz="1800" b="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eaLnBrk="1" hangingPunct="1">
                <a:spcBef>
                  <a:spcPct val="20000"/>
                </a:spcBef>
              </a:pPr>
              <a:endParaRPr lang="en-US" altLang="zh-CN" sz="1800" b="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pic>
          <p:nvPicPr>
            <p:cNvPr id="22564" name="Picture 92" descr="k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7" y="2923"/>
              <a:ext cx="4400" cy="77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2531" name="Text Box 4"/>
          <p:cNvSpPr txBox="1"/>
          <p:nvPr/>
        </p:nvSpPr>
        <p:spPr>
          <a:xfrm>
            <a:off x="119336" y="616551"/>
            <a:ext cx="10527903" cy="9787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每一个链表都有一个表头指针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(head)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，如果链表是非空链表，则存放第一个结点的起始地址，否则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head==NULL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graphicFrame>
        <p:nvGraphicFramePr>
          <p:cNvPr id="897197" name="Group 1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273262"/>
              </p:ext>
            </p:extLst>
          </p:nvPr>
        </p:nvGraphicFramePr>
        <p:xfrm>
          <a:off x="9829080" y="2852738"/>
          <a:ext cx="2133600" cy="4004945"/>
        </p:xfrm>
        <a:graphic>
          <a:graphicData uri="http://schemas.openxmlformats.org/drawingml/2006/table">
            <a:tbl>
              <a:tblPr/>
              <a:tblGrid>
                <a:gridCol w="1047750"/>
                <a:gridCol w="1085850"/>
              </a:tblGrid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D</a:t>
                      </a:r>
                      <a:endParaRPr kumimoji="0" lang="en-US" altLang="zh-CN" sz="2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595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5162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A</a:t>
                      </a:r>
                      <a:endParaRPr kumimoji="0" lang="en-US" altLang="zh-CN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1356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229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B</a:t>
                      </a:r>
                      <a:endParaRPr kumimoji="0" lang="en-US" altLang="zh-CN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1475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484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66548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556" name="Text Box 83"/>
          <p:cNvSpPr txBox="1"/>
          <p:nvPr/>
        </p:nvSpPr>
        <p:spPr>
          <a:xfrm>
            <a:off x="8749580" y="2924175"/>
            <a:ext cx="1016000" cy="37846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1021</a:t>
            </a:r>
          </a:p>
          <a:p>
            <a:pPr>
              <a:spcBef>
                <a:spcPct val="50000"/>
              </a:spcBef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1249</a:t>
            </a:r>
          </a:p>
          <a:p>
            <a:pPr>
              <a:spcBef>
                <a:spcPct val="50000"/>
              </a:spcBef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1356</a:t>
            </a:r>
          </a:p>
          <a:p>
            <a:pPr>
              <a:spcBef>
                <a:spcPct val="50000"/>
              </a:spcBef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1475</a:t>
            </a:r>
          </a:p>
        </p:txBody>
      </p:sp>
      <p:sp>
        <p:nvSpPr>
          <p:cNvPr id="22557" name="Text Box 84"/>
          <p:cNvSpPr txBox="1"/>
          <p:nvPr/>
        </p:nvSpPr>
        <p:spPr>
          <a:xfrm>
            <a:off x="8101880" y="2349500"/>
            <a:ext cx="41148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存储地址   数据域 指针域</a:t>
            </a:r>
          </a:p>
        </p:txBody>
      </p:sp>
      <p:sp>
        <p:nvSpPr>
          <p:cNvPr id="22558" name="Rectangle 85"/>
          <p:cNvSpPr/>
          <p:nvPr/>
        </p:nvSpPr>
        <p:spPr>
          <a:xfrm>
            <a:off x="7525618" y="4005263"/>
            <a:ext cx="6096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1249</a:t>
            </a:r>
          </a:p>
        </p:txBody>
      </p:sp>
      <p:sp>
        <p:nvSpPr>
          <p:cNvPr id="22559" name="Text Box 86"/>
          <p:cNvSpPr txBox="1"/>
          <p:nvPr/>
        </p:nvSpPr>
        <p:spPr>
          <a:xfrm>
            <a:off x="7454180" y="3500438"/>
            <a:ext cx="809625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head</a:t>
            </a:r>
          </a:p>
        </p:txBody>
      </p:sp>
      <p:sp>
        <p:nvSpPr>
          <p:cNvPr id="22560" name="Text Box 151"/>
          <p:cNvSpPr txBox="1"/>
          <p:nvPr/>
        </p:nvSpPr>
        <p:spPr>
          <a:xfrm>
            <a:off x="10475765" y="3357563"/>
            <a:ext cx="420115" cy="576262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eaLnBrk="1" hangingPunct="1">
              <a:lnSpc>
                <a:spcPct val="85000"/>
              </a:lnSpc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</a:p>
        </p:txBody>
      </p:sp>
      <p:sp>
        <p:nvSpPr>
          <p:cNvPr id="22561" name="Text Box 162"/>
          <p:cNvSpPr txBox="1"/>
          <p:nvPr/>
        </p:nvSpPr>
        <p:spPr>
          <a:xfrm>
            <a:off x="10475765" y="4508500"/>
            <a:ext cx="420115" cy="576263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eaLnBrk="1" hangingPunct="1">
              <a:lnSpc>
                <a:spcPct val="85000"/>
              </a:lnSpc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</a:p>
        </p:txBody>
      </p:sp>
      <p:sp>
        <p:nvSpPr>
          <p:cNvPr id="22562" name="Text Box 174"/>
          <p:cNvSpPr txBox="1"/>
          <p:nvPr/>
        </p:nvSpPr>
        <p:spPr>
          <a:xfrm>
            <a:off x="10475765" y="5589588"/>
            <a:ext cx="420115" cy="576262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eaLnBrk="1" hangingPunct="1">
              <a:lnSpc>
                <a:spcPct val="85000"/>
              </a:lnSpc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</a:p>
        </p:txBody>
      </p:sp>
      <p:sp>
        <p:nvSpPr>
          <p:cNvPr id="14" name="Rectangle 2"/>
          <p:cNvSpPr/>
          <p:nvPr/>
        </p:nvSpPr>
        <p:spPr>
          <a:xfrm>
            <a:off x="-417246" y="2976319"/>
            <a:ext cx="5359882" cy="4269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结点结构说明：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</a:rPr>
              <a:t>struct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node 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        { 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    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char 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data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;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	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  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</a:rPr>
              <a:t>struct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node  *next;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        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};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头指针定义：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  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      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</a:rPr>
              <a:t>struct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node  *head;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5" name="云形标注 14"/>
          <p:cNvSpPr/>
          <p:nvPr/>
        </p:nvSpPr>
        <p:spPr bwMode="auto">
          <a:xfrm>
            <a:off x="2131525" y="3534684"/>
            <a:ext cx="2735068" cy="680726"/>
          </a:xfrm>
          <a:prstGeom prst="cloudCallout">
            <a:avLst>
              <a:gd name="adj1" fmla="val -79928"/>
              <a:gd name="adj2" fmla="val 114932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类型由具体处理的数据决定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8198" y="62293"/>
            <a:ext cx="1112805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存储：</a:t>
            </a:r>
            <a:endParaRPr lang="zh-CN" altLang="en-US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204" name="Rectangle 4"/>
          <p:cNvSpPr/>
          <p:nvPr/>
        </p:nvSpPr>
        <p:spPr>
          <a:xfrm>
            <a:off x="191344" y="0"/>
            <a:ext cx="11665296" cy="400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838200" indent="-838200" eaLnBrk="1" hangingPunct="1">
              <a:spcBef>
                <a:spcPct val="200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又如，用结构体建立一个学生成绩链表：</a:t>
            </a:r>
          </a:p>
          <a:p>
            <a:pPr marL="1143000" lvl="1" indent="-685800" eaLnBrk="1" hangingPunct="1">
              <a:spcBef>
                <a:spcPct val="20000"/>
              </a:spcBef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struct student</a:t>
            </a:r>
          </a:p>
          <a:p>
            <a:pPr marL="1143000" lvl="1" indent="-685800" eaLnBrk="1" hangingPunct="1">
              <a:spcBef>
                <a:spcPct val="20000"/>
              </a:spcBef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｛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num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</a:p>
          <a:p>
            <a:pPr marL="1143000" lvl="1" indent="-685800" eaLnBrk="1" hangingPunct="1">
              <a:spcBef>
                <a:spcPct val="2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float score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</a:p>
          <a:p>
            <a:pPr marL="1143000" lvl="1" indent="-685800" eaLnBrk="1" hangingPunct="1">
              <a:spcBef>
                <a:spcPct val="2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struct student *next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</a:p>
          <a:p>
            <a:pPr marL="1143000" lvl="1" indent="-685800" eaLnBrk="1" hangingPunct="1">
              <a:spcBef>
                <a:spcPct val="20000"/>
              </a:spcBef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};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其中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成员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score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用来存放结点中要处理的有用数据，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next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是指针类型的成员，用于指向下一个学生数据。</a:t>
            </a:r>
          </a:p>
        </p:txBody>
      </p:sp>
      <p:sp>
        <p:nvSpPr>
          <p:cNvPr id="6" name="云形标注 5"/>
          <p:cNvSpPr/>
          <p:nvPr/>
        </p:nvSpPr>
        <p:spPr bwMode="auto">
          <a:xfrm>
            <a:off x="4403774" y="909638"/>
            <a:ext cx="3060377" cy="680726"/>
          </a:xfrm>
          <a:prstGeom prst="cloudCallout">
            <a:avLst>
              <a:gd name="adj1" fmla="val -113991"/>
              <a:gd name="adj2" fmla="val -387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数据成员有两个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23392" y="3501008"/>
            <a:ext cx="8280202" cy="3095625"/>
            <a:chOff x="623392" y="3501008"/>
            <a:chExt cx="8280202" cy="3095625"/>
          </a:xfrm>
        </p:grpSpPr>
        <p:grpSp>
          <p:nvGrpSpPr>
            <p:cNvPr id="2" name="Group 5"/>
            <p:cNvGrpSpPr/>
            <p:nvPr/>
          </p:nvGrpSpPr>
          <p:grpSpPr>
            <a:xfrm>
              <a:off x="1199456" y="3501008"/>
              <a:ext cx="7704138" cy="3095625"/>
              <a:chOff x="476" y="2115"/>
              <a:chExt cx="4853" cy="1950"/>
            </a:xfrm>
          </p:grpSpPr>
          <p:sp>
            <p:nvSpPr>
              <p:cNvPr id="24580" name="Rectangle 6"/>
              <p:cNvSpPr/>
              <p:nvPr/>
            </p:nvSpPr>
            <p:spPr>
              <a:xfrm>
                <a:off x="476" y="2115"/>
                <a:ext cx="4853" cy="1950"/>
              </a:xfrm>
              <a:prstGeom prst="rect">
                <a:avLst/>
              </a:prstGeom>
              <a:noFill/>
              <a:ln w="9525">
                <a:noFill/>
              </a:ln>
              <a:effectLst>
                <a:outerShdw dist="107763" dir="18900000" algn="ctr" rotWithShape="0">
                  <a:schemeClr val="bg2"/>
                </a:outerShdw>
              </a:effectLst>
            </p:spPr>
            <p:txBody>
              <a:bodyPr/>
              <a:lstStyle/>
              <a:p>
                <a:pPr marL="342900" indent="-342900" eaLnBrk="1" hangingPunct="1">
                  <a:spcBef>
                    <a:spcPct val="20000"/>
                  </a:spcBef>
                  <a:buChar char="•"/>
                </a:pPr>
                <a:endParaRPr lang="en-US" altLang="zh-CN" sz="1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 eaLnBrk="1" hangingPunct="1">
                  <a:spcBef>
                    <a:spcPct val="20000"/>
                  </a:spcBef>
                  <a:buChar char="•"/>
                </a:pPr>
                <a:endParaRPr lang="en-US" altLang="zh-CN" sz="1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 eaLnBrk="1" hangingPunct="1">
                  <a:spcBef>
                    <a:spcPct val="20000"/>
                  </a:spcBef>
                  <a:buChar char="•"/>
                </a:pPr>
                <a:endParaRPr lang="en-US" altLang="zh-CN" sz="1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 eaLnBrk="1" hangingPunct="1">
                  <a:spcBef>
                    <a:spcPct val="20000"/>
                  </a:spcBef>
                  <a:buChar char="•"/>
                </a:pPr>
                <a:endParaRPr lang="en-US" altLang="zh-CN" sz="1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 eaLnBrk="1" hangingPunct="1">
                  <a:spcBef>
                    <a:spcPct val="20000"/>
                  </a:spcBef>
                  <a:buChar char="•"/>
                </a:pPr>
                <a:endParaRPr lang="en-US" altLang="zh-CN" sz="1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 eaLnBrk="1" hangingPunct="1">
                  <a:spcBef>
                    <a:spcPct val="20000"/>
                  </a:spcBef>
                  <a:buChar char="•"/>
                </a:pPr>
                <a:endParaRPr lang="en-US" altLang="zh-CN" sz="1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pic>
            <p:nvPicPr>
              <p:cNvPr id="24581" name="Picture 7" descr="k1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84" y="2486"/>
                <a:ext cx="4128" cy="1171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cxnSp>
          <p:nvCxnSpPr>
            <p:cNvPr id="4" name="直接箭头连接符 3"/>
            <p:cNvCxnSpPr/>
            <p:nvPr/>
          </p:nvCxnSpPr>
          <p:spPr bwMode="auto">
            <a:xfrm>
              <a:off x="1703512" y="4293096"/>
              <a:ext cx="108012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5" name="文本框 4"/>
            <p:cNvSpPr txBox="1"/>
            <p:nvPr/>
          </p:nvSpPr>
          <p:spPr>
            <a:xfrm>
              <a:off x="623392" y="4005263"/>
              <a:ext cx="93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0" dirty="0" smtClean="0"/>
                <a:t>head</a:t>
              </a:r>
              <a:endParaRPr lang="zh-CN" altLang="en-US" b="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176120" y="5373216"/>
              <a:ext cx="1008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0" dirty="0" smtClean="0"/>
                <a:t>NULL</a:t>
              </a:r>
              <a:endParaRPr lang="zh-CN" altLang="en-US" b="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4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7204" grpId="0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/>
          <p:nvPr/>
        </p:nvSpPr>
        <p:spPr>
          <a:xfrm>
            <a:off x="263352" y="188640"/>
            <a:ext cx="9144000" cy="3969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链表常见操作：</a:t>
            </a:r>
          </a:p>
          <a:p>
            <a:pPr algn="just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建立链表；</a:t>
            </a:r>
          </a:p>
          <a:p>
            <a:pPr algn="just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输出链表；</a:t>
            </a:r>
          </a:p>
          <a:p>
            <a:pPr algn="just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确定链表的长度，即统计链表中结点的个数；</a:t>
            </a:r>
          </a:p>
          <a:p>
            <a:pPr algn="just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查找链表中的某个结点；</a:t>
            </a:r>
          </a:p>
          <a:p>
            <a:pPr algn="just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在链表中插入一个新的结点；</a:t>
            </a:r>
          </a:p>
          <a:p>
            <a:pPr algn="just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删除链表中的某个结点。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4"/>
          <p:cNvSpPr txBox="1"/>
          <p:nvPr/>
        </p:nvSpPr>
        <p:spPr>
          <a:xfrm>
            <a:off x="336313" y="44624"/>
            <a:ext cx="82089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7.3.1 </a:t>
            </a:r>
            <a:r>
              <a:rPr lang="zh-CN" altLang="en-US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动态内存分配</a:t>
            </a:r>
            <a:endParaRPr lang="zh-CN" altLang="en-US" sz="28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627" name="Text Box 5"/>
          <p:cNvSpPr txBox="1"/>
          <p:nvPr/>
        </p:nvSpPr>
        <p:spPr>
          <a:xfrm>
            <a:off x="335360" y="548680"/>
            <a:ext cx="10153128" cy="356405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．创建新结点</a:t>
            </a:r>
            <a:endParaRPr lang="en-US" altLang="zh-CN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链表中加入新数据时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需要创建一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个新结点以存放要加入的新数据。为新结点申请存放空间的方法有如下两种：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①使用</a:t>
            </a:r>
            <a:r>
              <a:rPr lang="en-US" altLang="zh-CN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malloc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函数（</a:t>
            </a:r>
            <a:r>
              <a:rPr lang="en-US" altLang="zh-CN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语言）</a:t>
            </a:r>
            <a:endParaRPr lang="zh-CN" altLang="en-US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假设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有定义：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struct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node *p; //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此时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尚没明确的指向单元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 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则使用如下语句可使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指向一个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node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类型的结点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</p:txBody>
      </p:sp>
      <p:sp>
        <p:nvSpPr>
          <p:cNvPr id="26628" name="Text Box 7"/>
          <p:cNvSpPr txBox="1"/>
          <p:nvPr/>
        </p:nvSpPr>
        <p:spPr>
          <a:xfrm>
            <a:off x="694234" y="4140869"/>
            <a:ext cx="6265862" cy="47666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/>
          <a:lstStyle>
            <a:defPPr>
              <a:defRPr lang="zh-CN"/>
            </a:defPPr>
            <a:lvl1pPr marL="342900" marR="0" indent="-342900" algn="ctr" eaLnBrk="1" hangingPunct="1">
              <a:lnSpc>
                <a:spcPct val="120000"/>
              </a:lnSpc>
              <a:spcBef>
                <a:spcPct val="5000"/>
              </a:spcBef>
              <a:buClrTx/>
              <a:buSzTx/>
              <a:buFontTx/>
              <a:defRPr kumimoji="1" strike="noStrike" cap="none" spc="0" normalizeH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dirty="0"/>
              <a:t>p=(struct  node *)malloc(sizeof(node))</a:t>
            </a:r>
            <a:r>
              <a:rPr lang="zh-CN" altLang="en-US" dirty="0"/>
              <a:t>；</a:t>
            </a:r>
          </a:p>
        </p:txBody>
      </p:sp>
      <p:sp>
        <p:nvSpPr>
          <p:cNvPr id="2" name="矩形 1"/>
          <p:cNvSpPr/>
          <p:nvPr/>
        </p:nvSpPr>
        <p:spPr>
          <a:xfrm>
            <a:off x="47328" y="4797152"/>
            <a:ext cx="1209734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CC00CC"/>
              </a:buClr>
            </a:pP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说明：</a:t>
            </a:r>
            <a:endParaRPr lang="en-US" altLang="zh-CN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CC00CC"/>
              </a:buClr>
              <a:buFont typeface="Wingdings" panose="05000000000000000000" pitchFamily="2" charset="2"/>
              <a:buChar char="Ø"/>
            </a:pPr>
            <a:r>
              <a:rPr kumimoji="1"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kumimoji="1" lang="en-US" altLang="zh-CN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alloc</a:t>
            </a:r>
            <a:r>
              <a:rPr kumimoji="1"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1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作用：在内存动态区分配长度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sizeof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(node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的连续空间，并返回首地址。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CC00CC"/>
              </a:buClr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sizeof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是一个求字节数的运算，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malloc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函数的参数中要给出申请空间的大小。</a:t>
            </a:r>
          </a:p>
          <a:p>
            <a:pPr eaLnBrk="1" hangingPunct="1">
              <a:spcBef>
                <a:spcPct val="50000"/>
              </a:spcBef>
              <a:buClr>
                <a:srgbClr val="CC00CC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对该函数的原型说明包含在头文件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stdlib.h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中。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5"/>
          <p:cNvSpPr txBox="1"/>
          <p:nvPr/>
        </p:nvSpPr>
        <p:spPr>
          <a:xfrm>
            <a:off x="191344" y="188640"/>
            <a:ext cx="8496300" cy="9048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②使用</a:t>
            </a: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new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运算符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该方法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C++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语言支持，但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语言中不支持。</a:t>
            </a:r>
          </a:p>
        </p:txBody>
      </p:sp>
      <p:sp>
        <p:nvSpPr>
          <p:cNvPr id="27651" name="Text Box 6"/>
          <p:cNvSpPr txBox="1"/>
          <p:nvPr/>
        </p:nvSpPr>
        <p:spPr>
          <a:xfrm>
            <a:off x="335360" y="1196752"/>
            <a:ext cx="2447925" cy="494751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/>
          <a:lstStyle>
            <a:defPPr>
              <a:defRPr lang="zh-CN"/>
            </a:defPPr>
            <a:lvl1pPr marL="342900" marR="0" indent="-342900" algn="ctr" eaLnBrk="1" hangingPunct="1">
              <a:lnSpc>
                <a:spcPct val="120000"/>
              </a:lnSpc>
              <a:spcBef>
                <a:spcPct val="5000"/>
              </a:spcBef>
              <a:buClrTx/>
              <a:buSzTx/>
              <a:buFontTx/>
              <a:defRPr kumimoji="1" strike="noStrike" cap="none" spc="0" normalizeH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dirty="0"/>
              <a:t>p=new  node;</a:t>
            </a:r>
          </a:p>
        </p:txBody>
      </p:sp>
      <p:sp>
        <p:nvSpPr>
          <p:cNvPr id="4" name="Text Box 37"/>
          <p:cNvSpPr txBox="1"/>
          <p:nvPr/>
        </p:nvSpPr>
        <p:spPr>
          <a:xfrm>
            <a:off x="200004" y="1965325"/>
            <a:ext cx="11008564" cy="30469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．释放结点变量空间</a:t>
            </a:r>
          </a:p>
          <a:p>
            <a:pPr eaLnBrk="1" hangingPunct="1"/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删除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链表中的结点时，应及时将其占用的存储空间返还系统。假设要将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所指向的结点删除，则可以用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free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函数或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delete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语句释放指针。</a:t>
            </a:r>
          </a:p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</a:t>
            </a:r>
          </a:p>
          <a:p>
            <a:pPr eaLnBrk="1" hangingPunct="1"/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其中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free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函数的原型说明包含在头文件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“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stdlib.h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”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中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Rectangle 68"/>
          <p:cNvSpPr/>
          <p:nvPr/>
        </p:nvSpPr>
        <p:spPr>
          <a:xfrm>
            <a:off x="2216129" y="4197350"/>
            <a:ext cx="3455987" cy="5762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Text Box 71"/>
          <p:cNvSpPr txBox="1"/>
          <p:nvPr/>
        </p:nvSpPr>
        <p:spPr>
          <a:xfrm>
            <a:off x="335360" y="3309228"/>
            <a:ext cx="6336704" cy="1031172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/>
          <a:lstStyle>
            <a:defPPr>
              <a:defRPr lang="zh-CN"/>
            </a:defPPr>
            <a:lvl1pPr marL="342900" marR="0" indent="-342900" algn="ctr" eaLnBrk="1" hangingPunct="1">
              <a:lnSpc>
                <a:spcPct val="120000"/>
              </a:lnSpc>
              <a:spcBef>
                <a:spcPct val="5000"/>
              </a:spcBef>
              <a:buClrTx/>
              <a:buSzTx/>
              <a:buFontTx/>
              <a:defRPr kumimoji="1" strike="noStrike" cap="none" spc="0" normalizeH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algn="l"/>
            <a:r>
              <a:rPr lang="en-US" altLang="zh-CN" dirty="0"/>
              <a:t>free(p)</a:t>
            </a:r>
            <a:r>
              <a:rPr lang="zh-CN" altLang="en-US" dirty="0" smtClean="0"/>
              <a:t>；   </a:t>
            </a:r>
            <a:r>
              <a:rPr lang="en-US" altLang="zh-CN" dirty="0" smtClean="0"/>
              <a:t>//</a:t>
            </a:r>
            <a:r>
              <a:rPr lang="zh-CN" altLang="en-US" dirty="0" smtClean="0"/>
              <a:t>释放</a:t>
            </a:r>
            <a:r>
              <a:rPr lang="en-US" altLang="zh-CN" dirty="0" err="1" smtClean="0"/>
              <a:t>malloc</a:t>
            </a:r>
            <a:r>
              <a:rPr lang="zh-CN" altLang="en-US" dirty="0" smtClean="0"/>
              <a:t>申请的空间</a:t>
            </a:r>
            <a:endParaRPr lang="zh-CN" altLang="en-US" dirty="0"/>
          </a:p>
          <a:p>
            <a:pPr algn="l"/>
            <a:r>
              <a:rPr lang="en-US" altLang="zh-CN" dirty="0"/>
              <a:t>delete  p</a:t>
            </a:r>
            <a:r>
              <a:rPr lang="en-US" altLang="zh-CN" dirty="0" smtClean="0"/>
              <a:t>;  //</a:t>
            </a:r>
            <a:r>
              <a:rPr lang="zh-CN" altLang="en-US" dirty="0" smtClean="0"/>
              <a:t>释放</a:t>
            </a:r>
            <a:r>
              <a:rPr lang="en-US" altLang="zh-CN" dirty="0" smtClean="0"/>
              <a:t>new</a:t>
            </a:r>
            <a:r>
              <a:rPr lang="zh-CN" altLang="en-US" dirty="0" smtClean="0"/>
              <a:t>申请</a:t>
            </a:r>
            <a:r>
              <a:rPr lang="zh-CN" altLang="en-US" dirty="0"/>
              <a:t>的空间</a:t>
            </a:r>
          </a:p>
          <a:p>
            <a:pPr algn="l"/>
            <a:endParaRPr lang="en-US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5"/>
          <p:cNvSpPr txBox="1"/>
          <p:nvPr/>
        </p:nvSpPr>
        <p:spPr>
          <a:xfrm>
            <a:off x="191344" y="9667"/>
            <a:ext cx="8713788" cy="267765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3．结点分量的访问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所指向的结点的数据域的访问：</a:t>
            </a:r>
          </a:p>
          <a:p>
            <a:pPr eaLnBrk="1" hangingPunct="1"/>
            <a:endParaRPr lang="zh-CN" altLang="pt-BR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zh-CN" altLang="pt-BR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zh-CN" altLang="pt-BR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zh-CN" altLang="pt-BR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pt-BR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pt-BR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所指向的结点的指针域的访问：</a:t>
            </a:r>
          </a:p>
        </p:txBody>
      </p:sp>
      <p:sp>
        <p:nvSpPr>
          <p:cNvPr id="29699" name="Text Box 6"/>
          <p:cNvSpPr txBox="1"/>
          <p:nvPr/>
        </p:nvSpPr>
        <p:spPr>
          <a:xfrm>
            <a:off x="623392" y="1085478"/>
            <a:ext cx="2664296" cy="1008112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/>
          <a:lstStyle>
            <a:defPPr>
              <a:defRPr lang="zh-CN"/>
            </a:defPPr>
            <a:lvl1pPr marL="342900" marR="0" indent="-342900" algn="ctr" eaLnBrk="1" hangingPunct="1">
              <a:lnSpc>
                <a:spcPct val="120000"/>
              </a:lnSpc>
              <a:spcBef>
                <a:spcPct val="5000"/>
              </a:spcBef>
              <a:buClrTx/>
              <a:buSzTx/>
              <a:buFontTx/>
              <a:defRPr kumimoji="1" strike="noStrike" cap="none" spc="0" normalizeH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algn="l"/>
            <a:r>
              <a:rPr lang="pt-BR" altLang="zh-CN" dirty="0"/>
              <a:t>(*p).data </a:t>
            </a:r>
            <a:r>
              <a:rPr lang="en-US" altLang="zh-CN" dirty="0"/>
              <a:t>  </a:t>
            </a:r>
            <a:r>
              <a:rPr lang="zh-CN" altLang="pt-BR" dirty="0" smtClean="0"/>
              <a:t> </a:t>
            </a:r>
            <a:endParaRPr lang="zh-CN" altLang="pt-BR" dirty="0"/>
          </a:p>
          <a:p>
            <a:pPr algn="l"/>
            <a:r>
              <a:rPr lang="zh-CN" altLang="pt-BR" dirty="0" smtClean="0"/>
              <a:t> </a:t>
            </a:r>
            <a:r>
              <a:rPr lang="pt-BR" altLang="zh-CN" dirty="0" smtClean="0">
                <a:solidFill>
                  <a:srgbClr val="C00000"/>
                </a:solidFill>
              </a:rPr>
              <a:t>p-&gt;data 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9700" name="Text Box 7"/>
          <p:cNvSpPr txBox="1"/>
          <p:nvPr/>
        </p:nvSpPr>
        <p:spPr>
          <a:xfrm>
            <a:off x="623392" y="2924945"/>
            <a:ext cx="2664296" cy="1008112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/>
          <a:lstStyle>
            <a:defPPr>
              <a:defRPr lang="zh-CN"/>
            </a:defPPr>
            <a:lvl1pPr marL="342900" marR="0" indent="-342900" algn="ctr" eaLnBrk="1" hangingPunct="1">
              <a:lnSpc>
                <a:spcPct val="120000"/>
              </a:lnSpc>
              <a:spcBef>
                <a:spcPct val="5000"/>
              </a:spcBef>
              <a:buClrTx/>
              <a:buSzTx/>
              <a:buFontTx/>
              <a:defRPr kumimoji="1" strike="noStrike" cap="none" spc="0" normalizeH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algn="l"/>
            <a:r>
              <a:rPr lang="en-US" altLang="zh-CN" dirty="0"/>
              <a:t>(*p).</a:t>
            </a:r>
            <a:r>
              <a:rPr lang="en-US" altLang="zh-CN" dirty="0" smtClean="0"/>
              <a:t>next</a:t>
            </a:r>
            <a:endParaRPr lang="zh-CN" altLang="en-US" dirty="0"/>
          </a:p>
          <a:p>
            <a:pPr algn="l"/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p-&gt;next   </a:t>
            </a:r>
            <a:r>
              <a:rPr lang="zh-CN" altLang="pt-BR" dirty="0" smtClean="0">
                <a:solidFill>
                  <a:srgbClr val="C00000"/>
                </a:solidFill>
              </a:rPr>
              <a:t>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云形标注 4"/>
          <p:cNvSpPr/>
          <p:nvPr/>
        </p:nvSpPr>
        <p:spPr bwMode="auto">
          <a:xfrm>
            <a:off x="5015880" y="1124744"/>
            <a:ext cx="5472608" cy="680726"/>
          </a:xfrm>
          <a:prstGeom prst="cloudCallout">
            <a:avLst>
              <a:gd name="adj1" fmla="val -104375"/>
              <a:gd name="adj2" fmla="val 55372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直接对指针访问比先取内容再访问的方式更直接、更常用！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675" y="401298"/>
            <a:ext cx="2952725" cy="1125205"/>
          </a:xfrm>
          <a:prstGeom prst="rect">
            <a:avLst/>
          </a:prstGeom>
          <a:noFill/>
        </p:spPr>
      </p:pic>
      <p:sp>
        <p:nvSpPr>
          <p:cNvPr id="30722" name="Text Box 4"/>
          <p:cNvSpPr txBox="1"/>
          <p:nvPr/>
        </p:nvSpPr>
        <p:spPr>
          <a:xfrm>
            <a:off x="-23688" y="-43052"/>
            <a:ext cx="10369152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7.3】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假设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node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是已经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定义过的结构类型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，包含一个数据域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data,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一个指针域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next,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创建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包含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两个结点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的链表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的过程。</a:t>
            </a:r>
          </a:p>
        </p:txBody>
      </p:sp>
      <p:sp>
        <p:nvSpPr>
          <p:cNvPr id="30723" name="Text Box 7"/>
          <p:cNvSpPr txBox="1"/>
          <p:nvPr/>
        </p:nvSpPr>
        <p:spPr>
          <a:xfrm>
            <a:off x="191344" y="1019852"/>
            <a:ext cx="12000656" cy="238219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分析：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①建立第一个结点需两步：为其申请存放空间；为其数据域赋值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②建立第二个结点需三步：前两步同上，第三步将其指针域置空（因其为最后一个结点）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③将第二个结点连接到第一个结点之后，即让第一个结点的指针域指向第二个结点。</a:t>
            </a:r>
          </a:p>
          <a:p>
            <a:pPr eaLnBrk="1" hangingPunct="1"/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Text Box 4"/>
          <p:cNvSpPr txBox="1"/>
          <p:nvPr/>
        </p:nvSpPr>
        <p:spPr>
          <a:xfrm>
            <a:off x="299547" y="3688457"/>
            <a:ext cx="9144000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//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p=(struct node *)malloc(sizeof(struct  node));</a:t>
            </a:r>
          </a:p>
          <a:p>
            <a:pPr eaLnBrk="1" hangingPunct="1"/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     ; //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为第二个结点的指针域赋值</a:t>
            </a:r>
          </a:p>
          <a:p>
            <a:pPr eaLnBrk="1" hangingPunct="1"/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345464" y="4941044"/>
            <a:ext cx="647700" cy="935037"/>
            <a:chOff x="4150" y="2251"/>
            <a:chExt cx="408" cy="589"/>
          </a:xfrm>
        </p:grpSpPr>
        <p:sp>
          <p:nvSpPr>
            <p:cNvPr id="6" name="Line 6"/>
            <p:cNvSpPr/>
            <p:nvPr/>
          </p:nvSpPr>
          <p:spPr>
            <a:xfrm>
              <a:off x="4150" y="2251"/>
              <a:ext cx="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" name="Line 7"/>
            <p:cNvSpPr/>
            <p:nvPr/>
          </p:nvSpPr>
          <p:spPr>
            <a:xfrm>
              <a:off x="4558" y="2251"/>
              <a:ext cx="0" cy="5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8" name="Group 24"/>
          <p:cNvGrpSpPr/>
          <p:nvPr/>
        </p:nvGrpSpPr>
        <p:grpSpPr>
          <a:xfrm>
            <a:off x="8545239" y="4725144"/>
            <a:ext cx="2016125" cy="531812"/>
            <a:chOff x="2245" y="2387"/>
            <a:chExt cx="1270" cy="335"/>
          </a:xfrm>
        </p:grpSpPr>
        <p:sp>
          <p:nvSpPr>
            <p:cNvPr id="9" name="Line 11"/>
            <p:cNvSpPr/>
            <p:nvPr/>
          </p:nvSpPr>
          <p:spPr>
            <a:xfrm>
              <a:off x="2245" y="2523"/>
              <a:ext cx="4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0" name="Group 23"/>
            <p:cNvGrpSpPr/>
            <p:nvPr/>
          </p:nvGrpSpPr>
          <p:grpSpPr>
            <a:xfrm>
              <a:off x="2290" y="2387"/>
              <a:ext cx="1225" cy="335"/>
              <a:chOff x="2290" y="2387"/>
              <a:chExt cx="1225" cy="335"/>
            </a:xfrm>
          </p:grpSpPr>
          <p:grpSp>
            <p:nvGrpSpPr>
              <p:cNvPr id="11" name="Group 22"/>
              <p:cNvGrpSpPr/>
              <p:nvPr/>
            </p:nvGrpSpPr>
            <p:grpSpPr>
              <a:xfrm>
                <a:off x="2290" y="2387"/>
                <a:ext cx="1225" cy="335"/>
                <a:chOff x="2290" y="2387"/>
                <a:chExt cx="1225" cy="335"/>
              </a:xfrm>
            </p:grpSpPr>
            <p:sp>
              <p:nvSpPr>
                <p:cNvPr id="13" name="Rectangle 10"/>
                <p:cNvSpPr/>
                <p:nvPr/>
              </p:nvSpPr>
              <p:spPr>
                <a:xfrm>
                  <a:off x="2698" y="2387"/>
                  <a:ext cx="817" cy="27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" name="Text Box 12"/>
                <p:cNvSpPr txBox="1"/>
                <p:nvPr/>
              </p:nvSpPr>
              <p:spPr>
                <a:xfrm>
                  <a:off x="2290" y="2432"/>
                  <a:ext cx="318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</a:t>
                  </a:r>
                </a:p>
              </p:txBody>
            </p:sp>
          </p:grpSp>
          <p:sp>
            <p:nvSpPr>
              <p:cNvPr id="12" name="Line 13"/>
              <p:cNvSpPr/>
              <p:nvPr/>
            </p:nvSpPr>
            <p:spPr>
              <a:xfrm>
                <a:off x="3243" y="2387"/>
                <a:ext cx="0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5" name="Text Box 14"/>
          <p:cNvSpPr txBox="1"/>
          <p:nvPr/>
        </p:nvSpPr>
        <p:spPr>
          <a:xfrm>
            <a:off x="9337401" y="4725144"/>
            <a:ext cx="5762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</a:p>
        </p:txBody>
      </p:sp>
      <p:grpSp>
        <p:nvGrpSpPr>
          <p:cNvPr id="16" name="Group 26"/>
          <p:cNvGrpSpPr/>
          <p:nvPr/>
        </p:nvGrpSpPr>
        <p:grpSpPr>
          <a:xfrm>
            <a:off x="9840639" y="5733206"/>
            <a:ext cx="2100262" cy="614363"/>
            <a:chOff x="3061" y="3022"/>
            <a:chExt cx="1323" cy="387"/>
          </a:xfrm>
        </p:grpSpPr>
        <p:sp>
          <p:nvSpPr>
            <p:cNvPr id="17" name="Line 18"/>
            <p:cNvSpPr/>
            <p:nvPr/>
          </p:nvSpPr>
          <p:spPr>
            <a:xfrm>
              <a:off x="3061" y="3294"/>
              <a:ext cx="4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8" name="Group 25"/>
            <p:cNvGrpSpPr/>
            <p:nvPr/>
          </p:nvGrpSpPr>
          <p:grpSpPr>
            <a:xfrm>
              <a:off x="3061" y="3022"/>
              <a:ext cx="1323" cy="387"/>
              <a:chOff x="3107" y="3022"/>
              <a:chExt cx="1323" cy="387"/>
            </a:xfrm>
          </p:grpSpPr>
          <p:sp>
            <p:nvSpPr>
              <p:cNvPr id="19" name="Rectangle 17"/>
              <p:cNvSpPr/>
              <p:nvPr/>
            </p:nvSpPr>
            <p:spPr>
              <a:xfrm>
                <a:off x="3613" y="3137"/>
                <a:ext cx="817" cy="27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" name="Line 19"/>
              <p:cNvSpPr/>
              <p:nvPr/>
            </p:nvSpPr>
            <p:spPr>
              <a:xfrm>
                <a:off x="4158" y="3137"/>
                <a:ext cx="0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" name="Text Box 20"/>
              <p:cNvSpPr txBox="1"/>
              <p:nvPr/>
            </p:nvSpPr>
            <p:spPr>
              <a:xfrm>
                <a:off x="3107" y="3022"/>
                <a:ext cx="408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</a:p>
            </p:txBody>
          </p:sp>
        </p:grpSp>
      </p:grpSp>
      <p:sp>
        <p:nvSpPr>
          <p:cNvPr id="22" name="Text Box 21"/>
          <p:cNvSpPr txBox="1"/>
          <p:nvPr/>
        </p:nvSpPr>
        <p:spPr>
          <a:xfrm>
            <a:off x="10848701" y="5949106"/>
            <a:ext cx="50323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23" name="Text Box 27"/>
          <p:cNvSpPr txBox="1"/>
          <p:nvPr/>
        </p:nvSpPr>
        <p:spPr>
          <a:xfrm>
            <a:off x="299547" y="3617019"/>
            <a:ext cx="377983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p=new node;</a:t>
            </a:r>
          </a:p>
        </p:txBody>
      </p:sp>
      <p:sp>
        <p:nvSpPr>
          <p:cNvPr id="24" name="Text Box 28"/>
          <p:cNvSpPr txBox="1"/>
          <p:nvPr/>
        </p:nvSpPr>
        <p:spPr>
          <a:xfrm>
            <a:off x="299547" y="4553644"/>
            <a:ext cx="270033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p-&gt;data=10;</a:t>
            </a:r>
          </a:p>
        </p:txBody>
      </p:sp>
      <p:sp>
        <p:nvSpPr>
          <p:cNvPr id="25" name="Text Box 29"/>
          <p:cNvSpPr txBox="1"/>
          <p:nvPr/>
        </p:nvSpPr>
        <p:spPr>
          <a:xfrm>
            <a:off x="299547" y="4912419"/>
            <a:ext cx="29876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q=new node;</a:t>
            </a:r>
          </a:p>
        </p:txBody>
      </p:sp>
      <p:sp>
        <p:nvSpPr>
          <p:cNvPr id="26" name="Text Box 30"/>
          <p:cNvSpPr txBox="1"/>
          <p:nvPr/>
        </p:nvSpPr>
        <p:spPr>
          <a:xfrm>
            <a:off x="299547" y="5272782"/>
            <a:ext cx="26273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q-&gt;data=20;</a:t>
            </a:r>
          </a:p>
        </p:txBody>
      </p:sp>
      <p:sp>
        <p:nvSpPr>
          <p:cNvPr id="27" name="Text Box 31"/>
          <p:cNvSpPr txBox="1"/>
          <p:nvPr/>
        </p:nvSpPr>
        <p:spPr>
          <a:xfrm>
            <a:off x="11424964" y="5949106"/>
            <a:ext cx="64770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NULL</a:t>
            </a:r>
          </a:p>
        </p:txBody>
      </p:sp>
      <p:sp>
        <p:nvSpPr>
          <p:cNvPr id="28" name="Text Box 32"/>
          <p:cNvSpPr txBox="1"/>
          <p:nvPr/>
        </p:nvSpPr>
        <p:spPr>
          <a:xfrm>
            <a:off x="299547" y="5633144"/>
            <a:ext cx="30591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q-&gt;next=NULL</a:t>
            </a:r>
          </a:p>
        </p:txBody>
      </p:sp>
      <p:sp>
        <p:nvSpPr>
          <p:cNvPr id="29" name="Text Box 33"/>
          <p:cNvSpPr txBox="1"/>
          <p:nvPr/>
        </p:nvSpPr>
        <p:spPr>
          <a:xfrm>
            <a:off x="299547" y="6064944"/>
            <a:ext cx="30972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p-&gt;next=q;</a:t>
            </a:r>
          </a:p>
        </p:txBody>
      </p:sp>
      <p:sp>
        <p:nvSpPr>
          <p:cNvPr id="30" name="Text Box 34"/>
          <p:cNvSpPr txBox="1"/>
          <p:nvPr/>
        </p:nvSpPr>
        <p:spPr>
          <a:xfrm>
            <a:off x="263352" y="3042027"/>
            <a:ext cx="60848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程序实现过程模拟：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xfrm>
            <a:off x="47328" y="0"/>
            <a:ext cx="7772400" cy="990600"/>
          </a:xfrm>
          <a:noFill/>
          <a:ln>
            <a:noFill/>
          </a:ln>
        </p:spPr>
        <p:txBody>
          <a:bodyPr/>
          <a:lstStyle/>
          <a:p>
            <a:pPr algn="l" eaLnBrk="1" hangingPunct="1"/>
            <a:r>
              <a:rPr lang="en-US" altLang="zh-CN" sz="28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7.3.2  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链表的建立</a:t>
            </a:r>
          </a:p>
        </p:txBody>
      </p:sp>
      <p:sp>
        <p:nvSpPr>
          <p:cNvPr id="32771" name="Text Box 6"/>
          <p:cNvSpPr txBox="1"/>
          <p:nvPr/>
        </p:nvSpPr>
        <p:spPr>
          <a:xfrm>
            <a:off x="32356" y="521129"/>
            <a:ext cx="10960187" cy="636289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ts val="900"/>
              </a:spcBef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7.4】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创建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一个含有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个结点的、包含一个数据域，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且类型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为整型的单链表。</a:t>
            </a:r>
          </a:p>
          <a:p>
            <a:pPr eaLnBrk="1" hangingPunct="1">
              <a:lnSpc>
                <a:spcPct val="110000"/>
              </a:lnSpc>
              <a:spcBef>
                <a:spcPts val="900"/>
              </a:spcBef>
            </a:pP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分析：</a:t>
            </a:r>
          </a:p>
          <a:p>
            <a:pPr eaLnBrk="1" hangingPunct="1">
              <a:lnSpc>
                <a:spcPct val="110000"/>
              </a:lnSpc>
              <a:spcBef>
                <a:spcPts val="900"/>
              </a:spcBef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在例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6.2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基础上，一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个一个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地建立新结点，并输入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各结点数据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，然后建立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起前后相链的关系，步骤如下：</a:t>
            </a:r>
          </a:p>
          <a:p>
            <a:pPr eaLnBrk="1" hangingPunct="1">
              <a:lnSpc>
                <a:spcPct val="110000"/>
              </a:lnSpc>
              <a:spcBef>
                <a:spcPts val="900"/>
              </a:spcBef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①首先从一个空表开始，即设置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head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NULL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9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②申请一个新结点存储区域，让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newnode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指向该结点，然后向其数据域输入数据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900"/>
              </a:spcBef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③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把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newnode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所指向的结点插入到链表中。</a:t>
            </a:r>
          </a:p>
          <a:p>
            <a:pPr lvl="1" eaLnBrk="1" hangingPunct="1">
              <a:lnSpc>
                <a:spcPct val="110000"/>
              </a:lnSpc>
              <a:spcBef>
                <a:spcPts val="9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如果当前链表是空表，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newnode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所指向的结点应该成为该链表中唯一的一个结点，故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head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tail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都应该指向该结点。</a:t>
            </a:r>
          </a:p>
          <a:p>
            <a:pPr lvl="1" eaLnBrk="1" hangingPunct="1">
              <a:lnSpc>
                <a:spcPct val="110000"/>
              </a:lnSpc>
              <a:spcBef>
                <a:spcPts val="9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如果当前链表非空，则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newnode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所指向的结点应该做为链表中的最后一个结点加入到链表中，故应该将其插在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tail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指向的结点后面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9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④ 重复执行第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步共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次。</a:t>
            </a:r>
          </a:p>
          <a:p>
            <a:pPr eaLnBrk="1" hangingPunct="1">
              <a:lnSpc>
                <a:spcPct val="110000"/>
              </a:lnSpc>
              <a:spcBef>
                <a:spcPts val="9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⑤ 将最后一个结点的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next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域置空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(NULL)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云形标注 3"/>
          <p:cNvSpPr/>
          <p:nvPr/>
        </p:nvSpPr>
        <p:spPr bwMode="auto">
          <a:xfrm>
            <a:off x="6168008" y="2204864"/>
            <a:ext cx="6120680" cy="680726"/>
          </a:xfrm>
          <a:prstGeom prst="cloudCallout">
            <a:avLst>
              <a:gd name="adj1" fmla="val -76208"/>
              <a:gd name="adj2" fmla="val 88320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此处的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楷体" panose="02010609060101010101" pitchFamily="49" charset="-122"/>
              </a:rPr>
              <a:t>newnode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是一个指向某结点的指针，注意与</a:t>
            </a:r>
            <a:r>
              <a:rPr lang="en-US" altLang="zh-CN" sz="2000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new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 </a:t>
            </a:r>
            <a:r>
              <a:rPr lang="en-US" altLang="zh-CN" sz="2000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node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的区别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5"/>
          <p:cNvSpPr txBox="1"/>
          <p:nvPr/>
        </p:nvSpPr>
        <p:spPr>
          <a:xfrm>
            <a:off x="137339" y="116686"/>
            <a:ext cx="8748712" cy="6369685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  &lt;iostream&gt;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struct node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int  data;  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struct node  *next;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};</a:t>
            </a:r>
          </a:p>
          <a:p>
            <a:pPr eaLnBrk="1" hangingPunct="1"/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struct node  *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create(int n )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struct node  *head = NULL;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struct node  *tail,*newnode;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int  x;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for (int i=0; i&lt;n; i++)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{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cin&gt;&gt;x;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newnode=                  ; //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newnode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申请存放空间</a:t>
            </a: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newnode-&gt;data=x;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</a:p>
        </p:txBody>
      </p:sp>
      <p:sp>
        <p:nvSpPr>
          <p:cNvPr id="278535" name="Text Box 7"/>
          <p:cNvSpPr txBox="1"/>
          <p:nvPr/>
        </p:nvSpPr>
        <p:spPr>
          <a:xfrm>
            <a:off x="2423592" y="5229200"/>
            <a:ext cx="18716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  node</a:t>
            </a:r>
          </a:p>
        </p:txBody>
      </p:sp>
      <p:sp>
        <p:nvSpPr>
          <p:cNvPr id="4" name="云形标注 3"/>
          <p:cNvSpPr/>
          <p:nvPr/>
        </p:nvSpPr>
        <p:spPr bwMode="auto">
          <a:xfrm>
            <a:off x="4727848" y="764704"/>
            <a:ext cx="5976664" cy="1400806"/>
          </a:xfrm>
          <a:prstGeom prst="cloudCallout">
            <a:avLst>
              <a:gd name="adj1" fmla="val -96154"/>
              <a:gd name="adj2" fmla="val 68969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000" dirty="0" err="1" smtClean="0">
                <a:latin typeface="Times New Roman" panose="02020603050405020304" pitchFamily="18" charset="0"/>
                <a:ea typeface="楷体" panose="02010609060101010101" pitchFamily="49" charset="-122"/>
              </a:rPr>
              <a:t>creat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函数的功能是创建链表，故将函数内创建的链表的表头指针作为函数返回值带回主函数，以便去参与链表的其它操作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5" grpId="0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6"/>
          <p:cNvSpPr txBox="1"/>
          <p:nvPr/>
        </p:nvSpPr>
        <p:spPr>
          <a:xfrm>
            <a:off x="335360" y="59373"/>
            <a:ext cx="7704856" cy="6740307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if(head==NULL)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;   //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newnode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成为空表的第一个结点</a:t>
            </a: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else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;//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newnode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连接到原来的表尾</a:t>
            </a: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     // 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newnode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成为新的表尾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;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return(head);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main( )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{struct node  *head;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int n;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&lt;&lt;"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请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输入初始链表结点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数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n&gt;0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）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:";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cin&gt;&gt;n;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head = create(n);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system("pause");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return 0;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79579" name="Text Box 27"/>
          <p:cNvSpPr txBox="1"/>
          <p:nvPr/>
        </p:nvSpPr>
        <p:spPr>
          <a:xfrm>
            <a:off x="839416" y="404664"/>
            <a:ext cx="2159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head=newnode</a:t>
            </a:r>
          </a:p>
        </p:txBody>
      </p:sp>
      <p:sp>
        <p:nvSpPr>
          <p:cNvPr id="279580" name="Text Box 28"/>
          <p:cNvSpPr txBox="1"/>
          <p:nvPr/>
        </p:nvSpPr>
        <p:spPr>
          <a:xfrm>
            <a:off x="839416" y="1124744"/>
            <a:ext cx="28082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tail-&gt;next=newnode</a:t>
            </a:r>
          </a:p>
        </p:txBody>
      </p:sp>
      <p:sp>
        <p:nvSpPr>
          <p:cNvPr id="279581" name="Text Box 29"/>
          <p:cNvSpPr txBox="1"/>
          <p:nvPr/>
        </p:nvSpPr>
        <p:spPr>
          <a:xfrm>
            <a:off x="839416" y="1556792"/>
            <a:ext cx="20875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tail = newnode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39416" y="2276872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tail-&gt;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next=NULL</a:t>
            </a:r>
            <a:endParaRPr lang="zh-CN" altLang="en-US" dirty="0"/>
          </a:p>
        </p:txBody>
      </p:sp>
      <p:sp>
        <p:nvSpPr>
          <p:cNvPr id="7" name="云形标注 6"/>
          <p:cNvSpPr/>
          <p:nvPr/>
        </p:nvSpPr>
        <p:spPr bwMode="auto">
          <a:xfrm>
            <a:off x="6600056" y="2398174"/>
            <a:ext cx="4392488" cy="680726"/>
          </a:xfrm>
          <a:prstGeom prst="cloudCallout">
            <a:avLst>
              <a:gd name="adj1" fmla="val -73339"/>
              <a:gd name="adj2" fmla="val -87827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此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楷体" panose="02010609060101010101" pitchFamily="49" charset="-122"/>
              </a:rPr>
              <a:t>creat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函数创建的是与输入顺序一致的链表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云形标注 7"/>
          <p:cNvSpPr/>
          <p:nvPr/>
        </p:nvSpPr>
        <p:spPr bwMode="auto">
          <a:xfrm>
            <a:off x="6635234" y="4365103"/>
            <a:ext cx="5437429" cy="1052597"/>
          </a:xfrm>
          <a:prstGeom prst="cloudCallout">
            <a:avLst>
              <a:gd name="adj1" fmla="val -73339"/>
              <a:gd name="adj2" fmla="val -87827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思考：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若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创建与输入顺序相反的链表，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楷体" panose="02010609060101010101" pitchFamily="49" charset="-122"/>
              </a:rPr>
              <a:t>creat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函数如何编写？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9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9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9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9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9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9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79" grpId="0"/>
      <p:bldP spid="279580" grpId="0"/>
      <p:bldP spid="279581" grpId="0"/>
      <p:bldP spid="2" grpId="0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3352" y="116632"/>
            <a:ext cx="4680520" cy="67403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*create(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n)</a:t>
            </a:r>
          </a:p>
          <a:p>
            <a:pPr>
              <a:lnSpc>
                <a:spcPct val="90000"/>
              </a:lnSpc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  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node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*head = NULL, *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=0;i&lt;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2">
              <a:lnSpc>
                <a:spcPct val="90000"/>
              </a:lnSpc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node;</a:t>
            </a:r>
          </a:p>
          <a:p>
            <a:pPr lvl="2">
              <a:lnSpc>
                <a:spcPct val="90000"/>
              </a:lnSpc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-&gt;data;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(head == NULL)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3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3">
              <a:lnSpc>
                <a:spcPct val="90000"/>
              </a:lnSpc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 = NULL;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3">
              <a:lnSpc>
                <a:spcPct val="90000"/>
              </a:lnSpc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 = head;</a:t>
            </a:r>
          </a:p>
          <a:p>
            <a:pPr lvl="3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head;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59896" y="1130508"/>
            <a:ext cx="576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若输入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）个整数如下：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1 2 3 4 5 6 </a:t>
            </a: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则创建的链表形式如下：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5186592" y="2388009"/>
            <a:ext cx="5676081" cy="1010352"/>
            <a:chOff x="5244455" y="4002824"/>
            <a:chExt cx="5676081" cy="1010352"/>
          </a:xfrm>
        </p:grpSpPr>
        <p:sp>
          <p:nvSpPr>
            <p:cNvPr id="6" name="矩形 5"/>
            <p:cNvSpPr/>
            <p:nvPr/>
          </p:nvSpPr>
          <p:spPr bwMode="auto">
            <a:xfrm>
              <a:off x="6124338" y="4287328"/>
              <a:ext cx="504056" cy="360040"/>
            </a:xfrm>
            <a:prstGeom prst="rect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6</a:t>
              </a:r>
              <a:endParaRPr kumimoji="0" lang="zh-CN" altLang="en-US" sz="2400" b="0" i="0" u="none" strike="noStrike" normalizeH="0" baseline="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6124338" y="4647368"/>
              <a:ext cx="504056" cy="360040"/>
            </a:xfrm>
            <a:prstGeom prst="rect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 bwMode="auto">
            <a:xfrm>
              <a:off x="6484378" y="4827388"/>
              <a:ext cx="28803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直接连接符 10"/>
            <p:cNvCxnSpPr/>
            <p:nvPr/>
          </p:nvCxnSpPr>
          <p:spPr bwMode="auto">
            <a:xfrm flipV="1">
              <a:off x="6772410" y="4575360"/>
              <a:ext cx="0" cy="25202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直接箭头连接符 12"/>
            <p:cNvCxnSpPr/>
            <p:nvPr/>
          </p:nvCxnSpPr>
          <p:spPr bwMode="auto">
            <a:xfrm>
              <a:off x="6772410" y="4575360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4" name="矩形 13"/>
            <p:cNvSpPr/>
            <p:nvPr/>
          </p:nvSpPr>
          <p:spPr bwMode="auto">
            <a:xfrm>
              <a:off x="6974298" y="4287328"/>
              <a:ext cx="504056" cy="360040"/>
            </a:xfrm>
            <a:prstGeom prst="rect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1" hangingPunct="1"/>
              <a:r>
                <a:rPr lang="en-US" altLang="zh-CN" b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</a:t>
              </a:r>
              <a:endParaRPr lang="zh-CN" altLang="en-US" b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6974298" y="4647368"/>
              <a:ext cx="504056" cy="360040"/>
            </a:xfrm>
            <a:prstGeom prst="rect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 bwMode="auto">
            <a:xfrm>
              <a:off x="7334338" y="4827388"/>
              <a:ext cx="28803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直接连接符 16"/>
            <p:cNvCxnSpPr/>
            <p:nvPr/>
          </p:nvCxnSpPr>
          <p:spPr bwMode="auto">
            <a:xfrm flipV="1">
              <a:off x="7622370" y="4575360"/>
              <a:ext cx="0" cy="25202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直接箭头连接符 17"/>
            <p:cNvCxnSpPr/>
            <p:nvPr/>
          </p:nvCxnSpPr>
          <p:spPr bwMode="auto">
            <a:xfrm>
              <a:off x="7622370" y="4575360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9" name="矩形 18"/>
            <p:cNvSpPr/>
            <p:nvPr/>
          </p:nvSpPr>
          <p:spPr bwMode="auto">
            <a:xfrm>
              <a:off x="7820204" y="4293096"/>
              <a:ext cx="504056" cy="360040"/>
            </a:xfrm>
            <a:prstGeom prst="rect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1" hangingPunct="1"/>
              <a:r>
                <a:rPr lang="en-US" altLang="zh-CN" b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  <a:endParaRPr lang="zh-CN" altLang="en-US" b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7820204" y="4653136"/>
              <a:ext cx="504056" cy="360040"/>
            </a:xfrm>
            <a:prstGeom prst="rect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 bwMode="auto">
            <a:xfrm>
              <a:off x="8180244" y="4833156"/>
              <a:ext cx="28803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直接连接符 21"/>
            <p:cNvCxnSpPr/>
            <p:nvPr/>
          </p:nvCxnSpPr>
          <p:spPr bwMode="auto">
            <a:xfrm flipV="1">
              <a:off x="8468276" y="4581128"/>
              <a:ext cx="0" cy="25202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直接箭头连接符 22"/>
            <p:cNvCxnSpPr/>
            <p:nvPr/>
          </p:nvCxnSpPr>
          <p:spPr bwMode="auto">
            <a:xfrm>
              <a:off x="8468276" y="4581128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24" name="矩形 23"/>
            <p:cNvSpPr/>
            <p:nvPr/>
          </p:nvSpPr>
          <p:spPr bwMode="auto">
            <a:xfrm>
              <a:off x="8684300" y="4284469"/>
              <a:ext cx="504056" cy="360040"/>
            </a:xfrm>
            <a:prstGeom prst="rect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1" hangingPunct="1"/>
              <a:r>
                <a:rPr lang="en-US" altLang="zh-CN" b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  <a:endParaRPr lang="zh-CN" altLang="en-US" b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8684300" y="4644509"/>
              <a:ext cx="504056" cy="360040"/>
            </a:xfrm>
            <a:prstGeom prst="rect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 bwMode="auto">
            <a:xfrm>
              <a:off x="9044340" y="4824529"/>
              <a:ext cx="28803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直接连接符 26"/>
            <p:cNvCxnSpPr/>
            <p:nvPr/>
          </p:nvCxnSpPr>
          <p:spPr bwMode="auto">
            <a:xfrm flipV="1">
              <a:off x="9332372" y="4572501"/>
              <a:ext cx="0" cy="25202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直接箭头连接符 27"/>
            <p:cNvCxnSpPr/>
            <p:nvPr/>
          </p:nvCxnSpPr>
          <p:spPr bwMode="auto">
            <a:xfrm>
              <a:off x="9332372" y="4572501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29" name="矩形 28"/>
            <p:cNvSpPr/>
            <p:nvPr/>
          </p:nvSpPr>
          <p:spPr bwMode="auto">
            <a:xfrm>
              <a:off x="9548396" y="4284469"/>
              <a:ext cx="504056" cy="360040"/>
            </a:xfrm>
            <a:prstGeom prst="rect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1" hangingPunct="1"/>
              <a:r>
                <a:rPr lang="en-US" altLang="zh-CN" b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lang="zh-CN" altLang="en-US" b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9548396" y="4644509"/>
              <a:ext cx="504056" cy="360040"/>
            </a:xfrm>
            <a:prstGeom prst="rect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cxnSp>
          <p:nvCxnSpPr>
            <p:cNvPr id="31" name="直接连接符 30"/>
            <p:cNvCxnSpPr/>
            <p:nvPr/>
          </p:nvCxnSpPr>
          <p:spPr bwMode="auto">
            <a:xfrm>
              <a:off x="9908436" y="4824529"/>
              <a:ext cx="28803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直接连接符 31"/>
            <p:cNvCxnSpPr/>
            <p:nvPr/>
          </p:nvCxnSpPr>
          <p:spPr bwMode="auto">
            <a:xfrm flipV="1">
              <a:off x="10196468" y="4572501"/>
              <a:ext cx="0" cy="25202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直接箭头连接符 32"/>
            <p:cNvCxnSpPr/>
            <p:nvPr/>
          </p:nvCxnSpPr>
          <p:spPr bwMode="auto">
            <a:xfrm>
              <a:off x="10196468" y="4572501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34" name="矩形 33"/>
            <p:cNvSpPr/>
            <p:nvPr/>
          </p:nvSpPr>
          <p:spPr bwMode="auto">
            <a:xfrm>
              <a:off x="10416480" y="4284469"/>
              <a:ext cx="504056" cy="360040"/>
            </a:xfrm>
            <a:prstGeom prst="rect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1" hangingPunct="1"/>
              <a:r>
                <a:rPr lang="en-US" altLang="zh-CN" b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CN" altLang="en-US" b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5" name="矩形 34"/>
            <p:cNvSpPr/>
            <p:nvPr/>
          </p:nvSpPr>
          <p:spPr bwMode="auto">
            <a:xfrm>
              <a:off x="10416480" y="4644509"/>
              <a:ext cx="504056" cy="360040"/>
            </a:xfrm>
            <a:prstGeom prst="rect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9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仿宋_GB2312" pitchFamily="49" charset="-122"/>
                </a:rPr>
                <a:t>NULL</a:t>
              </a:r>
              <a:endParaRPr kumimoji="0" lang="zh-CN" alt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cxnSp>
          <p:nvCxnSpPr>
            <p:cNvPr id="40" name="直接箭头连接符 39"/>
            <p:cNvCxnSpPr>
              <a:endCxn id="6" idx="1"/>
            </p:cNvCxnSpPr>
            <p:nvPr/>
          </p:nvCxnSpPr>
          <p:spPr bwMode="auto">
            <a:xfrm flipV="1">
              <a:off x="5620282" y="4467348"/>
              <a:ext cx="504056" cy="576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41" name="文本框 40"/>
            <p:cNvSpPr txBox="1"/>
            <p:nvPr/>
          </p:nvSpPr>
          <p:spPr>
            <a:xfrm>
              <a:off x="5244455" y="4002824"/>
              <a:ext cx="10477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0" dirty="0" smtClean="0"/>
                <a:t>head</a:t>
              </a:r>
              <a:endParaRPr lang="zh-CN" altLang="en-US" b="0" dirty="0"/>
            </a:p>
          </p:txBody>
        </p:sp>
      </p:grpSp>
      <p:sp>
        <p:nvSpPr>
          <p:cNvPr id="42" name="云形标注 41"/>
          <p:cNvSpPr/>
          <p:nvPr/>
        </p:nvSpPr>
        <p:spPr bwMode="auto">
          <a:xfrm>
            <a:off x="5186592" y="4608120"/>
            <a:ext cx="4235921" cy="720080"/>
          </a:xfrm>
          <a:prstGeom prst="cloudCallout">
            <a:avLst>
              <a:gd name="adj1" fmla="val -78409"/>
              <a:gd name="adj2" fmla="val -14750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向表头前插入新结点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4" name="云形标注 43"/>
          <p:cNvSpPr/>
          <p:nvPr/>
        </p:nvSpPr>
        <p:spPr bwMode="auto">
          <a:xfrm>
            <a:off x="5258381" y="3728897"/>
            <a:ext cx="4232152" cy="720080"/>
          </a:xfrm>
          <a:prstGeom prst="cloudCallout">
            <a:avLst>
              <a:gd name="adj1" fmla="val -84897"/>
              <a:gd name="adj2" fmla="val -43501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第一个插入的结点成为链表中最后一个结点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86592" y="116632"/>
            <a:ext cx="5589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按输入的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相反顺序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创建链表实际上就是不断将新结点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向表头前插入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的过程。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8" name="云形标注 37"/>
          <p:cNvSpPr/>
          <p:nvPr/>
        </p:nvSpPr>
        <p:spPr bwMode="auto">
          <a:xfrm>
            <a:off x="4812610" y="5519717"/>
            <a:ext cx="5037963" cy="501571"/>
          </a:xfrm>
          <a:prstGeom prst="cloudCallout">
            <a:avLst>
              <a:gd name="adj1" fmla="val -88591"/>
              <a:gd name="adj2" fmla="val -73451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当前的表头指向新结点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488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4" grpId="0" animBg="1"/>
      <p:bldP spid="3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xfrm>
            <a:off x="191344" y="-1522"/>
            <a:ext cx="7772400" cy="68580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pPr algn="l" eaLnBrk="1" hangingPunct="1"/>
            <a:r>
              <a:rPr lang="en-US" altLang="zh-CN" sz="28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7.3.3  </a:t>
            </a:r>
            <a:r>
              <a:rPr lang="zh-CN" altLang="en-US" sz="28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链表的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常见</a:t>
            </a:r>
            <a:r>
              <a:rPr lang="zh-CN" altLang="en-US" sz="28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</a:t>
            </a:r>
            <a:endParaRPr lang="zh-CN" altLang="en-US" sz="28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6868" name="Text Box 7"/>
          <p:cNvSpPr txBox="1"/>
          <p:nvPr/>
        </p:nvSpPr>
        <p:spPr>
          <a:xfrm>
            <a:off x="184744" y="1196752"/>
            <a:ext cx="11167839" cy="24314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由于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链表的指针域中包含了后继结点的存储地址，所以只要知道该链表的头指针，即可依次对每个结点进行访问。</a:t>
            </a:r>
          </a:p>
          <a:p>
            <a:pPr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7.5】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输出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7.4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建立的单链表的各结点的值。</a:t>
            </a:r>
          </a:p>
          <a:p>
            <a:pPr eaLnBrk="1" hangingPunct="1">
              <a:lnSpc>
                <a:spcPct val="11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分析：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是指向链表中结点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的指针，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让</a:t>
            </a:r>
            <a:r>
              <a:rPr lang="en-US" altLang="zh-CN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表头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head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开始逐一指向后续的各个结点，每指向一个结点，便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通过</a:t>
            </a:r>
            <a:r>
              <a:rPr lang="en-US" altLang="zh-CN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访问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结点的数据域，直到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的值为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NULL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91344" y="3541072"/>
            <a:ext cx="8713788" cy="34163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void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print(struct node  *head)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	struct node *p=head;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	while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(                        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	{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	         cout&lt;&lt;p-&gt;data&lt;&lt;'\t';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		                      ; 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	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775669" y="5664200"/>
            <a:ext cx="19446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 = p-&gt;next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63552" y="4653136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p!=NULL</a:t>
            </a:r>
            <a:endParaRPr lang="zh-CN" altLang="en-US" dirty="0"/>
          </a:p>
        </p:txBody>
      </p:sp>
      <p:sp>
        <p:nvSpPr>
          <p:cNvPr id="8" name="云形标注 7"/>
          <p:cNvSpPr/>
          <p:nvPr/>
        </p:nvSpPr>
        <p:spPr bwMode="auto">
          <a:xfrm>
            <a:off x="5844755" y="5554024"/>
            <a:ext cx="3060377" cy="680726"/>
          </a:xfrm>
          <a:prstGeom prst="cloudCallout">
            <a:avLst>
              <a:gd name="adj1" fmla="val -122752"/>
              <a:gd name="adj2" fmla="val -18218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能修改为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p++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吗？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Rectangle 2"/>
          <p:cNvSpPr txBox="1">
            <a:spLocks/>
          </p:cNvSpPr>
          <p:nvPr/>
        </p:nvSpPr>
        <p:spPr>
          <a:xfrm>
            <a:off x="224942" y="571035"/>
            <a:ext cx="7772400" cy="5762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600" kern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600" kern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遍历链表</a:t>
            </a:r>
            <a:endParaRPr lang="zh-CN" altLang="en-US" sz="26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云形标注 9"/>
          <p:cNvSpPr/>
          <p:nvPr/>
        </p:nvSpPr>
        <p:spPr bwMode="auto">
          <a:xfrm>
            <a:off x="4278599" y="4000189"/>
            <a:ext cx="6192688" cy="680726"/>
          </a:xfrm>
          <a:prstGeom prst="cloudCallout">
            <a:avLst>
              <a:gd name="adj1" fmla="val -59590"/>
              <a:gd name="adj2" fmla="val -61637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主函数将表头指针传给形参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head,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函数内部完成对链表中数据的输出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8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xfrm>
            <a:off x="299041" y="44450"/>
            <a:ext cx="7772400" cy="576238"/>
          </a:xfrm>
          <a:noFill/>
          <a:ln>
            <a:noFill/>
          </a:ln>
        </p:spPr>
        <p:txBody>
          <a:bodyPr/>
          <a:lstStyle/>
          <a:p>
            <a:pPr algn="l" eaLnBrk="1" hangingPunct="1"/>
            <a:r>
              <a:rPr lang="en-US" altLang="zh-CN" sz="26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6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统计结点个数</a:t>
            </a:r>
          </a:p>
        </p:txBody>
      </p:sp>
      <p:sp>
        <p:nvSpPr>
          <p:cNvPr id="38915" name="Rectangle 5"/>
          <p:cNvSpPr/>
          <p:nvPr/>
        </p:nvSpPr>
        <p:spPr>
          <a:xfrm>
            <a:off x="119336" y="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eaLnBrk="1" hangingPunct="1"/>
            <a:endParaRPr lang="zh-CN" altLang="zh-CN" sz="5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Text Box 6"/>
          <p:cNvSpPr txBox="1"/>
          <p:nvPr/>
        </p:nvSpPr>
        <p:spPr>
          <a:xfrm>
            <a:off x="139518" y="685800"/>
            <a:ext cx="10709010" cy="563846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7.6】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统计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7.4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中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创建的链表中结点的个数。</a:t>
            </a:r>
          </a:p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分析：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定义一个指针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从表头结点开始，每经过一个结点，计数器的值增加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。实现统计的函数形式如下：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int  count(struct node  *head)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struct node  *p = head;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int n = 0;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while (p != NULL)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{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n++;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p = p-&gt;next;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}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return(n);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3"/>
          <p:cNvSpPr txBox="1"/>
          <p:nvPr/>
        </p:nvSpPr>
        <p:spPr>
          <a:xfrm>
            <a:off x="191726" y="-27384"/>
            <a:ext cx="84963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8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800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查找</a:t>
            </a:r>
            <a:r>
              <a:rPr lang="zh-CN" altLang="en-US" sz="28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结点</a:t>
            </a:r>
          </a:p>
        </p:txBody>
      </p:sp>
      <p:sp>
        <p:nvSpPr>
          <p:cNvPr id="39939" name="Text Box 4"/>
          <p:cNvSpPr txBox="1"/>
          <p:nvPr/>
        </p:nvSpPr>
        <p:spPr>
          <a:xfrm>
            <a:off x="119336" y="476672"/>
            <a:ext cx="6120680" cy="5355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7.7】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在链表中按序号查找第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个结点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 Box 4"/>
          <p:cNvSpPr txBox="1"/>
          <p:nvPr/>
        </p:nvSpPr>
        <p:spPr>
          <a:xfrm>
            <a:off x="6600056" y="953341"/>
            <a:ext cx="4392488" cy="2308324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分析：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设置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一个序号计数器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和一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个指针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，让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从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表头结点开始，顺着链表的链进行查找。仅当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j==i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并且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p!= NULL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时查找成功，否则查找不成功。</a:t>
            </a:r>
          </a:p>
        </p:txBody>
      </p:sp>
      <p:sp>
        <p:nvSpPr>
          <p:cNvPr id="8" name="Text Box 4"/>
          <p:cNvSpPr txBox="1"/>
          <p:nvPr/>
        </p:nvSpPr>
        <p:spPr>
          <a:xfrm>
            <a:off x="195383" y="953341"/>
            <a:ext cx="6188649" cy="6001643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void search(struct node  *head, int  i)</a:t>
            </a:r>
          </a:p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{    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j=1;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struct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node  *p=head;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if(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&lt;1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&lt;&lt;"illegal index\n";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else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{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while(j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!=i &amp;&amp;p!= NULL)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 {    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++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			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  }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  if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                                   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	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&lt;&lt;"index"&lt;&lt;i&lt;&lt;":"&lt;&lt;p-&gt;data;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  else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	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&lt;&lt;"illegal index \n";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}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Text Box 5"/>
          <p:cNvSpPr txBox="1"/>
          <p:nvPr/>
        </p:nvSpPr>
        <p:spPr>
          <a:xfrm>
            <a:off x="1343472" y="3866484"/>
            <a:ext cx="1584325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p=p-&gt;next</a:t>
            </a:r>
          </a:p>
        </p:txBody>
      </p:sp>
      <p:sp>
        <p:nvSpPr>
          <p:cNvPr id="10" name="Text Box 6"/>
          <p:cNvSpPr txBox="1"/>
          <p:nvPr/>
        </p:nvSpPr>
        <p:spPr>
          <a:xfrm>
            <a:off x="1451682" y="4653136"/>
            <a:ext cx="3455987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j==i&amp;&amp;p!=NULL</a:t>
            </a:r>
          </a:p>
        </p:txBody>
      </p:sp>
      <p:sp>
        <p:nvSpPr>
          <p:cNvPr id="11" name="云形标注 10"/>
          <p:cNvSpPr/>
          <p:nvPr/>
        </p:nvSpPr>
        <p:spPr bwMode="auto">
          <a:xfrm>
            <a:off x="6001932" y="3613799"/>
            <a:ext cx="3060377" cy="680726"/>
          </a:xfrm>
          <a:prstGeom prst="cloudCallout">
            <a:avLst>
              <a:gd name="adj1" fmla="val -126675"/>
              <a:gd name="adj2" fmla="val 117466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可以只写成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p!=NULL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吗？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191344" y="0"/>
            <a:ext cx="7620000" cy="562273"/>
          </a:xfrm>
          <a:noFill/>
          <a:ln>
            <a:noFill/>
          </a:ln>
        </p:spPr>
        <p:txBody>
          <a:bodyPr/>
          <a:lstStyle/>
          <a:p>
            <a:pPr algn="l" eaLnBrk="1" hangingPunct="1"/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链表中插入结点</a:t>
            </a:r>
            <a:endParaRPr lang="zh-CN" altLang="en-US" sz="28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987" name="Text Box 4"/>
          <p:cNvSpPr txBox="1"/>
          <p:nvPr/>
        </p:nvSpPr>
        <p:spPr>
          <a:xfrm>
            <a:off x="191344" y="591071"/>
            <a:ext cx="10729192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hangingPunct="1"/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假定指针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behind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指向链表中的某个结点，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newnode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指向待插入结点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988" name="Rectangle 5"/>
          <p:cNvSpPr/>
          <p:nvPr/>
        </p:nvSpPr>
        <p:spPr>
          <a:xfrm>
            <a:off x="3739480" y="1196752"/>
            <a:ext cx="1676400" cy="45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89" name="Rectangle 6"/>
          <p:cNvSpPr/>
          <p:nvPr/>
        </p:nvSpPr>
        <p:spPr>
          <a:xfrm>
            <a:off x="1377280" y="2263552"/>
            <a:ext cx="1676400" cy="45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90" name="Rectangle 7"/>
          <p:cNvSpPr/>
          <p:nvPr/>
        </p:nvSpPr>
        <p:spPr>
          <a:xfrm>
            <a:off x="3739480" y="2263552"/>
            <a:ext cx="1676400" cy="45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91" name="Rectangle 8"/>
          <p:cNvSpPr/>
          <p:nvPr/>
        </p:nvSpPr>
        <p:spPr>
          <a:xfrm>
            <a:off x="6406480" y="2263552"/>
            <a:ext cx="1676400" cy="45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92" name="Line 9"/>
          <p:cNvSpPr/>
          <p:nvPr/>
        </p:nvSpPr>
        <p:spPr>
          <a:xfrm>
            <a:off x="4501480" y="1196752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3" name="Line 10"/>
          <p:cNvSpPr/>
          <p:nvPr/>
        </p:nvSpPr>
        <p:spPr>
          <a:xfrm>
            <a:off x="2139280" y="2263552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4" name="Line 11"/>
          <p:cNvSpPr/>
          <p:nvPr/>
        </p:nvSpPr>
        <p:spPr>
          <a:xfrm>
            <a:off x="4577680" y="2263552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5" name="Line 12"/>
          <p:cNvSpPr/>
          <p:nvPr/>
        </p:nvSpPr>
        <p:spPr>
          <a:xfrm>
            <a:off x="7244680" y="2263552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6" name="Text Box 13"/>
          <p:cNvSpPr txBox="1"/>
          <p:nvPr/>
        </p:nvSpPr>
        <p:spPr>
          <a:xfrm>
            <a:off x="1515393" y="1196752"/>
            <a:ext cx="15382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</a:p>
        </p:txBody>
      </p:sp>
      <p:sp>
        <p:nvSpPr>
          <p:cNvPr id="41997" name="Line 14"/>
          <p:cNvSpPr/>
          <p:nvPr/>
        </p:nvSpPr>
        <p:spPr>
          <a:xfrm>
            <a:off x="2748880" y="1425352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998" name="Line 15"/>
          <p:cNvSpPr/>
          <p:nvPr/>
        </p:nvSpPr>
        <p:spPr>
          <a:xfrm>
            <a:off x="3053680" y="2492152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999" name="Line 16"/>
          <p:cNvSpPr/>
          <p:nvPr/>
        </p:nvSpPr>
        <p:spPr>
          <a:xfrm>
            <a:off x="5415880" y="2492152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000" name="Text Box 17"/>
          <p:cNvSpPr txBox="1"/>
          <p:nvPr/>
        </p:nvSpPr>
        <p:spPr>
          <a:xfrm>
            <a:off x="3815680" y="1196752"/>
            <a:ext cx="609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42001" name="Text Box 18"/>
          <p:cNvSpPr txBox="1"/>
          <p:nvPr/>
        </p:nvSpPr>
        <p:spPr>
          <a:xfrm>
            <a:off x="1529680" y="2263552"/>
            <a:ext cx="7086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10                         15                               19</a:t>
            </a:r>
          </a:p>
        </p:txBody>
      </p:sp>
      <p:sp>
        <p:nvSpPr>
          <p:cNvPr id="42002" name="Line 19"/>
          <p:cNvSpPr/>
          <p:nvPr/>
        </p:nvSpPr>
        <p:spPr>
          <a:xfrm flipV="1">
            <a:off x="4395118" y="2682652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003" name="Text Box 20"/>
          <p:cNvSpPr txBox="1"/>
          <p:nvPr/>
        </p:nvSpPr>
        <p:spPr>
          <a:xfrm>
            <a:off x="4044280" y="3025552"/>
            <a:ext cx="1752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behind</a:t>
            </a:r>
          </a:p>
        </p:txBody>
      </p:sp>
      <p:sp>
        <p:nvSpPr>
          <p:cNvPr id="42004" name="Line 21"/>
          <p:cNvSpPr/>
          <p:nvPr/>
        </p:nvSpPr>
        <p:spPr>
          <a:xfrm flipV="1">
            <a:off x="1947193" y="2682652"/>
            <a:ext cx="0" cy="3810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005" name="Text Box 22"/>
          <p:cNvSpPr txBox="1"/>
          <p:nvPr/>
        </p:nvSpPr>
        <p:spPr>
          <a:xfrm>
            <a:off x="1731293" y="3043015"/>
            <a:ext cx="1524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front</a:t>
            </a:r>
          </a:p>
        </p:txBody>
      </p:sp>
      <p:sp>
        <p:nvSpPr>
          <p:cNvPr id="285721" name="Line 25"/>
          <p:cNvSpPr/>
          <p:nvPr/>
        </p:nvSpPr>
        <p:spPr>
          <a:xfrm flipV="1">
            <a:off x="2672680" y="1730152"/>
            <a:ext cx="990600" cy="4572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5722" name="Line 26"/>
          <p:cNvSpPr/>
          <p:nvPr/>
        </p:nvSpPr>
        <p:spPr>
          <a:xfrm>
            <a:off x="5034880" y="1653952"/>
            <a:ext cx="0" cy="5334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5723" name="Line 27"/>
          <p:cNvSpPr/>
          <p:nvPr/>
        </p:nvSpPr>
        <p:spPr>
          <a:xfrm>
            <a:off x="3206080" y="2339752"/>
            <a:ext cx="228600" cy="3048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09" name="Text Box 28"/>
          <p:cNvSpPr txBox="1"/>
          <p:nvPr/>
        </p:nvSpPr>
        <p:spPr>
          <a:xfrm>
            <a:off x="191344" y="3532188"/>
            <a:ext cx="11377264" cy="33178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hangingPunct="1"/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如果有指针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front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指向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behind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的前驱，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则仅需编写下面的两个语句，即可实现插入。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</a:p>
          <a:p>
            <a:pPr algn="just" eaLnBrk="1" hangingPunct="1"/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                                      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</a:p>
          <a:p>
            <a:pPr algn="just" eaLnBrk="1" hangingPunct="1">
              <a:spcBef>
                <a:spcPts val="1200"/>
              </a:spcBef>
            </a:pP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                   ;</a:t>
            </a:r>
          </a:p>
          <a:p>
            <a:pPr algn="just" eaLnBrk="1" hangingPunct="1"/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如果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没有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behind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指针，插入操作仍然可以完成。</a:t>
            </a:r>
          </a:p>
          <a:p>
            <a:pPr algn="just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sz="26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dirty="0" err="1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  <a:r>
              <a:rPr lang="en-US" altLang="zh-CN" dirty="0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&gt;next=front-&gt;next;</a:t>
            </a:r>
          </a:p>
          <a:p>
            <a:pPr algn="just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dirty="0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front-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&gt;next=</a:t>
            </a:r>
            <a:r>
              <a:rPr lang="en-US" altLang="zh-CN" dirty="0" err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  <a:r>
              <a:rPr lang="en-US" altLang="zh-CN" dirty="0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5725" name="Text Box 29"/>
          <p:cNvSpPr txBox="1"/>
          <p:nvPr/>
        </p:nvSpPr>
        <p:spPr>
          <a:xfrm>
            <a:off x="1667719" y="4221088"/>
            <a:ext cx="35274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newnode-&gt;next=behind</a:t>
            </a:r>
          </a:p>
        </p:txBody>
      </p:sp>
      <p:sp>
        <p:nvSpPr>
          <p:cNvPr id="285726" name="Text Box 30"/>
          <p:cNvSpPr txBox="1"/>
          <p:nvPr/>
        </p:nvSpPr>
        <p:spPr>
          <a:xfrm>
            <a:off x="1667719" y="4768825"/>
            <a:ext cx="33115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front-&gt;next=newnode</a:t>
            </a:r>
          </a:p>
        </p:txBody>
      </p:sp>
      <p:sp>
        <p:nvSpPr>
          <p:cNvPr id="28" name="云形标注 27"/>
          <p:cNvSpPr/>
          <p:nvPr/>
        </p:nvSpPr>
        <p:spPr bwMode="auto">
          <a:xfrm>
            <a:off x="6960096" y="5517232"/>
            <a:ext cx="3060377" cy="680726"/>
          </a:xfrm>
          <a:prstGeom prst="cloudCallout">
            <a:avLst>
              <a:gd name="adj1" fmla="val -123011"/>
              <a:gd name="adj2" fmla="val 95923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两条语句可交换顺序吗？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云形标注 28"/>
          <p:cNvSpPr/>
          <p:nvPr/>
        </p:nvSpPr>
        <p:spPr bwMode="auto">
          <a:xfrm>
            <a:off x="6981106" y="4163421"/>
            <a:ext cx="3939430" cy="680726"/>
          </a:xfrm>
          <a:prstGeom prst="cloudCallout">
            <a:avLst>
              <a:gd name="adj1" fmla="val -101794"/>
              <a:gd name="adj2" fmla="val -85291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链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表中两个紧邻的结点互为前驱和后继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5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5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5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5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25" grpId="0"/>
      <p:bldP spid="285726" grpId="0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41"/>
          <p:cNvGrpSpPr/>
          <p:nvPr/>
        </p:nvGrpSpPr>
        <p:grpSpPr>
          <a:xfrm>
            <a:off x="3586372" y="4076700"/>
            <a:ext cx="3294062" cy="496888"/>
            <a:chOff x="2245" y="3385"/>
            <a:chExt cx="2075" cy="313"/>
          </a:xfrm>
        </p:grpSpPr>
        <p:sp>
          <p:nvSpPr>
            <p:cNvPr id="43039" name="Rectangle 22"/>
            <p:cNvSpPr/>
            <p:nvPr/>
          </p:nvSpPr>
          <p:spPr>
            <a:xfrm>
              <a:off x="3264" y="3408"/>
              <a:ext cx="1056" cy="28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40" name="Text Box 24"/>
            <p:cNvSpPr txBox="1"/>
            <p:nvPr/>
          </p:nvSpPr>
          <p:spPr>
            <a:xfrm>
              <a:off x="2245" y="3385"/>
              <a:ext cx="77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behind</a:t>
              </a:r>
            </a:p>
          </p:txBody>
        </p:sp>
        <p:sp>
          <p:nvSpPr>
            <p:cNvPr id="43041" name="Line 27"/>
            <p:cNvSpPr/>
            <p:nvPr/>
          </p:nvSpPr>
          <p:spPr>
            <a:xfrm>
              <a:off x="2880" y="355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42" name="Text Box 31"/>
            <p:cNvSpPr txBox="1"/>
            <p:nvPr/>
          </p:nvSpPr>
          <p:spPr>
            <a:xfrm>
              <a:off x="3312" y="3408"/>
              <a:ext cx="43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</p:grpSp>
      <p:sp>
        <p:nvSpPr>
          <p:cNvPr id="43011" name="Text Box 2"/>
          <p:cNvSpPr txBox="1"/>
          <p:nvPr/>
        </p:nvSpPr>
        <p:spPr>
          <a:xfrm>
            <a:off x="238334" y="0"/>
            <a:ext cx="9144000" cy="48183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/>
            <a:r>
              <a:rPr lang="zh-CN" altLang="en-US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两种特殊情况：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spcBef>
                <a:spcPct val="40000"/>
              </a:spcBef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在表头结点之前插入：</a:t>
            </a:r>
          </a:p>
          <a:p>
            <a:pPr algn="just"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	                                  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;</a:t>
            </a:r>
          </a:p>
          <a:p>
            <a:pPr eaLnBrk="1" hangingPunct="1">
              <a:spcBef>
                <a:spcPct val="50000"/>
              </a:spcBef>
            </a:pP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在尾结点之后插入：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	                                       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                                        ;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2" name="Rectangle 3"/>
          <p:cNvSpPr/>
          <p:nvPr/>
        </p:nvSpPr>
        <p:spPr>
          <a:xfrm>
            <a:off x="6118434" y="457200"/>
            <a:ext cx="1676400" cy="5334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013" name="Rectangle 4"/>
          <p:cNvSpPr/>
          <p:nvPr/>
        </p:nvSpPr>
        <p:spPr>
          <a:xfrm>
            <a:off x="6118434" y="1447800"/>
            <a:ext cx="1676400" cy="45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014" name="Line 5"/>
          <p:cNvSpPr/>
          <p:nvPr/>
        </p:nvSpPr>
        <p:spPr>
          <a:xfrm>
            <a:off x="6956634" y="45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5" name="Line 6"/>
          <p:cNvSpPr/>
          <p:nvPr/>
        </p:nvSpPr>
        <p:spPr>
          <a:xfrm>
            <a:off x="6956634" y="14478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6" name="Text Box 7"/>
          <p:cNvSpPr txBox="1"/>
          <p:nvPr/>
        </p:nvSpPr>
        <p:spPr>
          <a:xfrm>
            <a:off x="4018172" y="533400"/>
            <a:ext cx="14906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</a:p>
        </p:txBody>
      </p:sp>
      <p:sp>
        <p:nvSpPr>
          <p:cNvPr id="43017" name="Text Box 8"/>
          <p:cNvSpPr txBox="1"/>
          <p:nvPr/>
        </p:nvSpPr>
        <p:spPr>
          <a:xfrm>
            <a:off x="4518234" y="1447800"/>
            <a:ext cx="838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head</a:t>
            </a:r>
          </a:p>
        </p:txBody>
      </p:sp>
      <p:sp>
        <p:nvSpPr>
          <p:cNvPr id="43018" name="Line 9"/>
          <p:cNvSpPr/>
          <p:nvPr/>
        </p:nvSpPr>
        <p:spPr>
          <a:xfrm>
            <a:off x="5356434" y="7620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3019" name="Line 10"/>
          <p:cNvSpPr/>
          <p:nvPr/>
        </p:nvSpPr>
        <p:spPr>
          <a:xfrm>
            <a:off x="5432634" y="16764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3020" name="Line 13"/>
          <p:cNvSpPr/>
          <p:nvPr/>
        </p:nvSpPr>
        <p:spPr>
          <a:xfrm>
            <a:off x="7794834" y="16764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7759" name="Line 15"/>
          <p:cNvSpPr/>
          <p:nvPr/>
        </p:nvSpPr>
        <p:spPr>
          <a:xfrm flipV="1">
            <a:off x="5127834" y="1066800"/>
            <a:ext cx="914400" cy="3810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7760" name="Line 16"/>
          <p:cNvSpPr/>
          <p:nvPr/>
        </p:nvSpPr>
        <p:spPr>
          <a:xfrm>
            <a:off x="7413834" y="990600"/>
            <a:ext cx="0" cy="3810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3023" name="Text Box 17"/>
          <p:cNvSpPr txBox="1"/>
          <p:nvPr/>
        </p:nvSpPr>
        <p:spPr>
          <a:xfrm>
            <a:off x="6347034" y="533400"/>
            <a:ext cx="685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43024" name="Text Box 18"/>
          <p:cNvSpPr txBox="1"/>
          <p:nvPr/>
        </p:nvSpPr>
        <p:spPr>
          <a:xfrm>
            <a:off x="6270834" y="1447800"/>
            <a:ext cx="762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7</a:t>
            </a:r>
          </a:p>
        </p:txBody>
      </p:sp>
      <p:sp>
        <p:nvSpPr>
          <p:cNvPr id="287764" name="Line 20"/>
          <p:cNvSpPr/>
          <p:nvPr/>
        </p:nvSpPr>
        <p:spPr>
          <a:xfrm>
            <a:off x="5661234" y="1524000"/>
            <a:ext cx="152400" cy="3048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26" name="Rectangle 21"/>
          <p:cNvSpPr/>
          <p:nvPr/>
        </p:nvSpPr>
        <p:spPr>
          <a:xfrm>
            <a:off x="5818397" y="3141663"/>
            <a:ext cx="1871662" cy="45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027" name="Line 28"/>
          <p:cNvSpPr/>
          <p:nvPr/>
        </p:nvSpPr>
        <p:spPr>
          <a:xfrm>
            <a:off x="6394659" y="3141663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28" name="Line 29"/>
          <p:cNvSpPr/>
          <p:nvPr/>
        </p:nvSpPr>
        <p:spPr>
          <a:xfrm>
            <a:off x="5962859" y="4077072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7776" name="Line 32"/>
          <p:cNvSpPr/>
          <p:nvPr/>
        </p:nvSpPr>
        <p:spPr>
          <a:xfrm flipV="1">
            <a:off x="6323222" y="3573463"/>
            <a:ext cx="0" cy="5334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3030" name="Text Box 38"/>
          <p:cNvSpPr txBox="1"/>
          <p:nvPr/>
        </p:nvSpPr>
        <p:spPr>
          <a:xfrm>
            <a:off x="4307097" y="3141663"/>
            <a:ext cx="14398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</a:p>
        </p:txBody>
      </p:sp>
      <p:sp>
        <p:nvSpPr>
          <p:cNvPr id="43031" name="Line 39"/>
          <p:cNvSpPr/>
          <p:nvPr/>
        </p:nvSpPr>
        <p:spPr>
          <a:xfrm>
            <a:off x="5297697" y="3370263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3032" name="Text Box 40"/>
          <p:cNvSpPr txBox="1"/>
          <p:nvPr/>
        </p:nvSpPr>
        <p:spPr>
          <a:xfrm>
            <a:off x="5831097" y="3141663"/>
            <a:ext cx="4921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8      </a:t>
            </a:r>
          </a:p>
        </p:txBody>
      </p:sp>
      <p:sp>
        <p:nvSpPr>
          <p:cNvPr id="287787" name="Text Box 43"/>
          <p:cNvSpPr txBox="1"/>
          <p:nvPr/>
        </p:nvSpPr>
        <p:spPr>
          <a:xfrm>
            <a:off x="562184" y="1052513"/>
            <a:ext cx="356393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newnode-&gt;next=head</a:t>
            </a:r>
          </a:p>
        </p:txBody>
      </p:sp>
      <p:sp>
        <p:nvSpPr>
          <p:cNvPr id="287788" name="Text Box 44"/>
          <p:cNvSpPr txBox="1"/>
          <p:nvPr/>
        </p:nvSpPr>
        <p:spPr>
          <a:xfrm>
            <a:off x="490747" y="1557338"/>
            <a:ext cx="21939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head=newnode</a:t>
            </a:r>
          </a:p>
        </p:txBody>
      </p:sp>
      <p:sp>
        <p:nvSpPr>
          <p:cNvPr id="287789" name="Text Box 45"/>
          <p:cNvSpPr txBox="1"/>
          <p:nvPr/>
        </p:nvSpPr>
        <p:spPr>
          <a:xfrm>
            <a:off x="993984" y="3068638"/>
            <a:ext cx="33131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behind-&gt;next=newnode</a:t>
            </a:r>
          </a:p>
        </p:txBody>
      </p:sp>
      <p:sp>
        <p:nvSpPr>
          <p:cNvPr id="287790" name="Text Box 46"/>
          <p:cNvSpPr txBox="1"/>
          <p:nvPr/>
        </p:nvSpPr>
        <p:spPr>
          <a:xfrm>
            <a:off x="6466097" y="3141663"/>
            <a:ext cx="1008062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NULL</a:t>
            </a:r>
          </a:p>
        </p:txBody>
      </p:sp>
      <p:sp>
        <p:nvSpPr>
          <p:cNvPr id="287791" name="Text Box 47"/>
          <p:cNvSpPr txBox="1"/>
          <p:nvPr/>
        </p:nvSpPr>
        <p:spPr>
          <a:xfrm>
            <a:off x="1065422" y="3500438"/>
            <a:ext cx="34559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newnode-&gt;next=NULL</a:t>
            </a:r>
          </a:p>
        </p:txBody>
      </p:sp>
      <p:sp>
        <p:nvSpPr>
          <p:cNvPr id="34" name="Text Box 46"/>
          <p:cNvSpPr txBox="1"/>
          <p:nvPr/>
        </p:nvSpPr>
        <p:spPr>
          <a:xfrm>
            <a:off x="6014453" y="4118732"/>
            <a:ext cx="1008062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NULL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7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7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7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7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7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7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7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7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7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7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7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7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87" grpId="0"/>
      <p:bldP spid="287788" grpId="0"/>
      <p:bldP spid="287789" grpId="0"/>
      <p:bldP spid="287790" grpId="0"/>
      <p:bldP spid="28779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42"/>
          <p:cNvSpPr txBox="1"/>
          <p:nvPr/>
        </p:nvSpPr>
        <p:spPr>
          <a:xfrm>
            <a:off x="191343" y="-22940"/>
            <a:ext cx="10513169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7.8】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编写函数，实现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在表头指针为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head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的链表中插入值为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结点，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   	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已知链表中的数据是按递增顺序排列的，插入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后仍满足递增有序。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3352" y="836712"/>
            <a:ext cx="10153128" cy="485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①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若原表是空表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新结点成为第一个结点，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表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头指针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head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应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指向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该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结点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②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若原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表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不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空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表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，则利用指针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behind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查找插入位置，以便将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插入到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behind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的前面（除非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大于链表中所有结点的数据域的值）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③按查找到的插入位置进行新结点插入，分如下情况：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ct val="120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向表头前面插入（此时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behind==head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）；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ct val="120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向表尾后插入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（此时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behind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==NULL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 ；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ct val="120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表中间插入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4"/>
          <p:cNvSpPr txBox="1"/>
          <p:nvPr/>
        </p:nvSpPr>
        <p:spPr>
          <a:xfrm>
            <a:off x="119336" y="116632"/>
            <a:ext cx="9145587" cy="6739255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struct node </a:t>
            </a:r>
            <a:r>
              <a:rPr lang="en-US" altLang="zh-CN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*insert(node 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*head,int x)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{  struct  node *behind,*front,*newnode;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  newnode=new node;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  newnode-&gt;data=x;     behind=head;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  if(head==NULL)                               //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空表</a:t>
            </a:r>
          </a:p>
          <a:p>
            <a:pPr eaLnBrk="1" hangingPunct="1"/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{                ;	newnode-&gt;next=NULL; }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  else                                        //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非空表</a:t>
            </a:r>
          </a:p>
          <a:p>
            <a:pPr eaLnBrk="1" hangingPunct="1"/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{  while(behind!=NULL&amp;&amp;x&gt;behind-&gt;data)//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找插入位置</a:t>
            </a:r>
          </a:p>
          <a:p>
            <a:pPr eaLnBrk="1" hangingPunct="1"/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{                ;                       ; 	}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      if(behind==head)   //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插到第一个结点前 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		 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	  {                    ;                   ; }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      else if(behind==NULL)  //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插到最后一个结点后   </a:t>
            </a:r>
            <a:endParaRPr lang="en-US" altLang="zh-CN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{                      ;                     ;}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      else                  //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插到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front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之后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,behind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之前</a:t>
            </a:r>
          </a:p>
          <a:p>
            <a:pPr eaLnBrk="1" hangingPunct="1"/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{                     ;                       ;  }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    }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return 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head;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}</a:t>
            </a:r>
          </a:p>
        </p:txBody>
      </p:sp>
      <p:sp>
        <p:nvSpPr>
          <p:cNvPr id="908293" name="Text Box 5"/>
          <p:cNvSpPr txBox="1"/>
          <p:nvPr/>
        </p:nvSpPr>
        <p:spPr>
          <a:xfrm>
            <a:off x="1100411" y="1978769"/>
            <a:ext cx="21875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head=newnode</a:t>
            </a:r>
          </a:p>
        </p:txBody>
      </p:sp>
      <p:sp>
        <p:nvSpPr>
          <p:cNvPr id="908294" name="Text Box 6"/>
          <p:cNvSpPr txBox="1"/>
          <p:nvPr/>
        </p:nvSpPr>
        <p:spPr>
          <a:xfrm>
            <a:off x="1703661" y="3058269"/>
            <a:ext cx="23034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front=behind</a:t>
            </a:r>
          </a:p>
        </p:txBody>
      </p:sp>
      <p:sp>
        <p:nvSpPr>
          <p:cNvPr id="908295" name="Text Box 7"/>
          <p:cNvSpPr txBox="1"/>
          <p:nvPr/>
        </p:nvSpPr>
        <p:spPr>
          <a:xfrm>
            <a:off x="4378598" y="3070969"/>
            <a:ext cx="32289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behind=behind-&gt;next</a:t>
            </a:r>
          </a:p>
        </p:txBody>
      </p:sp>
      <p:sp>
        <p:nvSpPr>
          <p:cNvPr id="908296" name="Text Box 8"/>
          <p:cNvSpPr txBox="1"/>
          <p:nvPr/>
        </p:nvSpPr>
        <p:spPr>
          <a:xfrm>
            <a:off x="1505223" y="3758357"/>
            <a:ext cx="32781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newnode-&gt;next=head</a:t>
            </a:r>
          </a:p>
        </p:txBody>
      </p:sp>
      <p:sp>
        <p:nvSpPr>
          <p:cNvPr id="908297" name="Text Box 9"/>
          <p:cNvSpPr txBox="1"/>
          <p:nvPr/>
        </p:nvSpPr>
        <p:spPr>
          <a:xfrm>
            <a:off x="5161236" y="3753594"/>
            <a:ext cx="23034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head=newnode</a:t>
            </a:r>
          </a:p>
        </p:txBody>
      </p:sp>
      <p:sp>
        <p:nvSpPr>
          <p:cNvPr id="908298" name="Text Box 10"/>
          <p:cNvSpPr txBox="1"/>
          <p:nvPr/>
        </p:nvSpPr>
        <p:spPr>
          <a:xfrm>
            <a:off x="1703661" y="4528294"/>
            <a:ext cx="403383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front-&gt;next=newnode</a:t>
            </a:r>
          </a:p>
        </p:txBody>
      </p:sp>
      <p:sp>
        <p:nvSpPr>
          <p:cNvPr id="908299" name="Text Box 11"/>
          <p:cNvSpPr txBox="1"/>
          <p:nvPr/>
        </p:nvSpPr>
        <p:spPr>
          <a:xfrm>
            <a:off x="5232673" y="4491782"/>
            <a:ext cx="31305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newnode-&gt;next=NULL</a:t>
            </a:r>
          </a:p>
        </p:txBody>
      </p:sp>
      <p:sp>
        <p:nvSpPr>
          <p:cNvPr id="908300" name="Text Box 12"/>
          <p:cNvSpPr txBox="1"/>
          <p:nvPr/>
        </p:nvSpPr>
        <p:spPr>
          <a:xfrm>
            <a:off x="1703661" y="5217269"/>
            <a:ext cx="37433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front-&gt;next=newnode</a:t>
            </a:r>
          </a:p>
        </p:txBody>
      </p:sp>
      <p:sp>
        <p:nvSpPr>
          <p:cNvPr id="908301" name="Text Box 13"/>
          <p:cNvSpPr txBox="1"/>
          <p:nvPr/>
        </p:nvSpPr>
        <p:spPr>
          <a:xfrm>
            <a:off x="5170761" y="5241082"/>
            <a:ext cx="40322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newnode-&gt;next=behind</a:t>
            </a:r>
          </a:p>
        </p:txBody>
      </p:sp>
      <p:sp>
        <p:nvSpPr>
          <p:cNvPr id="13" name="云形标注 12"/>
          <p:cNvSpPr/>
          <p:nvPr/>
        </p:nvSpPr>
        <p:spPr bwMode="auto">
          <a:xfrm>
            <a:off x="5732576" y="859510"/>
            <a:ext cx="3060377" cy="680726"/>
          </a:xfrm>
          <a:prstGeom prst="cloudCallout">
            <a:avLst>
              <a:gd name="adj1" fmla="val -178822"/>
              <a:gd name="adj2" fmla="val -105568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返回值类型为何如此定义？</a:t>
            </a:r>
            <a:endParaRPr lang="zh-CN" altLang="en-US" sz="20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云形标注 13"/>
          <p:cNvSpPr/>
          <p:nvPr/>
        </p:nvSpPr>
        <p:spPr bwMode="auto">
          <a:xfrm>
            <a:off x="8904312" y="3873606"/>
            <a:ext cx="3060377" cy="680726"/>
          </a:xfrm>
          <a:prstGeom prst="cloudCallout">
            <a:avLst>
              <a:gd name="adj1" fmla="val -171212"/>
              <a:gd name="adj2" fmla="val -163860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两个表达式可交换顺序吗？</a:t>
            </a:r>
            <a:endParaRPr lang="zh-CN" altLang="en-US" sz="20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云形标注 14"/>
          <p:cNvSpPr/>
          <p:nvPr/>
        </p:nvSpPr>
        <p:spPr bwMode="auto">
          <a:xfrm>
            <a:off x="8688288" y="1792649"/>
            <a:ext cx="4199168" cy="1584176"/>
          </a:xfrm>
          <a:prstGeom prst="cloudCallout">
            <a:avLst>
              <a:gd name="adj1" fmla="val -51835"/>
              <a:gd name="adj2" fmla="val -143787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因插入结点可能会改变表头指针，故函数应将新的表头指针返回。</a:t>
            </a:r>
            <a:endParaRPr lang="zh-CN" altLang="en-US" sz="20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97261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500"/>
                                        <p:tgtEl>
                                          <p:spTgt spid="908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500"/>
                                        <p:tgtEl>
                                          <p:spTgt spid="908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500"/>
                                        <p:tgtEl>
                                          <p:spTgt spid="908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500"/>
                                        <p:tgtEl>
                                          <p:spTgt spid="9082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500"/>
                                        <p:tgtEl>
                                          <p:spTgt spid="9082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/>
                                        <p:tgtEl>
                                          <p:spTgt spid="9082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500"/>
                                        <p:tgtEl>
                                          <p:spTgt spid="9082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500"/>
                                        <p:tgtEl>
                                          <p:spTgt spid="9082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500"/>
                                        <p:tgtEl>
                                          <p:spTgt spid="9082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500"/>
                                        <p:tgtEl>
                                          <p:spTgt spid="908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500"/>
                                        <p:tgtEl>
                                          <p:spTgt spid="908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500"/>
                                        <p:tgtEl>
                                          <p:spTgt spid="908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500"/>
                                        <p:tgtEl>
                                          <p:spTgt spid="9082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500"/>
                                        <p:tgtEl>
                                          <p:spTgt spid="9082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500"/>
                                        <p:tgtEl>
                                          <p:spTgt spid="9082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500"/>
                                        <p:tgtEl>
                                          <p:spTgt spid="9082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500"/>
                                        <p:tgtEl>
                                          <p:spTgt spid="9082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500"/>
                                        <p:tgtEl>
                                          <p:spTgt spid="9082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500"/>
                                        <p:tgtEl>
                                          <p:spTgt spid="908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500"/>
                                        <p:tgtEl>
                                          <p:spTgt spid="908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500"/>
                                        <p:tgtEl>
                                          <p:spTgt spid="908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500"/>
                                        <p:tgtEl>
                                          <p:spTgt spid="9083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500"/>
                                        <p:tgtEl>
                                          <p:spTgt spid="908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500"/>
                                        <p:tgtEl>
                                          <p:spTgt spid="908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40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40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3" grpId="0"/>
      <p:bldP spid="908295" grpId="0"/>
      <p:bldP spid="908296" grpId="0"/>
      <p:bldP spid="908297" grpId="0"/>
      <p:bldP spid="908298" grpId="0"/>
      <p:bldP spid="908299" grpId="0"/>
      <p:bldP spid="908300" grpId="0"/>
      <p:bldP spid="908301" grpId="0"/>
      <p:bldP spid="13" grpId="0" animBg="1"/>
      <p:bldP spid="14" grpId="0" animBg="1"/>
      <p:bldP spid="1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5111682"/>
            <a:ext cx="6489521" cy="179524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61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4" y="2492897"/>
            <a:ext cx="5904656" cy="18718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xfrm>
            <a:off x="119336" y="0"/>
            <a:ext cx="7772400" cy="548313"/>
          </a:xfrm>
          <a:noFill/>
          <a:ln>
            <a:noFill/>
          </a:ln>
        </p:spPr>
        <p:txBody>
          <a:bodyPr/>
          <a:lstStyle/>
          <a:p>
            <a:pPr algn="l" eaLnBrk="1" hangingPunct="1"/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删除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链表中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的结点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059" name="Text Box 4"/>
          <p:cNvSpPr txBox="1"/>
          <p:nvPr/>
        </p:nvSpPr>
        <p:spPr>
          <a:xfrm>
            <a:off x="119336" y="548680"/>
            <a:ext cx="91440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删除链表中的某个结点，是把被删除结点的后继结点的地址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赋给其前趋结点的指针域或表头指针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head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，无后继结点时，则赋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NULL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60" name="Text Box 25"/>
          <p:cNvSpPr txBox="1"/>
          <p:nvPr/>
        </p:nvSpPr>
        <p:spPr>
          <a:xfrm>
            <a:off x="199598" y="1484784"/>
            <a:ext cx="9208770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假定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为指向要删除结点的指针，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为指向删除结点前趋的指针。</a:t>
            </a:r>
          </a:p>
          <a:p>
            <a:pPr eaLnBrk="1" hangingPunct="1">
              <a:spcAft>
                <a:spcPct val="4000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如果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p==head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，则删除的是第一个结点，则应修改表头指针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head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，使其指向第二个结点，并释放第一个结点占据的存储空间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062" name="Rectangle 28"/>
          <p:cNvSpPr/>
          <p:nvPr/>
        </p:nvSpPr>
        <p:spPr>
          <a:xfrm>
            <a:off x="7176120" y="2937005"/>
            <a:ext cx="2484437" cy="106806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r>
              <a:rPr lang="en-US" altLang="zh-CN" b="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head=p-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&gt;next;</a:t>
            </a:r>
          </a:p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delete p;		 </a:t>
            </a:r>
          </a:p>
        </p:txBody>
      </p:sp>
      <p:sp>
        <p:nvSpPr>
          <p:cNvPr id="7" name="Text Box 5"/>
          <p:cNvSpPr txBox="1"/>
          <p:nvPr/>
        </p:nvSpPr>
        <p:spPr>
          <a:xfrm>
            <a:off x="224420" y="4365104"/>
            <a:ext cx="10120052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如果删除的是链表的中间结点，则应把被删除结点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的后继结点的地址，赋给其前趋结点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的指针域。如果没有后继结点时，则赋空指针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NULL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9" name="Rectangle 6"/>
          <p:cNvSpPr/>
          <p:nvPr/>
        </p:nvSpPr>
        <p:spPr>
          <a:xfrm>
            <a:off x="7122194" y="5301208"/>
            <a:ext cx="2592288" cy="1055667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q-&gt;next=p-&gt;next ;</a:t>
            </a:r>
          </a:p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 delete p;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4"/>
          <p:cNvSpPr txBox="1"/>
          <p:nvPr/>
        </p:nvSpPr>
        <p:spPr>
          <a:xfrm>
            <a:off x="119336" y="159023"/>
            <a:ext cx="9865096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7.9】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编写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函数，实现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在头指针为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head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的链表中删除值为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的结点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3352" y="836712"/>
            <a:ext cx="10153128" cy="4413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①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若原表是空表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则无可删除的结点，函数结束；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②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若原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表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不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空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表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，则利用指针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查找待删除的结点所在位置；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③按查找到的位置进行删除，分如下情况：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ct val="120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删除第一个结点，需要修改表头指针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head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ct val="120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删除第一个结点之外的其它结点；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ct val="120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未找到删除的结点（此时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p==NULL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）；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4"/>
          <p:cNvSpPr txBox="1"/>
          <p:nvPr/>
        </p:nvSpPr>
        <p:spPr>
          <a:xfrm>
            <a:off x="119336" y="-171400"/>
            <a:ext cx="9144000" cy="67392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en-US" altLang="zh-CN" b="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en-US" altLang="zh-CN" b="0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struct</a:t>
            </a:r>
            <a:r>
              <a:rPr lang="en-US" altLang="zh-CN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node *delnode(node *head,int x)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{  struct  node *p,*q;            //p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为工作指针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,q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的前驱</a:t>
            </a:r>
          </a:p>
          <a:p>
            <a:pPr eaLnBrk="1" hangingPunct="1"/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p = head;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   if(head==NULL)                       //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空表</a:t>
            </a:r>
          </a:p>
          <a:p>
            <a:pPr eaLnBrk="1" hangingPunct="1"/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	 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cout&lt;&lt;"The list is null!\n";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   else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	{ while(                       )    // 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找删除的结点</a:t>
            </a:r>
          </a:p>
          <a:p>
            <a:pPr eaLnBrk="1" hangingPunct="1"/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	   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{  q=p;  p = p-&gt;next; }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      if(               )     //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删除第一个结点</a:t>
            </a:r>
          </a:p>
          <a:p>
            <a:pPr eaLnBrk="1" hangingPunct="1"/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	   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{  head=p-&gt;next;  delete p; }        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      else  if(           )   //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删除非表头结点</a:t>
            </a:r>
          </a:p>
          <a:p>
            <a:pPr eaLnBrk="1" hangingPunct="1"/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	   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{ q-&gt;next=p-&gt;next ;  delete p; }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	 else                           //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未找到要删除的元素</a:t>
            </a:r>
          </a:p>
          <a:p>
            <a:pPr eaLnBrk="1" hangingPunct="1"/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		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cout&lt;&lt;x&lt;&lt;"dose not exist in the list!\n";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	}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return 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head;</a:t>
            </a:r>
          </a:p>
          <a:p>
            <a:pPr eaLnBrk="1" hangingPunct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 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9311" y="2394000"/>
            <a:ext cx="40322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p!=NULL&amp;&amp;p-&gt;data!= x</a:t>
            </a:r>
            <a:endParaRPr lang="zh-CN" altLang="en-US" b="0" dirty="0"/>
          </a:p>
        </p:txBody>
      </p:sp>
      <p:sp>
        <p:nvSpPr>
          <p:cNvPr id="3" name="文本框 2"/>
          <p:cNvSpPr txBox="1"/>
          <p:nvPr/>
        </p:nvSpPr>
        <p:spPr>
          <a:xfrm>
            <a:off x="1954486" y="3098850"/>
            <a:ext cx="20891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p==head</a:t>
            </a:r>
            <a:endParaRPr lang="zh-CN" altLang="en-US" b="0" dirty="0"/>
          </a:p>
        </p:txBody>
      </p:sp>
      <p:sp>
        <p:nvSpPr>
          <p:cNvPr id="4" name="文本框 3"/>
          <p:cNvSpPr txBox="1"/>
          <p:nvPr/>
        </p:nvSpPr>
        <p:spPr>
          <a:xfrm>
            <a:off x="2891111" y="3897363"/>
            <a:ext cx="17287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p!=NULL</a:t>
            </a:r>
            <a:endParaRPr lang="zh-CN" altLang="en-US" b="0" dirty="0"/>
          </a:p>
        </p:txBody>
      </p:sp>
      <p:sp>
        <p:nvSpPr>
          <p:cNvPr id="6" name="云形标注 5"/>
          <p:cNvSpPr/>
          <p:nvPr/>
        </p:nvSpPr>
        <p:spPr bwMode="auto">
          <a:xfrm>
            <a:off x="4009744" y="5517232"/>
            <a:ext cx="5686656" cy="1584176"/>
          </a:xfrm>
          <a:prstGeom prst="cloudCallout">
            <a:avLst>
              <a:gd name="adj1" fmla="val -68344"/>
              <a:gd name="adj2" fmla="val 7050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因删除结点可能会删除第</a:t>
            </a:r>
            <a:r>
              <a:rPr lang="en-US" altLang="zh-CN" sz="20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个结点，从而引起表头指针的变化，故函数应将新的表头指针返回。</a:t>
            </a:r>
            <a:endParaRPr lang="zh-CN" altLang="en-US" sz="20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03277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ext Box 5"/>
          <p:cNvSpPr txBox="1"/>
          <p:nvPr/>
        </p:nvSpPr>
        <p:spPr>
          <a:xfrm>
            <a:off x="0" y="836712"/>
            <a:ext cx="10848528" cy="448122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7.10】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编写几个函数，分别实现如下几个功能：一、创建学生信息链表；二、按学号查找指定学生信息；三、按学号删除学生信息。再编写主函数，对几个函数功能进行测试。为简单起见，假定学生信息中只有学号和成绩两个数据域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lang="en-US" altLang="zh-CN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按题意，本题将前面介绍的几个链表常见操作做一综合，重点关注：</a:t>
            </a: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链表结点结构的定义；</a:t>
            </a: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考虑到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函数间的相互联系，参数和返回值如何定义、声明；</a:t>
            </a:r>
            <a:endParaRPr lang="en-US" altLang="zh-CN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考虑到用户友好，将函数设计成菜单供用户选择；</a:t>
            </a:r>
            <a:endParaRPr lang="zh-CN" altLang="en-US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11515" y="0"/>
            <a:ext cx="7772400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eaLnBrk="1" hangingPunct="1"/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.4 </a:t>
            </a:r>
            <a:r>
              <a:rPr lang="zh-CN" altLang="en-US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综合应用</a:t>
            </a:r>
            <a:endParaRPr lang="zh-CN" altLang="en-US" sz="3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72237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336" y="476672"/>
            <a:ext cx="3600400" cy="30469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score;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*next;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151784" y="442401"/>
            <a:ext cx="7920880" cy="63709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*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n) </a:t>
            </a: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*head=NULL,*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,*tail=NULL;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&lt;&lt;"input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score:\n";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=0;i&lt;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=new student;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-&gt;score;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if(head==NULL)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     head=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else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     tail-&gt;next=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			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tail=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     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tail-&gt;next=NULL;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head;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云形标注 6"/>
          <p:cNvSpPr/>
          <p:nvPr/>
        </p:nvSpPr>
        <p:spPr bwMode="auto">
          <a:xfrm>
            <a:off x="-744760" y="3861048"/>
            <a:ext cx="2930813" cy="1080120"/>
          </a:xfrm>
          <a:prstGeom prst="cloudCallout">
            <a:avLst>
              <a:gd name="adj1" fmla="val -3472"/>
              <a:gd name="adj2" fmla="val -160406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学生信息链表结点中包含两个数据成员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云形标注 7"/>
          <p:cNvSpPr/>
          <p:nvPr/>
        </p:nvSpPr>
        <p:spPr bwMode="auto">
          <a:xfrm>
            <a:off x="8904312" y="5517232"/>
            <a:ext cx="2930813" cy="1080120"/>
          </a:xfrm>
          <a:prstGeom prst="cloudCallout">
            <a:avLst>
              <a:gd name="adj1" fmla="val -3472"/>
              <a:gd name="adj2" fmla="val -160406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通过向表尾添加结点的方式创建链表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75859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336" y="44624"/>
            <a:ext cx="10657184" cy="67403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*del(student *head, char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])  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    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*p, *q;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if(head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==NULL)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&lt;&lt;"list null!\n";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else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{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p=head;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while(p!= NULL&amp;&amp;                                              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q=p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p=p-&gt;next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}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if(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num,p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)==0)         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if(p==head)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head=p-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&gt;next;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q-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&gt;next=p-&gt;next;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delete(p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              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}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else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&lt;&lt;"not been found!\n";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}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return(head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23792" y="1959223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num,p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)!=0</a:t>
            </a:r>
            <a:endParaRPr lang="zh-CN" altLang="en-US" dirty="0"/>
          </a:p>
        </p:txBody>
      </p:sp>
      <p:sp>
        <p:nvSpPr>
          <p:cNvPr id="5" name="云形标注 4"/>
          <p:cNvSpPr/>
          <p:nvPr/>
        </p:nvSpPr>
        <p:spPr bwMode="auto">
          <a:xfrm>
            <a:off x="5303912" y="2708920"/>
            <a:ext cx="2930813" cy="1080120"/>
          </a:xfrm>
          <a:prstGeom prst="cloudCallout">
            <a:avLst>
              <a:gd name="adj1" fmla="val -65240"/>
              <a:gd name="adj2" fmla="val -81735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注意数据域比较应调用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楷体" panose="02010609060101010101" pitchFamily="49" charset="-122"/>
              </a:rPr>
              <a:t>strcmp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函数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云形标注 6"/>
          <p:cNvSpPr/>
          <p:nvPr/>
        </p:nvSpPr>
        <p:spPr bwMode="auto">
          <a:xfrm>
            <a:off x="6168008" y="764704"/>
            <a:ext cx="2930813" cy="1080120"/>
          </a:xfrm>
          <a:prstGeom prst="cloudCallout">
            <a:avLst>
              <a:gd name="adj1" fmla="val -191614"/>
              <a:gd name="adj2" fmla="val -83445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删除可能修改表头，注意函数返回值类型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74183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27304" y="116632"/>
            <a:ext cx="6264696" cy="34163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print(student *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head)       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*p=head;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while(p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!=NULL)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&lt;&lt;p-&gt;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&lt;&lt;'\t'&lt;&lt;p-&gt;score&lt;&lt;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p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p-&gt;next;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067" y="116632"/>
            <a:ext cx="5832648" cy="670952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search(student *head, char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])      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 *p=head;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if(head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==NULL)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&lt;&lt;"list empty"&lt;&lt;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while(p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!=NULL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{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if(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num,p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)==0)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{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&lt;&lt;p-&gt;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&lt;&lt;":"&lt;&lt;p-&gt;score&lt;&lt;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break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}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else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p=p-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&gt;next;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}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if(p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==NULL)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&lt;&lt;"The student is not  found!"&lt;&lt;</a:t>
            </a:r>
            <a:r>
              <a:rPr lang="en-US" altLang="zh-C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8367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5066" y="116632"/>
            <a:ext cx="4940814" cy="618630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 )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n,choose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*head=NULL;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请输入结点个数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:"&lt;&lt;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&gt;&gt;n;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head=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查找数据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"&lt;&lt;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删除数据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"&lt;&lt;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输出数据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"&lt;&lt;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结束程序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"&lt;&lt;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while(1)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输入选项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(1-4):"&lt;&lt;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&gt;&gt;choose;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if(choose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==4)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59896" y="116632"/>
            <a:ext cx="7128792" cy="618630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else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</a:t>
            </a: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switch(choose)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输入所要查找的学生的学号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:"&lt;&lt;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search(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head,num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break;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输入所要删除的学生的学号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:"&lt;&lt;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head=del(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head,num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break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endParaRPr lang="en-US" altLang="zh-C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 print(head);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break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system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("pause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云形标注 4"/>
          <p:cNvSpPr/>
          <p:nvPr/>
        </p:nvSpPr>
        <p:spPr bwMode="auto">
          <a:xfrm>
            <a:off x="8688288" y="4653136"/>
            <a:ext cx="3290853" cy="1080120"/>
          </a:xfrm>
          <a:prstGeom prst="cloudCallout">
            <a:avLst>
              <a:gd name="adj1" fmla="val -26477"/>
              <a:gd name="adj2" fmla="val -200597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注意函数返回值类型不同，函数调用方式的不同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44293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4"/>
          <p:cNvSpPr txBox="1"/>
          <p:nvPr/>
        </p:nvSpPr>
        <p:spPr>
          <a:xfrm>
            <a:off x="119336" y="44450"/>
            <a:ext cx="79565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本章内容小结</a:t>
            </a:r>
          </a:p>
        </p:txBody>
      </p:sp>
      <p:sp>
        <p:nvSpPr>
          <p:cNvPr id="53251" name="Text Box 5"/>
          <p:cNvSpPr txBox="1"/>
          <p:nvPr/>
        </p:nvSpPr>
        <p:spPr>
          <a:xfrm>
            <a:off x="190775" y="764223"/>
            <a:ext cx="4321050" cy="4302716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结构体的概念</a:t>
            </a:r>
          </a:p>
          <a:p>
            <a:pPr lvl="1" eaLnBrk="1" hangingPunct="1">
              <a:lnSpc>
                <a:spcPct val="120000"/>
              </a:lnSpc>
              <a:spcBef>
                <a:spcPct val="50000"/>
              </a:spcBef>
              <a:buSzPct val="15000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结构类型的定义</a:t>
            </a:r>
          </a:p>
          <a:p>
            <a:pPr lvl="1" eaLnBrk="1" hangingPunct="1">
              <a:lnSpc>
                <a:spcPct val="120000"/>
              </a:lnSpc>
              <a:spcBef>
                <a:spcPct val="50000"/>
              </a:spcBef>
              <a:buSzPct val="15000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结构变量的声明方法</a:t>
            </a:r>
          </a:p>
          <a:p>
            <a:pPr lvl="1" eaLnBrk="1" hangingPunct="1">
              <a:lnSpc>
                <a:spcPct val="120000"/>
              </a:lnSpc>
              <a:spcBef>
                <a:spcPct val="50000"/>
              </a:spcBef>
              <a:buSzPct val="15000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结构成员的引用方式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链表的概念</a:t>
            </a:r>
          </a:p>
          <a:p>
            <a:pPr lvl="1" eaLnBrk="1" hangingPunct="1">
              <a:lnSpc>
                <a:spcPct val="120000"/>
              </a:lnSpc>
              <a:spcBef>
                <a:spcPct val="50000"/>
              </a:spcBef>
              <a:buSzPct val="15000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链表元素的存储特点</a:t>
            </a:r>
          </a:p>
          <a:p>
            <a:pPr lvl="1" eaLnBrk="1" hangingPunct="1">
              <a:lnSpc>
                <a:spcPct val="120000"/>
              </a:lnSpc>
              <a:spcBef>
                <a:spcPct val="50000"/>
              </a:spcBef>
              <a:buSzPct val="15000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链表的存储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结构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Text Box 4"/>
          <p:cNvSpPr txBox="1"/>
          <p:nvPr/>
        </p:nvSpPr>
        <p:spPr>
          <a:xfrm>
            <a:off x="4943872" y="766432"/>
            <a:ext cx="4248849" cy="433832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链表的基本操作</a:t>
            </a:r>
          </a:p>
          <a:p>
            <a:pPr lvl="1" eaLnBrk="1" hangingPunct="1">
              <a:spcBef>
                <a:spcPct val="50000"/>
              </a:spcBef>
              <a:buSzPct val="15000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建立链表</a:t>
            </a:r>
          </a:p>
          <a:p>
            <a:pPr lvl="1" eaLnBrk="1" hangingPunct="1">
              <a:spcBef>
                <a:spcPct val="50000"/>
              </a:spcBef>
              <a:buSzPct val="15000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遍历链表</a:t>
            </a:r>
          </a:p>
          <a:p>
            <a:pPr lvl="1" eaLnBrk="1" hangingPunct="1">
              <a:spcBef>
                <a:spcPct val="50000"/>
              </a:spcBef>
              <a:buSzPct val="15000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统计结点数</a:t>
            </a:r>
          </a:p>
          <a:p>
            <a:pPr lvl="1" eaLnBrk="1" hangingPunct="1">
              <a:spcBef>
                <a:spcPct val="50000"/>
              </a:spcBef>
              <a:buSzPct val="15000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在链表中查找指定结点</a:t>
            </a:r>
          </a:p>
          <a:p>
            <a:pPr lvl="1" eaLnBrk="1" hangingPunct="1">
              <a:spcBef>
                <a:spcPct val="50000"/>
              </a:spcBef>
              <a:buSzPct val="15000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在链表中插入一个结点</a:t>
            </a:r>
          </a:p>
          <a:p>
            <a:pPr lvl="1" eaLnBrk="1" hangingPunct="1">
              <a:spcBef>
                <a:spcPct val="50000"/>
              </a:spcBef>
              <a:buSzPct val="15000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在链表中删除一个结点</a:t>
            </a:r>
          </a:p>
          <a:p>
            <a:pPr eaLnBrk="1" hangingPunct="1">
              <a:spcBef>
                <a:spcPct val="50000"/>
              </a:spcBef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4"/>
          <p:cNvSpPr txBox="1"/>
          <p:nvPr/>
        </p:nvSpPr>
        <p:spPr>
          <a:xfrm>
            <a:off x="191344" y="234270"/>
            <a:ext cx="72739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要点及难点：</a:t>
            </a:r>
          </a:p>
        </p:txBody>
      </p:sp>
      <p:sp>
        <p:nvSpPr>
          <p:cNvPr id="55299" name="Text Box 5"/>
          <p:cNvSpPr txBox="1"/>
          <p:nvPr/>
        </p:nvSpPr>
        <p:spPr>
          <a:xfrm>
            <a:off x="226904" y="854665"/>
            <a:ext cx="8821424" cy="537377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结构变量的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读写必须引用到成员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，且要遵循该成员的访问要求。如，数值型数组做其成员时，还要利用循环引用到每个元素。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结构变量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允许整体赋值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及做函数参数。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链表中不能通过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p++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实现指针后移，需用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p=p-&gt;next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的形式。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链表建立方式：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85850" lvl="1" indent="-342900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按输入的正序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85850" lvl="1" indent="-342900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按输入的逆序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85850" lvl="1" indent="-342900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按某数据域值的大小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顺序插入及删除时插入、删除位置不同的情况分析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Text Box 5"/>
          <p:cNvSpPr txBox="1">
            <a:spLocks noChangeArrowheads="1"/>
          </p:cNvSpPr>
          <p:nvPr/>
        </p:nvSpPr>
        <p:spPr bwMode="auto">
          <a:xfrm>
            <a:off x="47328" y="44624"/>
            <a:ext cx="10513168" cy="428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链表建立方式</a:t>
            </a:r>
            <a:r>
              <a:rPr kumimoji="1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kumimoji="1"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按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输入的正序：向表尾（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tail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）后添加新结点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en-US" altLang="zh-CN" sz="24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newnode</a:t>
            </a:r>
            <a:r>
              <a:rPr kumimoji="1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kumimoji="1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关键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语句：</a:t>
            </a:r>
            <a:endParaRPr kumimoji="1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marR="0" lvl="1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tail-&gt;next=</a:t>
            </a:r>
            <a:r>
              <a:rPr kumimoji="1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newnode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 marL="742950" marR="0" lvl="1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tail=</a:t>
            </a:r>
            <a:r>
              <a:rPr kumimoji="1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newnode</a:t>
            </a:r>
            <a:r>
              <a:rPr kumimoji="1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 marL="342900" indent="-342900" eaLnBrk="1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按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输入的逆序：向表头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(head)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前插入新结点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en-US" altLang="zh-CN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newnode</a:t>
            </a:r>
            <a:r>
              <a:rPr kumimoji="1" lang="en-US" altLang="zh-CN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kumimoji="1" lang="zh-CN" altLang="en-US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，关键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语句：</a:t>
            </a:r>
            <a:endParaRPr kumimoji="1" lang="en-US" altLang="zh-CN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marR="0" lvl="1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newnode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-&gt;next=head;</a:t>
            </a:r>
          </a:p>
          <a:p>
            <a:pPr marL="742950" marR="0" lvl="1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head=</a:t>
            </a:r>
            <a:r>
              <a:rPr kumimoji="1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newnode</a:t>
            </a:r>
            <a:r>
              <a:rPr kumimoji="1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 marL="342900" indent="-342900" eaLnBrk="1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按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某数据域值的大小：通过比较找到插入新结点位置，再根据情况讨论表头前、表尾后还是表中插入</a:t>
            </a:r>
          </a:p>
        </p:txBody>
      </p:sp>
      <p:sp>
        <p:nvSpPr>
          <p:cNvPr id="3" name="文本框 1"/>
          <p:cNvSpPr txBox="1"/>
          <p:nvPr/>
        </p:nvSpPr>
        <p:spPr>
          <a:xfrm>
            <a:off x="77055" y="4437112"/>
            <a:ext cx="4392066" cy="2308324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输入一个字符串，将其中的各字符按其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ASCII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码值递增顺序组织到一个链表中。链表的数据域只有一个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char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类型的成员。如，假设字符串为：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“China",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则链表组织如下：</a:t>
            </a:r>
          </a:p>
        </p:txBody>
      </p:sp>
      <p:grpSp>
        <p:nvGrpSpPr>
          <p:cNvPr id="4" name="组合 10"/>
          <p:cNvGrpSpPr/>
          <p:nvPr/>
        </p:nvGrpSpPr>
        <p:grpSpPr>
          <a:xfrm>
            <a:off x="6240760" y="4955505"/>
            <a:ext cx="1295400" cy="979488"/>
            <a:chOff x="1403648" y="2924944"/>
            <a:chExt cx="1296144" cy="978396"/>
          </a:xfrm>
        </p:grpSpPr>
        <p:grpSp>
          <p:nvGrpSpPr>
            <p:cNvPr id="5" name="组合 4"/>
            <p:cNvGrpSpPr/>
            <p:nvPr/>
          </p:nvGrpSpPr>
          <p:grpSpPr>
            <a:xfrm>
              <a:off x="1403648" y="2924944"/>
              <a:ext cx="648072" cy="978396"/>
              <a:chOff x="1403648" y="2924944"/>
              <a:chExt cx="864096" cy="978396"/>
            </a:xfrm>
          </p:grpSpPr>
          <p:sp>
            <p:nvSpPr>
              <p:cNvPr id="7" name="矩形 2"/>
              <p:cNvSpPr/>
              <p:nvPr/>
            </p:nvSpPr>
            <p:spPr>
              <a:xfrm>
                <a:off x="1403648" y="2924944"/>
                <a:ext cx="864096" cy="50405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 eaLnBrk="1" hangingPunct="1"/>
                <a:r>
                  <a:rPr lang="en-US" altLang="zh-CN" b="0" dirty="0">
                    <a:latin typeface="Arial" panose="020B0604020202020204" pitchFamily="34" charset="0"/>
                  </a:rPr>
                  <a:t>C</a:t>
                </a:r>
                <a:endParaRPr lang="zh-CN" altLang="en-US" b="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8" name="矩形 3"/>
              <p:cNvSpPr/>
              <p:nvPr/>
            </p:nvSpPr>
            <p:spPr>
              <a:xfrm>
                <a:off x="1403648" y="3399284"/>
                <a:ext cx="864096" cy="50405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eaLnBrk="1" hangingPunct="1"/>
                <a:endParaRPr lang="zh-CN" altLang="en-US" b="0" dirty="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6" name="连接符: 肘形 6"/>
            <p:cNvCxnSpPr>
              <a:stCxn id="8" idx="3"/>
            </p:cNvCxnSpPr>
            <p:nvPr/>
          </p:nvCxnSpPr>
          <p:spPr>
            <a:xfrm flipV="1">
              <a:off x="2051720" y="3212976"/>
              <a:ext cx="648072" cy="438336"/>
            </a:xfrm>
            <a:prstGeom prst="bentConnector3">
              <a:avLst>
                <a:gd name="adj1" fmla="val 50000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9" name="组合 11"/>
          <p:cNvGrpSpPr/>
          <p:nvPr/>
        </p:nvGrpSpPr>
        <p:grpSpPr>
          <a:xfrm>
            <a:off x="7536160" y="4971380"/>
            <a:ext cx="1295400" cy="977900"/>
            <a:chOff x="1403648" y="2924944"/>
            <a:chExt cx="1296144" cy="978396"/>
          </a:xfrm>
        </p:grpSpPr>
        <p:grpSp>
          <p:nvGrpSpPr>
            <p:cNvPr id="10" name="组合 12"/>
            <p:cNvGrpSpPr/>
            <p:nvPr/>
          </p:nvGrpSpPr>
          <p:grpSpPr>
            <a:xfrm>
              <a:off x="1403648" y="2924944"/>
              <a:ext cx="648072" cy="978396"/>
              <a:chOff x="1403648" y="2924944"/>
              <a:chExt cx="864096" cy="978396"/>
            </a:xfrm>
          </p:grpSpPr>
          <p:sp>
            <p:nvSpPr>
              <p:cNvPr id="12" name="矩形 14"/>
              <p:cNvSpPr/>
              <p:nvPr/>
            </p:nvSpPr>
            <p:spPr>
              <a:xfrm>
                <a:off x="1403648" y="2924944"/>
                <a:ext cx="864096" cy="50405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 eaLnBrk="1" hangingPunct="1"/>
                <a:r>
                  <a:rPr lang="en-US" altLang="zh-CN" b="0" dirty="0">
                    <a:latin typeface="Arial" panose="020B0604020202020204" pitchFamily="34" charset="0"/>
                  </a:rPr>
                  <a:t>a</a:t>
                </a:r>
                <a:endParaRPr lang="zh-CN" altLang="en-US" b="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" name="矩形 15"/>
              <p:cNvSpPr/>
              <p:nvPr/>
            </p:nvSpPr>
            <p:spPr>
              <a:xfrm>
                <a:off x="1403648" y="3399284"/>
                <a:ext cx="864096" cy="50405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eaLnBrk="1" hangingPunct="1"/>
                <a:endParaRPr lang="zh-CN" altLang="en-US" b="0" dirty="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11" name="连接符: 肘形 13"/>
            <p:cNvCxnSpPr>
              <a:stCxn id="13" idx="3"/>
            </p:cNvCxnSpPr>
            <p:nvPr/>
          </p:nvCxnSpPr>
          <p:spPr>
            <a:xfrm flipV="1">
              <a:off x="2051720" y="3212976"/>
              <a:ext cx="648072" cy="438336"/>
            </a:xfrm>
            <a:prstGeom prst="bentConnector3">
              <a:avLst>
                <a:gd name="adj1" fmla="val 50000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4" name="组合 16"/>
          <p:cNvGrpSpPr/>
          <p:nvPr/>
        </p:nvGrpSpPr>
        <p:grpSpPr>
          <a:xfrm>
            <a:off x="8831560" y="4971380"/>
            <a:ext cx="1296987" cy="977900"/>
            <a:chOff x="1403648" y="2924944"/>
            <a:chExt cx="1296144" cy="978396"/>
          </a:xfrm>
        </p:grpSpPr>
        <p:grpSp>
          <p:nvGrpSpPr>
            <p:cNvPr id="15" name="组合 17"/>
            <p:cNvGrpSpPr/>
            <p:nvPr/>
          </p:nvGrpSpPr>
          <p:grpSpPr>
            <a:xfrm>
              <a:off x="1403648" y="2924944"/>
              <a:ext cx="648072" cy="978396"/>
              <a:chOff x="1403648" y="2924944"/>
              <a:chExt cx="864096" cy="978396"/>
            </a:xfrm>
          </p:grpSpPr>
          <p:sp>
            <p:nvSpPr>
              <p:cNvPr id="17" name="矩形 19"/>
              <p:cNvSpPr/>
              <p:nvPr/>
            </p:nvSpPr>
            <p:spPr>
              <a:xfrm>
                <a:off x="1403648" y="2924944"/>
                <a:ext cx="864096" cy="50405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 eaLnBrk="1" hangingPunct="1"/>
                <a:r>
                  <a:rPr lang="en-US" altLang="zh-CN" b="0" dirty="0">
                    <a:latin typeface="Arial" panose="020B0604020202020204" pitchFamily="34" charset="0"/>
                  </a:rPr>
                  <a:t>h</a:t>
                </a:r>
                <a:endParaRPr lang="zh-CN" altLang="en-US" b="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" name="矩形 20"/>
              <p:cNvSpPr/>
              <p:nvPr/>
            </p:nvSpPr>
            <p:spPr>
              <a:xfrm>
                <a:off x="1403648" y="3399284"/>
                <a:ext cx="864096" cy="50405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eaLnBrk="1" hangingPunct="1"/>
                <a:endParaRPr lang="zh-CN" altLang="en-US" b="0" dirty="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16" name="连接符: 肘形 18"/>
            <p:cNvCxnSpPr>
              <a:stCxn id="18" idx="3"/>
            </p:cNvCxnSpPr>
            <p:nvPr/>
          </p:nvCxnSpPr>
          <p:spPr>
            <a:xfrm flipV="1">
              <a:off x="2051720" y="3212976"/>
              <a:ext cx="648072" cy="438336"/>
            </a:xfrm>
            <a:prstGeom prst="bentConnector3">
              <a:avLst>
                <a:gd name="adj1" fmla="val 50000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9" name="组合 21"/>
          <p:cNvGrpSpPr/>
          <p:nvPr/>
        </p:nvGrpSpPr>
        <p:grpSpPr>
          <a:xfrm>
            <a:off x="10128547" y="4953918"/>
            <a:ext cx="1295400" cy="979487"/>
            <a:chOff x="1403648" y="2924944"/>
            <a:chExt cx="1296144" cy="978396"/>
          </a:xfrm>
        </p:grpSpPr>
        <p:grpSp>
          <p:nvGrpSpPr>
            <p:cNvPr id="20" name="组合 22"/>
            <p:cNvGrpSpPr/>
            <p:nvPr/>
          </p:nvGrpSpPr>
          <p:grpSpPr>
            <a:xfrm>
              <a:off x="1403648" y="2924944"/>
              <a:ext cx="648072" cy="978396"/>
              <a:chOff x="1403648" y="2924944"/>
              <a:chExt cx="864096" cy="978396"/>
            </a:xfrm>
          </p:grpSpPr>
          <p:sp>
            <p:nvSpPr>
              <p:cNvPr id="22" name="矩形 24"/>
              <p:cNvSpPr/>
              <p:nvPr/>
            </p:nvSpPr>
            <p:spPr>
              <a:xfrm>
                <a:off x="1403648" y="2924944"/>
                <a:ext cx="864096" cy="50405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 eaLnBrk="1" hangingPunct="1"/>
                <a:r>
                  <a:rPr lang="en-US" altLang="zh-CN" b="0" dirty="0">
                    <a:latin typeface="Arial" panose="020B0604020202020204" pitchFamily="34" charset="0"/>
                  </a:rPr>
                  <a:t>i</a:t>
                </a:r>
                <a:endParaRPr lang="zh-CN" altLang="en-US" b="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3" name="矩形 25"/>
              <p:cNvSpPr/>
              <p:nvPr/>
            </p:nvSpPr>
            <p:spPr>
              <a:xfrm>
                <a:off x="1403648" y="3399284"/>
                <a:ext cx="864096" cy="50405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eaLnBrk="1" hangingPunct="1"/>
                <a:endParaRPr lang="zh-CN" altLang="en-US" b="0" dirty="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21" name="连接符: 肘形 23"/>
            <p:cNvCxnSpPr>
              <a:stCxn id="23" idx="3"/>
            </p:cNvCxnSpPr>
            <p:nvPr/>
          </p:nvCxnSpPr>
          <p:spPr>
            <a:xfrm flipV="1">
              <a:off x="2051720" y="3212976"/>
              <a:ext cx="648072" cy="438336"/>
            </a:xfrm>
            <a:prstGeom prst="bentConnector3">
              <a:avLst>
                <a:gd name="adj1" fmla="val 50000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4" name="组合 27"/>
          <p:cNvGrpSpPr/>
          <p:nvPr/>
        </p:nvGrpSpPr>
        <p:grpSpPr>
          <a:xfrm>
            <a:off x="11423947" y="4971380"/>
            <a:ext cx="649288" cy="977900"/>
            <a:chOff x="1403648" y="2924944"/>
            <a:chExt cx="864096" cy="978396"/>
          </a:xfrm>
        </p:grpSpPr>
        <p:sp>
          <p:nvSpPr>
            <p:cNvPr id="25" name="矩形 29"/>
            <p:cNvSpPr/>
            <p:nvPr/>
          </p:nvSpPr>
          <p:spPr>
            <a:xfrm>
              <a:off x="1403648" y="2924944"/>
              <a:ext cx="864096" cy="50405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algn="ctr" eaLnBrk="1" hangingPunct="1"/>
              <a:r>
                <a:rPr lang="en-US" altLang="zh-CN" b="0" dirty="0">
                  <a:latin typeface="Arial" panose="020B0604020202020204" pitchFamily="34" charset="0"/>
                </a:rPr>
                <a:t>n</a:t>
              </a:r>
              <a:endParaRPr lang="zh-CN" altLang="en-US" b="0" dirty="0">
                <a:latin typeface="Arial" panose="020B0604020202020204" pitchFamily="34" charset="0"/>
              </a:endParaRPr>
            </a:p>
          </p:txBody>
        </p:sp>
        <p:sp>
          <p:nvSpPr>
            <p:cNvPr id="26" name="矩形 30"/>
            <p:cNvSpPr/>
            <p:nvPr/>
          </p:nvSpPr>
          <p:spPr>
            <a:xfrm>
              <a:off x="1403648" y="3399284"/>
              <a:ext cx="864096" cy="50405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r>
                <a:rPr lang="en-US" altLang="zh-CN" sz="1400" b="0" dirty="0">
                  <a:latin typeface="Arial" panose="020B0604020202020204" pitchFamily="34" charset="0"/>
                </a:rPr>
                <a:t>NULL</a:t>
              </a:r>
              <a:endParaRPr lang="zh-CN" altLang="en-US" sz="1400" b="0" dirty="0">
                <a:latin typeface="Arial" panose="020B0604020202020204" pitchFamily="34" charset="0"/>
              </a:endParaRPr>
            </a:p>
          </p:txBody>
        </p:sp>
      </p:grpSp>
      <p:cxnSp>
        <p:nvCxnSpPr>
          <p:cNvPr id="27" name="直接箭头连接符 32"/>
          <p:cNvCxnSpPr/>
          <p:nvPr/>
        </p:nvCxnSpPr>
        <p:spPr>
          <a:xfrm flipV="1">
            <a:off x="5448597" y="5206330"/>
            <a:ext cx="719138" cy="17463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8" name="文本框 33"/>
          <p:cNvSpPr txBox="1"/>
          <p:nvPr/>
        </p:nvSpPr>
        <p:spPr>
          <a:xfrm>
            <a:off x="4656435" y="4953918"/>
            <a:ext cx="10080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head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新黑白配色模板">
  <a:themeElements>
    <a:clrScheme name="新黑白配色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新黑白配色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仿宋_GB2312" pitchFamily="49" charset="-122"/>
          </a:defRPr>
        </a:defPPr>
      </a:lstStyle>
    </a:lnDef>
  </a:objectDefaults>
  <a:extraClrSchemeLst>
    <a:extraClrScheme>
      <a:clrScheme name="新黑白配色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黑白配色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黑白配色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黑白配色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黑白配色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黑白配色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黑白配色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黑白配色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黑白配色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黑白配色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黑白配色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黑白配色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新黑白配色模板</Template>
  <TotalTime>5872</TotalTime>
  <Words>4810</Words>
  <Application>Microsoft Office PowerPoint</Application>
  <PresentationFormat>宽屏</PresentationFormat>
  <Paragraphs>890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9" baseType="lpstr">
      <vt:lpstr>仿宋_GB2312</vt:lpstr>
      <vt:lpstr>黑体</vt:lpstr>
      <vt:lpstr>华文仿宋</vt:lpstr>
      <vt:lpstr>华文新魏</vt:lpstr>
      <vt:lpstr>楷体</vt:lpstr>
      <vt:lpstr>宋体</vt:lpstr>
      <vt:lpstr>Arial</vt:lpstr>
      <vt:lpstr>Marlett</vt:lpstr>
      <vt:lpstr>Times New Roman</vt:lpstr>
      <vt:lpstr>Wingdings</vt:lpstr>
      <vt:lpstr>新黑白配色模板</vt:lpstr>
      <vt:lpstr>第7章  结构和链表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7.3 结构的应用—链表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7.3.2  链表的建立</vt:lpstr>
      <vt:lpstr>PowerPoint 演示文稿</vt:lpstr>
      <vt:lpstr>PowerPoint 演示文稿</vt:lpstr>
      <vt:lpstr>PowerPoint 演示文稿</vt:lpstr>
      <vt:lpstr>7.3.3  链表的常见操作</vt:lpstr>
      <vt:lpstr>2. 统计结点个数</vt:lpstr>
      <vt:lpstr>PowerPoint 演示文稿</vt:lpstr>
      <vt:lpstr>4.在链表中插入结点</vt:lpstr>
      <vt:lpstr>PowerPoint 演示文稿</vt:lpstr>
      <vt:lpstr>PowerPoint 演示文稿</vt:lpstr>
      <vt:lpstr>PowerPoint 演示文稿</vt:lpstr>
      <vt:lpstr>5.删除链表中的结点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xulanlan</dc:creator>
  <cp:lastModifiedBy>Tianyz99</cp:lastModifiedBy>
  <cp:revision>401</cp:revision>
  <cp:lastPrinted>2000-02-16T06:06:00Z</cp:lastPrinted>
  <dcterms:created xsi:type="dcterms:W3CDTF">2000-08-17T06:06:00Z</dcterms:created>
  <dcterms:modified xsi:type="dcterms:W3CDTF">2025-05-28T01:33:08Z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053EA2A6058B4CD6A24D8B480C368EA0</vt:lpwstr>
  </property>
  <property fmtid="{D5CDD505-2E9C-101B-9397-08002B2CF9AE}" pid="3" name="KSOProductBuildVer">
    <vt:lpwstr>2052-11.1.0.11636</vt:lpwstr>
  </property>
  <property fmtid="{D5CDD505-2E9C-101B-9397-08002B2CF9AE}" pid="4" name="commondata">
    <vt:lpwstr>eyJoZGlkIjoiNTk2NmM0YWFmMmQ1YWYxOGE0OTgzNTVmMzAwYTA2ZjYifQ==</vt:lpwstr>
  </property>
</Properties>
</file>